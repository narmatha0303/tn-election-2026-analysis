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508" r:id="rId3"/>
    <p:sldId id="509" r:id="rId4"/>
    <p:sldId id="510" r:id="rId5"/>
    <p:sldId id="512" r:id="rId6"/>
    <p:sldId id="515" r:id="rId7"/>
    <p:sldId id="516" r:id="rId8"/>
    <p:sldId id="517" r:id="rId9"/>
    <p:sldId id="518" r:id="rId10"/>
    <p:sldId id="519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FBE"/>
    <a:srgbClr val="792171"/>
    <a:srgbClr val="B82CC7"/>
    <a:srgbClr val="5B0F85"/>
    <a:srgbClr val="D75FD1"/>
    <a:srgbClr val="50164A"/>
    <a:srgbClr val="A4569B"/>
    <a:srgbClr val="94249A"/>
    <a:srgbClr val="995B92"/>
    <a:srgbClr val="842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534B57-BFCC-409C-95C5-27E5606FCC98}" v="2" dt="2026-05-26T07:22:49.0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3608" autoAdjust="0"/>
  </p:normalViewPr>
  <p:slideViewPr>
    <p:cSldViewPr snapToGrid="0">
      <p:cViewPr varScale="1">
        <p:scale>
          <a:sx n="134" d="100"/>
          <a:sy n="134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Sheet1!$F$3</c:f>
              <c:strCache>
                <c:ptCount val="1"/>
                <c:pt idx="0">
                  <c:v>B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Sheet1!$E$4:$E$8</c:f>
              <c:strCache>
                <c:ptCount val="5"/>
                <c:pt idx="0">
                  <c:v>INC → TVK </c:v>
                </c:pt>
                <c:pt idx="1">
                  <c:v>AIADMK → DMK</c:v>
                </c:pt>
                <c:pt idx="2">
                  <c:v>DMK → AIADMK</c:v>
                </c:pt>
                <c:pt idx="3">
                  <c:v>AIADMK → TVK </c:v>
                </c:pt>
                <c:pt idx="4">
                  <c:v>DMK → TVK </c:v>
                </c:pt>
              </c:strCache>
            </c:strRef>
          </c:cat>
          <c:val>
            <c:numRef>
              <c:f>Sheet1!$F$4:$F$8</c:f>
              <c:numCache>
                <c:formatCode>General</c:formatCode>
                <c:ptCount val="5"/>
                <c:pt idx="0">
                  <c:v>11</c:v>
                </c:pt>
                <c:pt idx="1">
                  <c:v>15</c:v>
                </c:pt>
                <c:pt idx="2">
                  <c:v>22</c:v>
                </c:pt>
                <c:pt idx="3">
                  <c:v>26</c:v>
                </c:pt>
                <c:pt idx="4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83-4A9A-802B-9F4B0DEE7F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372673695"/>
        <c:axId val="1372690495"/>
      </c:barChart>
      <c:catAx>
        <c:axId val="137267369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pPr>
            <a:endParaRPr lang="en-US"/>
          </a:p>
        </c:txPr>
        <c:crossAx val="1372690495"/>
        <c:crosses val="autoZero"/>
        <c:auto val="1"/>
        <c:lblAlgn val="ctr"/>
        <c:lblOffset val="100"/>
        <c:noMultiLvlLbl val="0"/>
      </c:catAx>
      <c:valAx>
        <c:axId val="13726904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726736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accent5">
              <a:lumMod val="60000"/>
              <a:lumOff val="40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82C-43D9-A42A-D1FAC9D0345C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82C-43D9-A42A-D1FAC9D0345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82C-43D9-A42A-D1FAC9D0345C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82C-43D9-A42A-D1FAC9D0345C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82C-43D9-A42A-D1FAC9D0345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Sheet1!$E$12:$E$16</c:f>
              <c:strCache>
                <c:ptCount val="5"/>
                <c:pt idx="0">
                  <c:v>INC </c:v>
                </c:pt>
                <c:pt idx="1">
                  <c:v>OTHERS</c:v>
                </c:pt>
                <c:pt idx="2">
                  <c:v>AIADMK </c:v>
                </c:pt>
                <c:pt idx="3">
                  <c:v>DMK</c:v>
                </c:pt>
                <c:pt idx="4">
                  <c:v>TVK </c:v>
                </c:pt>
              </c:strCache>
            </c:strRef>
          </c:cat>
          <c:val>
            <c:numRef>
              <c:f>Sheet1!$F$12:$F$16</c:f>
              <c:numCache>
                <c:formatCode>General</c:formatCode>
                <c:ptCount val="5"/>
                <c:pt idx="0">
                  <c:v>5</c:v>
                </c:pt>
                <c:pt idx="1">
                  <c:v>15</c:v>
                </c:pt>
                <c:pt idx="2">
                  <c:v>47</c:v>
                </c:pt>
                <c:pt idx="3">
                  <c:v>59</c:v>
                </c:pt>
                <c:pt idx="4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2C-43D9-A42A-D1FAC9D0345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113018671"/>
        <c:axId val="2113013391"/>
      </c:barChart>
      <c:catAx>
        <c:axId val="211301867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3013391"/>
        <c:crosses val="autoZero"/>
        <c:auto val="1"/>
        <c:lblAlgn val="ctr"/>
        <c:lblOffset val="100"/>
        <c:noMultiLvlLbl val="0"/>
      </c:catAx>
      <c:valAx>
        <c:axId val="21130133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1130186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879830150731276E-2"/>
          <c:y val="4.2899977029933561E-2"/>
          <c:w val="0.91317351127066249"/>
          <c:h val="0.91420004594013293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Sheet1!$D$8:$G$17</c:f>
              <c:multiLvlStrCache>
                <c:ptCount val="10"/>
                <c:lvl>
                  <c:pt idx="0">
                    <c:v>AIADMK</c:v>
                  </c:pt>
                  <c:pt idx="1">
                    <c:v>TVK</c:v>
                  </c:pt>
                  <c:pt idx="2">
                    <c:v>DMK</c:v>
                  </c:pt>
                  <c:pt idx="3">
                    <c:v>TVK</c:v>
                  </c:pt>
                  <c:pt idx="4">
                    <c:v>DMK</c:v>
                  </c:pt>
                  <c:pt idx="5">
                    <c:v>TVK</c:v>
                  </c:pt>
                  <c:pt idx="6">
                    <c:v>DMDK</c:v>
                  </c:pt>
                  <c:pt idx="7">
                    <c:v>DMK</c:v>
                  </c:pt>
                  <c:pt idx="8">
                    <c:v>AIADMK</c:v>
                  </c:pt>
                  <c:pt idx="9">
                    <c:v>DMK</c:v>
                  </c:pt>
                </c:lvl>
                <c:lvl>
                  <c:pt idx="0">
                    <c:v>VCK</c:v>
                  </c:pt>
                  <c:pt idx="1">
                    <c:v>AIADMK</c:v>
                  </c:pt>
                  <c:pt idx="2">
                    <c:v>TVK</c:v>
                  </c:pt>
                  <c:pt idx="3">
                    <c:v>DMK</c:v>
                  </c:pt>
                  <c:pt idx="4">
                    <c:v>AIADMK</c:v>
                  </c:pt>
                  <c:pt idx="5">
                    <c:v>AIADMK</c:v>
                  </c:pt>
                  <c:pt idx="6">
                    <c:v>TVK</c:v>
                  </c:pt>
                  <c:pt idx="7">
                    <c:v>AIADMK</c:v>
                  </c:pt>
                  <c:pt idx="8">
                    <c:v>DMK</c:v>
                  </c:pt>
                  <c:pt idx="9">
                    <c:v>TVK</c:v>
                  </c:pt>
                </c:lvl>
                <c:lvl>
                  <c:pt idx="0">
                    <c:v>Tindivanam</c:v>
                  </c:pt>
                  <c:pt idx="1">
                    <c:v>Palani</c:v>
                  </c:pt>
                  <c:pt idx="2">
                    <c:v>Kumbakonam</c:v>
                  </c:pt>
                  <c:pt idx="3">
                    <c:v>Kulithalai</c:v>
                  </c:pt>
                  <c:pt idx="4">
                    <c:v>Paramathi-Velur</c:v>
                  </c:pt>
                  <c:pt idx="5">
                    <c:v>Tirukkoyilur</c:v>
                  </c:pt>
                  <c:pt idx="6">
                    <c:v>Polur</c:v>
                  </c:pt>
                  <c:pt idx="7">
                    <c:v>Kanniyakumari</c:v>
                  </c:pt>
                  <c:pt idx="8">
                    <c:v>Veppanahalli</c:v>
                  </c:pt>
                  <c:pt idx="9">
                    <c:v>Tiruppattur</c:v>
                  </c:pt>
                </c:lvl>
                <c:lvl>
                  <c:pt idx="0">
                    <c:v>10</c:v>
                  </c:pt>
                  <c:pt idx="1">
                    <c:v>9</c:v>
                  </c:pt>
                  <c:pt idx="2">
                    <c:v>8</c:v>
                  </c:pt>
                  <c:pt idx="3">
                    <c:v>7</c:v>
                  </c:pt>
                  <c:pt idx="4">
                    <c:v>6</c:v>
                  </c:pt>
                  <c:pt idx="5">
                    <c:v>5</c:v>
                  </c:pt>
                  <c:pt idx="6">
                    <c:v>4</c:v>
                  </c:pt>
                  <c:pt idx="7">
                    <c:v>3</c:v>
                  </c:pt>
                  <c:pt idx="8">
                    <c:v>2</c:v>
                  </c:pt>
                  <c:pt idx="9">
                    <c:v>1</c:v>
                  </c:pt>
                </c:lvl>
              </c:multiLvlStrCache>
            </c:multiLvlStrRef>
          </c:cat>
          <c:val>
            <c:numRef>
              <c:f>Sheet1!$H$8:$H$17</c:f>
              <c:numCache>
                <c:formatCode>General</c:formatCode>
                <c:ptCount val="10"/>
                <c:pt idx="0">
                  <c:v>734</c:v>
                </c:pt>
                <c:pt idx="1">
                  <c:v>693</c:v>
                </c:pt>
                <c:pt idx="2">
                  <c:v>679</c:v>
                </c:pt>
                <c:pt idx="3">
                  <c:v>579</c:v>
                </c:pt>
                <c:pt idx="4">
                  <c:v>308</c:v>
                </c:pt>
                <c:pt idx="5">
                  <c:v>285</c:v>
                </c:pt>
                <c:pt idx="6">
                  <c:v>227</c:v>
                </c:pt>
                <c:pt idx="7">
                  <c:v>214</c:v>
                </c:pt>
                <c:pt idx="8">
                  <c:v>138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0E-40C9-B507-2A3DEDDD4D0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391371728"/>
        <c:axId val="1391370768"/>
      </c:barChart>
      <c:catAx>
        <c:axId val="139137172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91370768"/>
        <c:crosses val="autoZero"/>
        <c:auto val="1"/>
        <c:lblAlgn val="ctr"/>
        <c:lblOffset val="100"/>
        <c:noMultiLvlLbl val="0"/>
      </c:catAx>
      <c:valAx>
        <c:axId val="13913707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91371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5">
                  <a:shade val="58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8AA-489D-82E6-09E364FDAB87}"/>
              </c:ext>
            </c:extLst>
          </c:dPt>
          <c:dPt>
            <c:idx val="1"/>
            <c:bubble3D val="0"/>
            <c:spPr>
              <a:solidFill>
                <a:schemeClr val="accent5">
                  <a:shade val="8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8AA-489D-82E6-09E364FDAB87}"/>
              </c:ext>
            </c:extLst>
          </c:dPt>
          <c:dPt>
            <c:idx val="2"/>
            <c:bubble3D val="0"/>
            <c:spPr>
              <a:solidFill>
                <a:schemeClr val="accent5">
                  <a:tint val="8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8AA-489D-82E6-09E364FDAB87}"/>
              </c:ext>
            </c:extLst>
          </c:dPt>
          <c:dPt>
            <c:idx val="3"/>
            <c:bubble3D val="0"/>
            <c:spPr>
              <a:solidFill>
                <a:schemeClr val="accent5">
                  <a:tint val="58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98AA-489D-82E6-09E364FDAB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Sheet1!$E$24:$E$27</c:f>
              <c:strCache>
                <c:ptCount val="4"/>
                <c:pt idx="0">
                  <c:v>AIADMK</c:v>
                </c:pt>
                <c:pt idx="1">
                  <c:v>TVK</c:v>
                </c:pt>
                <c:pt idx="2">
                  <c:v>DMK</c:v>
                </c:pt>
                <c:pt idx="3">
                  <c:v>VCK</c:v>
                </c:pt>
              </c:strCache>
            </c:strRef>
          </c:cat>
          <c:val>
            <c:numRef>
              <c:f>Sheet1!$F$24:$F$27</c:f>
              <c:numCache>
                <c:formatCode>0%</c:formatCode>
                <c:ptCount val="4"/>
                <c:pt idx="0">
                  <c:v>0.4</c:v>
                </c:pt>
                <c:pt idx="1">
                  <c:v>0.3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AA-489D-82E6-09E364FDAB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91247032778479E-2"/>
          <c:y val="1.7725840457286271E-2"/>
          <c:w val="0.42716311830452708"/>
          <c:h val="0.94501215647014858"/>
        </c:manualLayout>
      </c:layout>
      <c:doughnutChart>
        <c:varyColors val="1"/>
        <c:ser>
          <c:idx val="0"/>
          <c:order val="0"/>
          <c:spPr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c:spPr>
          <c:explosion val="6"/>
          <c:dPt>
            <c:idx val="0"/>
            <c:bubble3D val="0"/>
            <c:spPr>
              <a:solidFill>
                <a:schemeClr val="accent5">
                  <a:shade val="58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6C7-438A-9FC3-A872605A7BEC}"/>
              </c:ext>
            </c:extLst>
          </c:dPt>
          <c:dPt>
            <c:idx val="1"/>
            <c:bubble3D val="0"/>
            <c:spPr>
              <a:solidFill>
                <a:schemeClr val="accent5">
                  <a:shade val="86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6C7-438A-9FC3-A872605A7BEC}"/>
              </c:ext>
            </c:extLst>
          </c:dPt>
          <c:dPt>
            <c:idx val="2"/>
            <c:bubble3D val="0"/>
            <c:spPr>
              <a:solidFill>
                <a:schemeClr val="accent5">
                  <a:tint val="86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6C7-438A-9FC3-A872605A7BEC}"/>
              </c:ext>
            </c:extLst>
          </c:dPt>
          <c:dPt>
            <c:idx val="3"/>
            <c:bubble3D val="0"/>
            <c:spPr>
              <a:solidFill>
                <a:schemeClr val="accent5">
                  <a:tint val="58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6C7-438A-9FC3-A872605A7B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Sheet1!$E$24:$E$27</c:f>
              <c:strCache>
                <c:ptCount val="4"/>
                <c:pt idx="0">
                  <c:v>AIADMK</c:v>
                </c:pt>
                <c:pt idx="1">
                  <c:v>TVK</c:v>
                </c:pt>
                <c:pt idx="2">
                  <c:v>DMK</c:v>
                </c:pt>
                <c:pt idx="3">
                  <c:v>VCK</c:v>
                </c:pt>
              </c:strCache>
            </c:strRef>
          </c:cat>
          <c:val>
            <c:numRef>
              <c:f>Sheet1!$F$24:$F$27</c:f>
              <c:numCache>
                <c:formatCode>0%</c:formatCode>
                <c:ptCount val="4"/>
                <c:pt idx="0">
                  <c:v>0.4</c:v>
                </c:pt>
                <c:pt idx="1">
                  <c:v>0.3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C7-438A-9FC3-A872605A7B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3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5280514251545478"/>
          <c:y val="6.7890310347532012E-2"/>
          <c:w val="0.25502671869095017"/>
          <c:h val="0.711882891901991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CC966-DDD4-4601-88B3-2258750841EB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EAD2D-CDDA-486B-B8FD-88FC28A22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92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E0643-A065-3282-7811-6668F36BC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74843-A837-BDB1-B063-5D54C42B7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88FA6-4F19-352D-D2B0-A06C1E374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0C791-42EF-C41B-6214-05AFBD142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5DA08-80DD-49B6-9B3F-15B11DE2FAC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769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EAD2D-CDDA-486B-B8FD-88FC28A228F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790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1B941-EFA1-5581-FDA8-BDFC49153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D5811-8191-EE23-0C41-C6A3ACF54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999BC-9FCA-0344-764B-E7955ED7D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71585-6FC2-DC49-B84F-97BC04E95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EAD2D-CDDA-486B-B8FD-88FC28A228F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721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DB4BC-009C-55F6-20E3-DACF4A10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F614F-1555-BC44-16EE-B32DF7CD0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95836-3910-1F32-FF1F-6894B6604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BE4C-8D2A-5BE6-22D9-252E6F455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EAD2D-CDDA-486B-B8FD-88FC28A228F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9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10965-58C0-524F-0F0C-052A5849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D9EC5-B9DE-DDD9-EBAD-8F184AFAF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087359-8617-B55C-D892-9543ED925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F09BE-57AF-C8A9-059E-EFB640ED1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EAD2D-CDDA-486B-B8FD-88FC28A228F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656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4C1DF-86ED-7769-FBD9-2AB30FB8B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36D8B-CD4D-D3A6-9DA1-3B6768FA7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304CD-2E69-F2C5-DF03-1EC0ACC18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FE485-C6AC-10A1-6445-3B7A029C6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EAD2D-CDDA-486B-B8FD-88FC28A228F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027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251F-811E-9D46-51E0-3354C20E1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7D34D-A0EC-BBE1-96EA-2AC5535A0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207B9-F242-E317-9449-3E94BD3C0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6F8AA-ED2D-7E7E-F396-C75560043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EAD2D-CDDA-486B-B8FD-88FC28A228F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00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9907-5E58-C6A5-6C7F-5D2CA3C1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F4D08-1972-4330-CD43-BEF562004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C05F4-3323-7E2F-315D-3D459235C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8AC22-ECF6-A449-E14F-A918EB6CA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EAD2D-CDDA-486B-B8FD-88FC28A228F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123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aeed Faa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80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60000"/>
                <a:lumOff val="40000"/>
              </a:schemeClr>
            </a:gs>
            <a:gs pos="100000">
              <a:schemeClr val="accent5">
                <a:lumMod val="20000"/>
                <a:lumOff val="8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0.svg"/><Relationship Id="rId7" Type="http://schemas.openxmlformats.org/officeDocument/2006/relationships/image" Target="../media/image15.svg"/><Relationship Id="rId12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11" Type="http://schemas.openxmlformats.org/officeDocument/2006/relationships/chart" Target="../charts/chart1.xml"/><Relationship Id="rId5" Type="http://schemas.openxmlformats.org/officeDocument/2006/relationships/image" Target="../media/image13.sv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6.svg"/><Relationship Id="rId3" Type="http://schemas.openxmlformats.org/officeDocument/2006/relationships/image" Target="../media/image18.png"/><Relationship Id="rId7" Type="http://schemas.openxmlformats.org/officeDocument/2006/relationships/image" Target="../media/image2.svg"/><Relationship Id="rId12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11" Type="http://schemas.microsoft.com/office/2007/relationships/hdphoto" Target="../media/hdphoto1.wdp"/><Relationship Id="rId5" Type="http://schemas.openxmlformats.org/officeDocument/2006/relationships/image" Target="../media/image12.png"/><Relationship Id="rId10" Type="http://schemas.openxmlformats.org/officeDocument/2006/relationships/image" Target="../media/image19.png"/><Relationship Id="rId4" Type="http://schemas.openxmlformats.org/officeDocument/2006/relationships/image" Target="../media/image10.svg"/><Relationship Id="rId9" Type="http://schemas.openxmlformats.org/officeDocument/2006/relationships/image" Target="../media/image14.svg"/><Relationship Id="rId1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2.svg"/><Relationship Id="rId3" Type="http://schemas.openxmlformats.org/officeDocument/2006/relationships/image" Target="../media/image10.svg"/><Relationship Id="rId7" Type="http://schemas.openxmlformats.org/officeDocument/2006/relationships/image" Target="../media/image2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11" Type="http://schemas.openxmlformats.org/officeDocument/2006/relationships/image" Target="../media/image18.png"/><Relationship Id="rId5" Type="http://schemas.openxmlformats.org/officeDocument/2006/relationships/image" Target="../media/image13.svg"/><Relationship Id="rId15" Type="http://schemas.openxmlformats.org/officeDocument/2006/relationships/image" Target="../media/image3.svg"/><Relationship Id="rId10" Type="http://schemas.openxmlformats.org/officeDocument/2006/relationships/image" Target="../media/image20.svg"/><Relationship Id="rId4" Type="http://schemas.openxmlformats.org/officeDocument/2006/relationships/image" Target="../media/image12.png"/><Relationship Id="rId9" Type="http://schemas.openxmlformats.org/officeDocument/2006/relationships/image" Target="../media/image14.svg"/><Relationship Id="rId14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6.svg"/><Relationship Id="rId3" Type="http://schemas.openxmlformats.org/officeDocument/2006/relationships/image" Target="../media/image10.svg"/><Relationship Id="rId7" Type="http://schemas.openxmlformats.org/officeDocument/2006/relationships/image" Target="../media/image2.sv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11" Type="http://schemas.openxmlformats.org/officeDocument/2006/relationships/image" Target="../media/image24.svg"/><Relationship Id="rId5" Type="http://schemas.openxmlformats.org/officeDocument/2006/relationships/image" Target="../media/image13.svg"/><Relationship Id="rId10" Type="http://schemas.openxmlformats.org/officeDocument/2006/relationships/chart" Target="../charts/chart4.xml"/><Relationship Id="rId4" Type="http://schemas.openxmlformats.org/officeDocument/2006/relationships/image" Target="../media/image12.png"/><Relationship Id="rId9" Type="http://schemas.openxmlformats.org/officeDocument/2006/relationships/chart" Target="../charts/chart3.xml"/><Relationship Id="rId1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13" Type="http://schemas.openxmlformats.org/officeDocument/2006/relationships/image" Target="../media/image32.svg"/><Relationship Id="rId18" Type="http://schemas.openxmlformats.org/officeDocument/2006/relationships/image" Target="../media/image36.svg"/><Relationship Id="rId3" Type="http://schemas.openxmlformats.org/officeDocument/2006/relationships/image" Target="../media/image12.png"/><Relationship Id="rId7" Type="http://schemas.openxmlformats.org/officeDocument/2006/relationships/image" Target="../media/image26.svg"/><Relationship Id="rId12" Type="http://schemas.openxmlformats.org/officeDocument/2006/relationships/image" Target="../media/image31.svg"/><Relationship Id="rId17" Type="http://schemas.openxmlformats.org/officeDocument/2006/relationships/image" Target="../media/image35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11" Type="http://schemas.openxmlformats.org/officeDocument/2006/relationships/image" Target="../media/image30.svg"/><Relationship Id="rId5" Type="http://schemas.openxmlformats.org/officeDocument/2006/relationships/image" Target="../media/image15.svg"/><Relationship Id="rId15" Type="http://schemas.openxmlformats.org/officeDocument/2006/relationships/image" Target="../media/image24.svg"/><Relationship Id="rId10" Type="http://schemas.openxmlformats.org/officeDocument/2006/relationships/image" Target="../media/image29.svg"/><Relationship Id="rId19" Type="http://schemas.openxmlformats.org/officeDocument/2006/relationships/image" Target="../media/image37.svg"/><Relationship Id="rId4" Type="http://schemas.openxmlformats.org/officeDocument/2006/relationships/image" Target="../media/image13.svg"/><Relationship Id="rId9" Type="http://schemas.openxmlformats.org/officeDocument/2006/relationships/image" Target="../media/image28.svg"/><Relationship Id="rId14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svg"/><Relationship Id="rId18" Type="http://schemas.openxmlformats.org/officeDocument/2006/relationships/image" Target="../media/image10.svg"/><Relationship Id="rId3" Type="http://schemas.openxmlformats.org/officeDocument/2006/relationships/image" Target="../media/image12.png"/><Relationship Id="rId7" Type="http://schemas.openxmlformats.org/officeDocument/2006/relationships/image" Target="../media/image36.svg"/><Relationship Id="rId12" Type="http://schemas.openxmlformats.org/officeDocument/2006/relationships/image" Target="../media/image42.svg"/><Relationship Id="rId17" Type="http://schemas.openxmlformats.org/officeDocument/2006/relationships/image" Target="../media/image47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11" Type="http://schemas.openxmlformats.org/officeDocument/2006/relationships/image" Target="../media/image41.svg"/><Relationship Id="rId5" Type="http://schemas.openxmlformats.org/officeDocument/2006/relationships/image" Target="../media/image15.svg"/><Relationship Id="rId15" Type="http://schemas.openxmlformats.org/officeDocument/2006/relationships/image" Target="../media/image45.svg"/><Relationship Id="rId10" Type="http://schemas.openxmlformats.org/officeDocument/2006/relationships/image" Target="../media/image40.svg"/><Relationship Id="rId19" Type="http://schemas.openxmlformats.org/officeDocument/2006/relationships/image" Target="../media/image3.svg"/><Relationship Id="rId4" Type="http://schemas.openxmlformats.org/officeDocument/2006/relationships/image" Target="../media/image13.svg"/><Relationship Id="rId9" Type="http://schemas.openxmlformats.org/officeDocument/2006/relationships/image" Target="../media/image39.svg"/><Relationship Id="rId14" Type="http://schemas.openxmlformats.org/officeDocument/2006/relationships/image" Target="../media/image4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41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11" Type="http://schemas.openxmlformats.org/officeDocument/2006/relationships/image" Target="../media/image48.svg"/><Relationship Id="rId5" Type="http://schemas.openxmlformats.org/officeDocument/2006/relationships/image" Target="../media/image36.svg"/><Relationship Id="rId15" Type="http://schemas.openxmlformats.org/officeDocument/2006/relationships/image" Target="../media/image13.svg"/><Relationship Id="rId10" Type="http://schemas.openxmlformats.org/officeDocument/2006/relationships/image" Target="../media/image44.svg"/><Relationship Id="rId4" Type="http://schemas.openxmlformats.org/officeDocument/2006/relationships/image" Target="../media/image2.svg"/><Relationship Id="rId9" Type="http://schemas.openxmlformats.org/officeDocument/2006/relationships/image" Target="../media/image40.svg"/><Relationship Id="rId14" Type="http://schemas.openxmlformats.org/officeDocument/2006/relationships/image" Target="../media/image4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DF12-0697-B619-4D46-FF4D711D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220F0D2-BA6A-BD18-F6EB-A7A3539075BA}"/>
              </a:ext>
            </a:extLst>
          </p:cNvPr>
          <p:cNvSpPr/>
          <p:nvPr/>
        </p:nvSpPr>
        <p:spPr>
          <a:xfrm>
            <a:off x="6176432" y="711200"/>
            <a:ext cx="1684867" cy="17610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Avenir Next LT Pro Demi" panose="020B07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1392F06-26FF-110D-D79E-9F01DDEFB008}"/>
              </a:ext>
            </a:extLst>
          </p:cNvPr>
          <p:cNvSpPr/>
          <p:nvPr/>
        </p:nvSpPr>
        <p:spPr>
          <a:xfrm>
            <a:off x="8140699" y="2472267"/>
            <a:ext cx="1557866" cy="14308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Avenir Next LT Pro Demi" panose="020B07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CD62E2-D24C-DF0F-5183-C6F95D133F78}"/>
              </a:ext>
            </a:extLst>
          </p:cNvPr>
          <p:cNvSpPr/>
          <p:nvPr/>
        </p:nvSpPr>
        <p:spPr>
          <a:xfrm>
            <a:off x="6201834" y="5655734"/>
            <a:ext cx="1035049" cy="990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Avenir Next LT Pro Demi" panose="020B07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4116773-D958-CCEC-3103-1D19D0007C9A}"/>
              </a:ext>
            </a:extLst>
          </p:cNvPr>
          <p:cNvSpPr/>
          <p:nvPr/>
        </p:nvSpPr>
        <p:spPr>
          <a:xfrm>
            <a:off x="2365371" y="4529668"/>
            <a:ext cx="1266829" cy="12192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Avenir Next LT Pro Demi" panose="020B07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C10940-A988-614D-1A05-5FB639218B0E}"/>
              </a:ext>
            </a:extLst>
          </p:cNvPr>
          <p:cNvSpPr/>
          <p:nvPr/>
        </p:nvSpPr>
        <p:spPr>
          <a:xfrm>
            <a:off x="3044296" y="935566"/>
            <a:ext cx="1035049" cy="990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Avenir Next LT Pro Demi" panose="020B07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2F37BF6-C67B-60E4-C4E7-59B6BFB46C59}"/>
              </a:ext>
            </a:extLst>
          </p:cNvPr>
          <p:cNvSpPr/>
          <p:nvPr/>
        </p:nvSpPr>
        <p:spPr>
          <a:xfrm>
            <a:off x="7236883" y="321734"/>
            <a:ext cx="1035049" cy="990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Avenir Next LT Pro Demi" panose="020B07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B1AC311-2054-8F39-7F5F-32E2B6DBAB7C}"/>
              </a:ext>
            </a:extLst>
          </p:cNvPr>
          <p:cNvSpPr/>
          <p:nvPr/>
        </p:nvSpPr>
        <p:spPr>
          <a:xfrm>
            <a:off x="2419379" y="1575013"/>
            <a:ext cx="1035049" cy="990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2794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latin typeface="Avenir Next LT Pro Demi" panose="020B070402020202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A581ACE-4392-F645-5937-62574AFA56A3}"/>
              </a:ext>
            </a:extLst>
          </p:cNvPr>
          <p:cNvSpPr/>
          <p:nvPr/>
        </p:nvSpPr>
        <p:spPr>
          <a:xfrm>
            <a:off x="8518529" y="4131733"/>
            <a:ext cx="1308100" cy="11853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Avenir Next LT Pro Demi" panose="020B0704020202020204" pitchFamily="34" charset="0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45C6852-0233-F4E8-E771-6892823B5CB9}"/>
              </a:ext>
            </a:extLst>
          </p:cNvPr>
          <p:cNvGrpSpPr/>
          <p:nvPr/>
        </p:nvGrpSpPr>
        <p:grpSpPr>
          <a:xfrm>
            <a:off x="7026822" y="4416080"/>
            <a:ext cx="1684867" cy="1761067"/>
            <a:chOff x="7018866" y="4385733"/>
            <a:chExt cx="1684867" cy="176106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E23D7FC-2D34-C6CF-0BCB-942076EFE967}"/>
                </a:ext>
              </a:extLst>
            </p:cNvPr>
            <p:cNvSpPr/>
            <p:nvPr/>
          </p:nvSpPr>
          <p:spPr>
            <a:xfrm>
              <a:off x="7018866" y="4385733"/>
              <a:ext cx="1684867" cy="1761067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Avenir Next LT Pro Demi" panose="020B07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92628F5-F3D7-9368-964D-E5F0EEE15513}"/>
                </a:ext>
              </a:extLst>
            </p:cNvPr>
            <p:cNvSpPr txBox="1"/>
            <p:nvPr/>
          </p:nvSpPr>
          <p:spPr>
            <a:xfrm>
              <a:off x="7249375" y="5136403"/>
              <a:ext cx="11411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14213D"/>
                  </a:solidFill>
                  <a:latin typeface="Avenir Next LT Pro Demi" panose="020B0704020202020204" pitchFamily="34" charset="0"/>
                </a:rPr>
                <a:t>AtliQ Show</a:t>
              </a:r>
            </a:p>
          </p:txBody>
        </p:sp>
        <p:pic>
          <p:nvPicPr>
            <p:cNvPr id="86" name="Graphic 85" descr="Presentation with media with solid fill">
              <a:extLst>
                <a:ext uri="{FF2B5EF4-FFF2-40B4-BE49-F238E27FC236}">
                  <a16:creationId xmlns:a16="http://schemas.microsoft.com/office/drawing/2014/main" id="{CC1ADDA4-CDA4-1EB0-B120-4FA17AA4EB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525750" y="4665232"/>
              <a:ext cx="583200" cy="583200"/>
            </a:xfrm>
            <a:prstGeom prst="rect">
              <a:avLst/>
            </a:prstGeom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1D75B46-B874-FFFE-A490-0B67B6892C6E}"/>
              </a:ext>
            </a:extLst>
          </p:cNvPr>
          <p:cNvGrpSpPr/>
          <p:nvPr/>
        </p:nvGrpSpPr>
        <p:grpSpPr>
          <a:xfrm>
            <a:off x="9463327" y="2656105"/>
            <a:ext cx="1391904" cy="1371601"/>
            <a:chOff x="9511706" y="2591313"/>
            <a:chExt cx="1391904" cy="1371601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75F29E3-31ED-BADD-0AA3-E0B0EE60EC40}"/>
                </a:ext>
              </a:extLst>
            </p:cNvPr>
            <p:cNvSpPr/>
            <p:nvPr/>
          </p:nvSpPr>
          <p:spPr>
            <a:xfrm>
              <a:off x="9511706" y="2591313"/>
              <a:ext cx="1373294" cy="137160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Avenir Next LT Pro Demi" panose="020B07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3DD5C49-3081-8A26-6E20-A790ED1A12E1}"/>
                </a:ext>
              </a:extLst>
            </p:cNvPr>
            <p:cNvSpPr txBox="1"/>
            <p:nvPr/>
          </p:nvSpPr>
          <p:spPr>
            <a:xfrm>
              <a:off x="9637140" y="3421025"/>
              <a:ext cx="11895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4F4F4"/>
                  </a:solidFill>
                  <a:latin typeface="Avenir Next LT Pro Demi" panose="020B0704020202020204" pitchFamily="34" charset="0"/>
                </a:rPr>
                <a:t>How decisive was change?</a:t>
              </a:r>
              <a:endParaRPr lang="en-IN" sz="1000" dirty="0">
                <a:solidFill>
                  <a:srgbClr val="F4F4F4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1E270F9-52D3-AE8A-BD6C-CDF8A77EF7D2}"/>
                </a:ext>
              </a:extLst>
            </p:cNvPr>
            <p:cNvSpPr txBox="1"/>
            <p:nvPr/>
          </p:nvSpPr>
          <p:spPr>
            <a:xfrm>
              <a:off x="9511706" y="3207400"/>
              <a:ext cx="13919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Electoral Margin</a:t>
              </a:r>
              <a:endParaRPr lang="en-IN" sz="12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pic>
          <p:nvPicPr>
            <p:cNvPr id="88" name="Graphic 87" descr="Bar graph with upward trend with solid fill">
              <a:extLst>
                <a:ext uri="{FF2B5EF4-FFF2-40B4-BE49-F238E27FC236}">
                  <a16:creationId xmlns:a16="http://schemas.microsoft.com/office/drawing/2014/main" id="{166CC88B-F25A-EE2E-21B4-193F14B367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99822" y="2663425"/>
              <a:ext cx="583200" cy="5832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AE96D9E-CABD-F5D5-35F7-9C4212A4CF76}"/>
              </a:ext>
            </a:extLst>
          </p:cNvPr>
          <p:cNvGrpSpPr/>
          <p:nvPr/>
        </p:nvGrpSpPr>
        <p:grpSpPr>
          <a:xfrm>
            <a:off x="8240150" y="493309"/>
            <a:ext cx="2281501" cy="2234908"/>
            <a:chOff x="8047565" y="584493"/>
            <a:chExt cx="2281501" cy="223490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B339DC7-CBFC-EB4A-BFE1-D0BBE534538C}"/>
                </a:ext>
              </a:extLst>
            </p:cNvPr>
            <p:cNvSpPr/>
            <p:nvPr/>
          </p:nvSpPr>
          <p:spPr>
            <a:xfrm>
              <a:off x="8047565" y="584493"/>
              <a:ext cx="2281501" cy="223490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latin typeface="Avenir Next LT Pro Demi" panose="020B07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5DFE4A3-C454-9C5A-AD44-9AA361FAD0DF}"/>
                </a:ext>
              </a:extLst>
            </p:cNvPr>
            <p:cNvSpPr txBox="1"/>
            <p:nvPr/>
          </p:nvSpPr>
          <p:spPr>
            <a:xfrm>
              <a:off x="8582020" y="1756850"/>
              <a:ext cx="11895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4F4F4"/>
                  </a:solidFill>
                  <a:latin typeface="Avenir Next LT Pro Demi" panose="020B0704020202020204" pitchFamily="34" charset="0"/>
                </a:rPr>
                <a:t>Where did it change?</a:t>
              </a:r>
              <a:endParaRPr lang="en-IN" sz="1000" dirty="0">
                <a:solidFill>
                  <a:srgbClr val="F4F4F4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F93778E-C2F2-632B-FB6E-4CBFB3C3C74C}"/>
                </a:ext>
              </a:extLst>
            </p:cNvPr>
            <p:cNvSpPr txBox="1"/>
            <p:nvPr/>
          </p:nvSpPr>
          <p:spPr>
            <a:xfrm>
              <a:off x="8068217" y="1338139"/>
              <a:ext cx="21948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Regional Shift</a:t>
              </a:r>
              <a:endParaRPr lang="en-IN" sz="24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pic>
          <p:nvPicPr>
            <p:cNvPr id="90" name="Graphic 89" descr="Marker with solid fill">
              <a:extLst>
                <a:ext uri="{FF2B5EF4-FFF2-40B4-BE49-F238E27FC236}">
                  <a16:creationId xmlns:a16="http://schemas.microsoft.com/office/drawing/2014/main" id="{5676F532-5ABC-62FB-493B-F30ED2E052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96715" y="817940"/>
              <a:ext cx="583200" cy="583200"/>
            </a:xfrm>
            <a:prstGeom prst="rect">
              <a:avLst/>
            </a:prstGeom>
          </p:spPr>
        </p:pic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F62DF0A-2B57-4E64-0D4A-8E2DEBFF1187}"/>
              </a:ext>
            </a:extLst>
          </p:cNvPr>
          <p:cNvGrpSpPr/>
          <p:nvPr/>
        </p:nvGrpSpPr>
        <p:grpSpPr>
          <a:xfrm>
            <a:off x="1413674" y="3161705"/>
            <a:ext cx="1629306" cy="1441023"/>
            <a:chOff x="1414990" y="3197438"/>
            <a:chExt cx="1629306" cy="1441023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C1CA482-4892-CE08-3156-D2ADA168AFC6}"/>
                </a:ext>
              </a:extLst>
            </p:cNvPr>
            <p:cNvSpPr/>
            <p:nvPr/>
          </p:nvSpPr>
          <p:spPr>
            <a:xfrm>
              <a:off x="1480306" y="3197438"/>
              <a:ext cx="1450748" cy="1441023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Avenir Next LT Pro Demi" panose="020B0704020202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F576320-319B-1F50-8510-030AB363BF9F}"/>
                </a:ext>
              </a:extLst>
            </p:cNvPr>
            <p:cNvSpPr txBox="1"/>
            <p:nvPr/>
          </p:nvSpPr>
          <p:spPr>
            <a:xfrm>
              <a:off x="1646029" y="4014003"/>
              <a:ext cx="118956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SQL</a:t>
              </a:r>
            </a:p>
            <a:p>
              <a:pPr algn="ctr"/>
              <a:r>
                <a:rPr lang="en-US" sz="10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+</a:t>
              </a:r>
            </a:p>
            <a:p>
              <a:pPr algn="ctr"/>
              <a:r>
                <a:rPr lang="en-US" sz="10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Power BI</a:t>
              </a:r>
              <a:endParaRPr lang="en-IN" sz="10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4B8557F-825C-A44C-6727-21C5B453DE57}"/>
                </a:ext>
              </a:extLst>
            </p:cNvPr>
            <p:cNvSpPr txBox="1"/>
            <p:nvPr/>
          </p:nvSpPr>
          <p:spPr>
            <a:xfrm>
              <a:off x="1414990" y="3753220"/>
              <a:ext cx="1629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Method</a:t>
              </a:r>
              <a:endParaRPr lang="en-IN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pic>
          <p:nvPicPr>
            <p:cNvPr id="92" name="Graphic 91" descr="Research with solid fill">
              <a:extLst>
                <a:ext uri="{FF2B5EF4-FFF2-40B4-BE49-F238E27FC236}">
                  <a16:creationId xmlns:a16="http://schemas.microsoft.com/office/drawing/2014/main" id="{B625CDA7-732C-E190-B6BC-3C0B71D377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12353" y="3261626"/>
              <a:ext cx="583200" cy="583200"/>
            </a:xfrm>
            <a:prstGeom prst="rect">
              <a:avLst/>
            </a:prstGeom>
          </p:spPr>
        </p:pic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3B273DF-A808-68EE-232C-DDD0C8497966}"/>
              </a:ext>
            </a:extLst>
          </p:cNvPr>
          <p:cNvGrpSpPr/>
          <p:nvPr/>
        </p:nvGrpSpPr>
        <p:grpSpPr>
          <a:xfrm>
            <a:off x="3924495" y="4149429"/>
            <a:ext cx="2076528" cy="1899962"/>
            <a:chOff x="3539067" y="4038600"/>
            <a:chExt cx="2556933" cy="245533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85F695-DA9F-B4DA-001C-0F96576BA08F}"/>
                </a:ext>
              </a:extLst>
            </p:cNvPr>
            <p:cNvSpPr/>
            <p:nvPr/>
          </p:nvSpPr>
          <p:spPr>
            <a:xfrm>
              <a:off x="3539067" y="4038600"/>
              <a:ext cx="2556933" cy="245533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Avenir Next LT Pro Demi" panose="020B0704020202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1A0C71B-2C45-423F-F48A-B41BC2D3AE6F}"/>
                </a:ext>
              </a:extLst>
            </p:cNvPr>
            <p:cNvSpPr txBox="1"/>
            <p:nvPr/>
          </p:nvSpPr>
          <p:spPr>
            <a:xfrm>
              <a:off x="4128408" y="5744521"/>
              <a:ext cx="1189565" cy="318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4F4F4"/>
                  </a:solidFill>
                  <a:latin typeface="Avenir Next LT Pro Demi" panose="020B0704020202020204" pitchFamily="34" charset="0"/>
                </a:rPr>
                <a:t>2021-2026</a:t>
              </a:r>
              <a:endParaRPr lang="en-IN" sz="1000" dirty="0">
                <a:solidFill>
                  <a:srgbClr val="F4F4F4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CACF130-F997-4511-796F-8F6620208A7A}"/>
                </a:ext>
              </a:extLst>
            </p:cNvPr>
            <p:cNvSpPr txBox="1"/>
            <p:nvPr/>
          </p:nvSpPr>
          <p:spPr>
            <a:xfrm>
              <a:off x="4133203" y="4877952"/>
              <a:ext cx="1180620" cy="1073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ECI Data</a:t>
              </a:r>
              <a:endParaRPr lang="en-IN" sz="24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pic>
          <p:nvPicPr>
            <p:cNvPr id="94" name="Graphic 93" descr="Document outline">
              <a:extLst>
                <a:ext uri="{FF2B5EF4-FFF2-40B4-BE49-F238E27FC236}">
                  <a16:creationId xmlns:a16="http://schemas.microsoft.com/office/drawing/2014/main" id="{A2C5D79D-042C-3533-3D82-0ADB3B7F87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83935" y="4394245"/>
              <a:ext cx="583200" cy="583200"/>
            </a:xfrm>
            <a:prstGeom prst="rect">
              <a:avLst/>
            </a:prstGeom>
          </p:spPr>
        </p:pic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194D387-AA32-8F37-8429-16D42A761654}"/>
              </a:ext>
            </a:extLst>
          </p:cNvPr>
          <p:cNvGrpSpPr/>
          <p:nvPr/>
        </p:nvGrpSpPr>
        <p:grpSpPr>
          <a:xfrm>
            <a:off x="3181472" y="2441961"/>
            <a:ext cx="1704820" cy="1597871"/>
            <a:chOff x="3210083" y="2320079"/>
            <a:chExt cx="1704820" cy="159787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35C137E-057F-79D1-FD87-58B3301A9793}"/>
                </a:ext>
              </a:extLst>
            </p:cNvPr>
            <p:cNvSpPr/>
            <p:nvPr/>
          </p:nvSpPr>
          <p:spPr>
            <a:xfrm>
              <a:off x="3230036" y="2320079"/>
              <a:ext cx="1684867" cy="159787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Avenir Next LT Pro Demi" panose="020B07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363107F-159A-9534-73BA-7FB651CA1346}"/>
                </a:ext>
              </a:extLst>
            </p:cNvPr>
            <p:cNvSpPr txBox="1"/>
            <p:nvPr/>
          </p:nvSpPr>
          <p:spPr>
            <a:xfrm>
              <a:off x="3422517" y="3360116"/>
              <a:ext cx="11895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14213D"/>
                  </a:solidFill>
                  <a:latin typeface="Avenir Next LT Pro Demi" panose="020B0704020202020204" pitchFamily="34" charset="0"/>
                </a:rPr>
                <a:t>What stories deserve airtime?</a:t>
              </a:r>
              <a:endParaRPr lang="en-IN" sz="1000" dirty="0">
                <a:solidFill>
                  <a:srgbClr val="14213D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34BD1C-1BC7-558B-AAB4-A7D41F77B65A}"/>
                </a:ext>
              </a:extLst>
            </p:cNvPr>
            <p:cNvSpPr txBox="1"/>
            <p:nvPr/>
          </p:nvSpPr>
          <p:spPr>
            <a:xfrm>
              <a:off x="3210083" y="2832138"/>
              <a:ext cx="16293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4213D"/>
                  </a:solidFill>
                  <a:latin typeface="Avenir Next LT Pro Demi" panose="020B0704020202020204" pitchFamily="34" charset="0"/>
                </a:rPr>
                <a:t>Research Focus</a:t>
              </a:r>
              <a:endParaRPr lang="en-IN" dirty="0">
                <a:solidFill>
                  <a:srgbClr val="14213D"/>
                </a:solidFill>
                <a:latin typeface="Avenir Next LT Pro Demi" panose="020B0704020202020204" pitchFamily="34" charset="0"/>
              </a:endParaRPr>
            </a:p>
          </p:txBody>
        </p:sp>
        <p:pic>
          <p:nvPicPr>
            <p:cNvPr id="96" name="Graphic 95" descr="Bullseye with solid fill">
              <a:extLst>
                <a:ext uri="{FF2B5EF4-FFF2-40B4-BE49-F238E27FC236}">
                  <a16:creationId xmlns:a16="http://schemas.microsoft.com/office/drawing/2014/main" id="{20CC1C83-3E3B-E1BF-7409-3F52AD0A79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2354" y="2371431"/>
              <a:ext cx="583594" cy="583594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04E2D94-7A0C-D963-6FCB-B9A60D13A6C0}"/>
              </a:ext>
            </a:extLst>
          </p:cNvPr>
          <p:cNvGrpSpPr/>
          <p:nvPr/>
        </p:nvGrpSpPr>
        <p:grpSpPr>
          <a:xfrm>
            <a:off x="4329262" y="410429"/>
            <a:ext cx="1749884" cy="1736014"/>
            <a:chOff x="4289793" y="533336"/>
            <a:chExt cx="1749884" cy="176106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8A238C3-1A56-AAA2-8C9D-6905F23FE1DF}"/>
                </a:ext>
              </a:extLst>
            </p:cNvPr>
            <p:cNvSpPr/>
            <p:nvPr/>
          </p:nvSpPr>
          <p:spPr>
            <a:xfrm>
              <a:off x="4289793" y="533336"/>
              <a:ext cx="1716952" cy="1761067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latin typeface="Avenir Next LT Pro Demi" panose="020B07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B43964D-7371-9D67-F6D1-D5E43E505C15}"/>
                </a:ext>
              </a:extLst>
            </p:cNvPr>
            <p:cNvSpPr txBox="1"/>
            <p:nvPr/>
          </p:nvSpPr>
          <p:spPr>
            <a:xfrm>
              <a:off x="4469640" y="1127668"/>
              <a:ext cx="1570037" cy="405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Flip Story</a:t>
              </a:r>
              <a:endParaRPr lang="en-IN" sz="20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2FCF432-0C31-0354-AD08-2C3C213DDD66}"/>
                </a:ext>
              </a:extLst>
            </p:cNvPr>
            <p:cNvSpPr txBox="1"/>
            <p:nvPr/>
          </p:nvSpPr>
          <p:spPr>
            <a:xfrm>
              <a:off x="4498316" y="1437356"/>
              <a:ext cx="1189565" cy="405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4F4F4"/>
                  </a:solidFill>
                  <a:latin typeface="Avenir Next LT Pro Demi" panose="020B0704020202020204" pitchFamily="34" charset="0"/>
                </a:rPr>
                <a:t>How much changed?</a:t>
              </a:r>
              <a:endParaRPr lang="en-IN" sz="1000" dirty="0">
                <a:solidFill>
                  <a:srgbClr val="F4F4F4"/>
                </a:solidFill>
                <a:latin typeface="Avenir Next LT Pro Demi" panose="020B0704020202020204" pitchFamily="34" charset="0"/>
              </a:endParaRPr>
            </a:p>
          </p:txBody>
        </p: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8EB6E0EB-B305-C890-677C-275445962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6669" y="640121"/>
              <a:ext cx="583200" cy="583200"/>
            </a:xfrm>
            <a:prstGeom prst="rect">
              <a:avLst/>
            </a:prstGeom>
          </p:spPr>
        </p:pic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7905A43-EA1E-BA51-FCEB-CBFCB7C81804}"/>
              </a:ext>
            </a:extLst>
          </p:cNvPr>
          <p:cNvGrpSpPr/>
          <p:nvPr/>
        </p:nvGrpSpPr>
        <p:grpSpPr>
          <a:xfrm>
            <a:off x="4721934" y="1531925"/>
            <a:ext cx="3522133" cy="3585912"/>
            <a:chOff x="4631531" y="1695219"/>
            <a:chExt cx="3522133" cy="358591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A6B1F0-DB41-9EF0-9308-72269E2E7708}"/>
                </a:ext>
              </a:extLst>
            </p:cNvPr>
            <p:cNvSpPr/>
            <p:nvPr/>
          </p:nvSpPr>
          <p:spPr>
            <a:xfrm>
              <a:off x="4631531" y="1695219"/>
              <a:ext cx="3522133" cy="358591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latin typeface="Avenir Next LT Pro Demi" panose="020B07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560FFB0-4E8C-F797-9B31-4DBFE6B1C834}"/>
                </a:ext>
              </a:extLst>
            </p:cNvPr>
            <p:cNvSpPr txBox="1"/>
            <p:nvPr/>
          </p:nvSpPr>
          <p:spPr>
            <a:xfrm>
              <a:off x="4909869" y="2190425"/>
              <a:ext cx="2837606" cy="2277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DECODING</a:t>
              </a:r>
              <a:br>
                <a:rPr lang="en-US" sz="2400" dirty="0">
                  <a:solidFill>
                    <a:schemeClr val="bg1"/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</a:br>
              <a:r>
                <a:rPr lang="en-US" sz="2400" dirty="0">
                  <a:solidFill>
                    <a:schemeClr val="bg1"/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THE </a:t>
              </a:r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2026</a:t>
              </a:r>
            </a:p>
            <a:p>
              <a:pPr algn="ctr"/>
              <a:r>
                <a:rPr lang="en-US" sz="11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b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</a:br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TAMIL NADU</a:t>
              </a:r>
            </a:p>
            <a:p>
              <a:pPr algn="ctr"/>
              <a:r>
                <a:rPr lang="en-US" sz="1100" dirty="0">
                  <a:solidFill>
                    <a:schemeClr val="accent2"/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br>
                <a:rPr lang="en-US" sz="2400" dirty="0">
                  <a:solidFill>
                    <a:schemeClr val="accent2"/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</a:br>
              <a:r>
                <a:rPr lang="en-US" sz="2400" dirty="0">
                  <a:solidFill>
                    <a:schemeClr val="bg1"/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ASSEMBLY</a:t>
              </a:r>
              <a:br>
                <a:rPr lang="en-US" sz="2400" dirty="0">
                  <a:solidFill>
                    <a:schemeClr val="bg1"/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</a:br>
              <a:r>
                <a:rPr lang="en-US" sz="2400" dirty="0">
                  <a:solidFill>
                    <a:schemeClr val="bg1"/>
                  </a:solidFill>
                  <a:latin typeface="Avenir Next LT Pro Demi" panose="020B07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ELECTION</a:t>
              </a:r>
              <a:endParaRPr lang="en-IN" sz="2400" dirty="0">
                <a:solidFill>
                  <a:schemeClr val="bg1"/>
                </a:solidFill>
                <a:latin typeface="Avenir Next LT Pro Demi" panose="020B07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B80EE72-63C8-89C9-8B85-521D16DB2D01}"/>
                </a:ext>
              </a:extLst>
            </p:cNvPr>
            <p:cNvSpPr txBox="1"/>
            <p:nvPr/>
          </p:nvSpPr>
          <p:spPr>
            <a:xfrm>
              <a:off x="5388935" y="4333784"/>
              <a:ext cx="206586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4F4F4"/>
                  </a:solidFill>
                  <a:latin typeface="Avenir Next LT Pro Demi" panose="020B0704020202020204" pitchFamily="34" charset="0"/>
                </a:rPr>
                <a:t>Three Questions.</a:t>
              </a:r>
            </a:p>
            <a:p>
              <a:pPr algn="ctr"/>
              <a:r>
                <a:rPr lang="en-US" sz="1000" dirty="0">
                  <a:solidFill>
                    <a:srgbClr val="F4F4F4"/>
                  </a:solidFill>
                  <a:latin typeface="Avenir Next LT Pro Demi" panose="020B0704020202020204" pitchFamily="34" charset="0"/>
                </a:rPr>
                <a:t>One Election.</a:t>
              </a:r>
            </a:p>
            <a:p>
              <a:pPr algn="ctr"/>
              <a:r>
                <a:rPr lang="en-US" sz="1000" dirty="0">
                  <a:solidFill>
                    <a:srgbClr val="F4F4F4"/>
                  </a:solidFill>
                  <a:latin typeface="Avenir Next LT Pro Demi" panose="020B0704020202020204" pitchFamily="34" charset="0"/>
                </a:rPr>
                <a:t>Clear Insights.</a:t>
              </a:r>
              <a:endParaRPr lang="en-IN" sz="1000" dirty="0">
                <a:solidFill>
                  <a:srgbClr val="F4F4F4"/>
                </a:solidFill>
                <a:latin typeface="Avenir Next LT Pro Demi" panose="020B07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BAD79FA-70BE-FAEA-A17A-41555D04100C}"/>
              </a:ext>
            </a:extLst>
          </p:cNvPr>
          <p:cNvSpPr txBox="1"/>
          <p:nvPr/>
        </p:nvSpPr>
        <p:spPr>
          <a:xfrm>
            <a:off x="0" y="6581001"/>
            <a:ext cx="3010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By Narmatha Annadurai</a:t>
            </a:r>
            <a:endParaRPr lang="en-IN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48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3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42" presetClass="path" presetSubtype="0" accel="50000" fill="hold" grpId="0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04167E-6 -4.44444E-6 L -0.14909 0.19862 " pathEditMode="relative" rAng="0" ptsTypes="AA" p14:bounceEnd="91625">
                                          <p:cBhvr>
                                            <p:cTn id="38" dur="8000" spd="-100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7461" y="99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50000" fill="hold" grpId="0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7 -4.81481E-6 L -0.30586 -0.03495 " pathEditMode="relative" rAng="0" ptsTypes="AA" p14:bounceEnd="91625">
                                          <p:cBhvr>
                                            <p:cTn id="40" dur="8000" spd="-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5299" y="-175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accel="50000" fill="hold" grpId="0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-7.40741E-7 L -0.12578 -0.46643 " pathEditMode="relative" rAng="0" ptsTypes="AA" p14:bounceEnd="91625">
                                          <p:cBhvr>
                                            <p:cTn id="42" dur="80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289" y="-2333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42" presetClass="path" presetSubtype="0" accel="50000" fill="hold" grpId="0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54167E-6 4.44444E-6 L 0.1767 -0.31412 " pathEditMode="relative" rAng="0" ptsTypes="AA" p14:bounceEnd="91625">
                                          <p:cBhvr>
                                            <p:cTn id="44" dur="80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828" y="-1571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42" presetClass="path" presetSubtype="0" accel="50000" fill="hold" grpId="0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4.81481E-6 L 0.13346 0.22084 " pathEditMode="relative" rAng="0" ptsTypes="AA" p14:bounceEnd="91625">
                                          <p:cBhvr>
                                            <p:cTn id="46" dur="8000" spd="-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67" y="1104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42" presetClass="path" presetSubtype="0" accel="50000" fill="hold" grpId="0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9167E-6 -2.96296E-6 L -0.21042 0.31598 " pathEditMode="relative" rAng="0" ptsTypes="AA" p14:bounceEnd="91625">
                                          <p:cBhvr>
                                            <p:cTn id="48" dur="80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521" y="1578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9" presetID="42" presetClass="path" presetSubtype="0" accel="50000" fill="hold" grpId="0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58333E-6 -1.85185E-6 L 0.1802 0.12847 " pathEditMode="relative" rAng="0" ptsTypes="AA" p14:bounceEnd="91625">
                                          <p:cBhvr>
                                            <p:cTn id="50" dur="8000" spd="-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010" y="641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1" presetID="42" presetClass="path" presetSubtype="0" accel="50000" fill="hold" grpId="0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75E-6 1.11111E-6 L -0.3276 -0.25556 " pathEditMode="relative" rAng="0" ptsTypes="AA" p14:bounceEnd="91625">
                                          <p:cBhvr>
                                            <p:cTn id="52" dur="80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6380" y="-127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3" presetID="42" presetClass="path" presetSubtype="0" accel="50000" fill="hold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2.22222E-6 L -0.22278 -0.34977 " pathEditMode="relative" rAng="0" ptsTypes="AA" p14:bounceEnd="91625">
                                          <p:cBhvr>
                                            <p:cTn id="54" dur="8000" spd="-100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1146" y="-17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5" presetID="42" presetClass="path" presetSubtype="0" accel="50000" fill="hold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125E-6 1.48148E-6 L -0.40664 -0.05347 " pathEditMode="relative" rAng="0" ptsTypes="AA" p14:bounceEnd="91625">
                                          <p:cBhvr>
                                            <p:cTn id="56" dur="8000" spd="-100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0339" y="-268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7" presetID="42" presetClass="path" presetSubtype="0" accel="50000" fill="hold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04167E-6 -3.7037E-6 L -0.34687 0.19769 " pathEditMode="relative" rAng="0" ptsTypes="AA" p14:bounceEnd="91625">
                                          <p:cBhvr>
                                            <p:cTn id="58" dur="8000" spd="-100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7344" y="988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9" presetID="42" presetClass="path" presetSubtype="0" accel="50000" fill="hold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2.22222E-6 L 0.24427 -0.13333 " pathEditMode="relative" rAng="0" ptsTypes="AA" p14:bounceEnd="91625">
                                          <p:cBhvr>
                                            <p:cTn id="60" dur="8000" spd="-1000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2214" y="-6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1" presetID="42" presetClass="path" presetSubtype="0" accel="50000" fill="hold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25E-6 1.48148E-6 L 0.01836 -0.3081 " pathEditMode="relative" rAng="0" ptsTypes="AA" p14:bounceEnd="91625">
                                          <p:cBhvr>
                                            <p:cTn id="62" dur="8000" spd="-1000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11" y="-154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3" presetID="42" presetClass="path" presetSubtype="0" accel="50000" fill="hold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3.7037E-6 L 0.09479 -0.04004 " pathEditMode="relative" rAng="0" ptsTypes="AA" p14:bounceEnd="91625">
                                          <p:cBhvr>
                                            <p:cTn id="64" dur="8000" spd="-1000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740" y="-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50000" fill="hold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 p14:bounceEnd="91625">
                                          <p:cBhvr>
                                            <p:cTn id="66" dur="8000" spd="-1000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42" presetClass="path" presetSubtype="0" accel="50000" fill="hold" nodeType="withEffect" p14:presetBounceEnd="91625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6.25E-7 -2.22222E-6 L -0.10859 -0.05416 " pathEditMode="relative" rAng="0" ptsTypes="AA" p14:bounceEnd="91625">
                                          <p:cBhvr>
                                            <p:cTn id="68" dur="5000" spd="-100000" fill="hold"/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430" y="-2708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12" grpId="1" animBg="1"/>
          <p:bldP spid="25" grpId="0" animBg="1"/>
          <p:bldP spid="25" grpId="1" animBg="1"/>
          <p:bldP spid="28" grpId="0" animBg="1"/>
          <p:bldP spid="28" grpId="1" animBg="1"/>
          <p:bldP spid="29" grpId="0" animBg="1"/>
          <p:bldP spid="29" grpId="1" animBg="1"/>
          <p:bldP spid="32" grpId="0" animBg="1"/>
          <p:bldP spid="32" grpId="1" animBg="1"/>
          <p:bldP spid="33" grpId="0" animBg="1"/>
          <p:bldP spid="33" grpId="1" animBg="1"/>
          <p:bldP spid="34" grpId="0" animBg="1"/>
          <p:bldP spid="34" grpId="1" animBg="1"/>
          <p:bldP spid="27" grpId="0" animBg="1"/>
          <p:bldP spid="27" grpId="1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3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42" presetClass="path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04167E-6 -4.44444E-6 L -0.14909 0.19862 " pathEditMode="relative" rAng="0" ptsTypes="AA">
                                          <p:cBhvr>
                                            <p:cTn id="38" dur="8000" spd="-100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7461" y="99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7 -4.81481E-6 L -0.30586 -0.03495 " pathEditMode="relative" rAng="0" ptsTypes="AA">
                                          <p:cBhvr>
                                            <p:cTn id="40" dur="8000" spd="-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5299" y="-175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-7.40741E-7 L -0.12578 -0.46643 " pathEditMode="relative" rAng="0" ptsTypes="AA">
                                          <p:cBhvr>
                                            <p:cTn id="42" dur="80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289" y="-2333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42" presetClass="path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54167E-6 4.44444E-6 L 0.1767 -0.31412 " pathEditMode="relative" rAng="0" ptsTypes="AA">
                                          <p:cBhvr>
                                            <p:cTn id="44" dur="80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828" y="-1571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42" presetClass="path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4.81481E-6 L 0.13346 0.22084 " pathEditMode="relative" rAng="0" ptsTypes="AA">
                                          <p:cBhvr>
                                            <p:cTn id="46" dur="8000" spd="-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67" y="1104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42" presetClass="path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9167E-6 -2.96296E-6 L -0.21042 0.31598 " pathEditMode="relative" rAng="0" ptsTypes="AA">
                                          <p:cBhvr>
                                            <p:cTn id="48" dur="80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521" y="1578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9" presetID="42" presetClass="path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58333E-6 -1.85185E-6 L 0.1802 0.12847 " pathEditMode="relative" rAng="0" ptsTypes="AA">
                                          <p:cBhvr>
                                            <p:cTn id="50" dur="8000" spd="-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010" y="641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1" presetID="42" presetClass="path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75E-6 1.11111E-6 L -0.3276 -0.25556 " pathEditMode="relative" rAng="0" ptsTypes="AA">
                                          <p:cBhvr>
                                            <p:cTn id="52" dur="80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6380" y="-127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3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2.22222E-6 L -0.22278 -0.34977 " pathEditMode="relative" rAng="0" ptsTypes="AA">
                                          <p:cBhvr>
                                            <p:cTn id="54" dur="8000" spd="-100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1146" y="-17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5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125E-6 1.48148E-6 L -0.40664 -0.05347 " pathEditMode="relative" rAng="0" ptsTypes="AA">
                                          <p:cBhvr>
                                            <p:cTn id="56" dur="8000" spd="-100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0339" y="-268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7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04167E-6 -3.7037E-6 L -0.34687 0.19769 " pathEditMode="relative" rAng="0" ptsTypes="AA">
                                          <p:cBhvr>
                                            <p:cTn id="58" dur="8000" spd="-100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7344" y="988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9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2.22222E-6 L 0.24427 -0.13333 " pathEditMode="relative" rAng="0" ptsTypes="AA">
                                          <p:cBhvr>
                                            <p:cTn id="60" dur="8000" spd="-1000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2214" y="-6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1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25E-6 1.48148E-6 L 0.01836 -0.3081 " pathEditMode="relative" rAng="0" ptsTypes="AA">
                                          <p:cBhvr>
                                            <p:cTn id="62" dur="8000" spd="-1000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11" y="-154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3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3.7037E-6 L 0.09479 -0.04004 " pathEditMode="relative" rAng="0" ptsTypes="AA">
                                          <p:cBhvr>
                                            <p:cTn id="64" dur="8000" spd="-1000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740" y="-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66" dur="8000" spd="-1000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6.25E-7 -2.22222E-6 L -0.10859 -0.05416 " pathEditMode="relative" rAng="0" ptsTypes="AA">
                                          <p:cBhvr>
                                            <p:cTn id="68" dur="5000" spd="-100000" fill="hold"/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430" y="-2708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12" grpId="1" animBg="1"/>
          <p:bldP spid="25" grpId="0" animBg="1"/>
          <p:bldP spid="25" grpId="1" animBg="1"/>
          <p:bldP spid="28" grpId="0" animBg="1"/>
          <p:bldP spid="28" grpId="1" animBg="1"/>
          <p:bldP spid="29" grpId="0" animBg="1"/>
          <p:bldP spid="29" grpId="1" animBg="1"/>
          <p:bldP spid="32" grpId="0" animBg="1"/>
          <p:bldP spid="32" grpId="1" animBg="1"/>
          <p:bldP spid="33" grpId="0" animBg="1"/>
          <p:bldP spid="33" grpId="1" animBg="1"/>
          <p:bldP spid="34" grpId="0" animBg="1"/>
          <p:bldP spid="34" grpId="1" animBg="1"/>
          <p:bldP spid="27" grpId="0" animBg="1"/>
          <p:bldP spid="27" grpId="1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F425-D081-5861-285B-C54CC585C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 hidden="1">
            <a:extLst>
              <a:ext uri="{FF2B5EF4-FFF2-40B4-BE49-F238E27FC236}">
                <a16:creationId xmlns:a16="http://schemas.microsoft.com/office/drawing/2014/main" id="{130BDFC9-64CF-96EF-2A4D-D09C7D5DF749}"/>
              </a:ext>
            </a:extLst>
          </p:cNvPr>
          <p:cNvSpPr/>
          <p:nvPr/>
        </p:nvSpPr>
        <p:spPr>
          <a:xfrm rot="5400000">
            <a:off x="1976552" y="-4564"/>
            <a:ext cx="8238898" cy="6857999"/>
          </a:xfrm>
          <a:custGeom>
            <a:avLst/>
            <a:gdLst>
              <a:gd name="connsiteX0" fmla="*/ 4054957 w 8238898"/>
              <a:gd name="connsiteY0" fmla="*/ 5669279 h 6857999"/>
              <a:gd name="connsiteX1" fmla="*/ 5243677 w 8238898"/>
              <a:gd name="connsiteY1" fmla="*/ 4480559 h 6857999"/>
              <a:gd name="connsiteX2" fmla="*/ 6295237 w 8238898"/>
              <a:gd name="connsiteY2" fmla="*/ 3428999 h 6857999"/>
              <a:gd name="connsiteX3" fmla="*/ 5243677 w 8238898"/>
              <a:gd name="connsiteY3" fmla="*/ 2377439 h 6857999"/>
              <a:gd name="connsiteX4" fmla="*/ 4192117 w 8238898"/>
              <a:gd name="connsiteY4" fmla="*/ 3428999 h 6857999"/>
              <a:gd name="connsiteX5" fmla="*/ 4054957 w 8238898"/>
              <a:gd name="connsiteY5" fmla="*/ 3428999 h 6857999"/>
              <a:gd name="connsiteX6" fmla="*/ 5243677 w 8238898"/>
              <a:gd name="connsiteY6" fmla="*/ 2240279 h 6857999"/>
              <a:gd name="connsiteX7" fmla="*/ 6432397 w 8238898"/>
              <a:gd name="connsiteY7" fmla="*/ 3428999 h 6857999"/>
              <a:gd name="connsiteX8" fmla="*/ 5243677 w 8238898"/>
              <a:gd name="connsiteY8" fmla="*/ 4617719 h 6857999"/>
              <a:gd name="connsiteX9" fmla="*/ 4192117 w 8238898"/>
              <a:gd name="connsiteY9" fmla="*/ 5669279 h 6857999"/>
              <a:gd name="connsiteX10" fmla="*/ 5243677 w 8238898"/>
              <a:gd name="connsiteY10" fmla="*/ 6720839 h 6857999"/>
              <a:gd name="connsiteX11" fmla="*/ 6289808 w 8238898"/>
              <a:gd name="connsiteY11" fmla="*/ 5776795 h 6857999"/>
              <a:gd name="connsiteX12" fmla="*/ 6294738 w 8238898"/>
              <a:gd name="connsiteY12" fmla="*/ 5679148 h 6857999"/>
              <a:gd name="connsiteX13" fmla="*/ 6293572 w 8238898"/>
              <a:gd name="connsiteY13" fmla="*/ 5679148 h 6857999"/>
              <a:gd name="connsiteX14" fmla="*/ 7482270 w 8238898"/>
              <a:gd name="connsiteY14" fmla="*/ 4490451 h 6857999"/>
              <a:gd name="connsiteX15" fmla="*/ 8238393 w 8238898"/>
              <a:gd name="connsiteY15" fmla="*/ 4761892 h 6857999"/>
              <a:gd name="connsiteX16" fmla="*/ 8238898 w 8238898"/>
              <a:gd name="connsiteY16" fmla="*/ 4762351 h 6857999"/>
              <a:gd name="connsiteX17" fmla="*/ 8210149 w 8238898"/>
              <a:gd name="connsiteY17" fmla="*/ 4832436 h 6857999"/>
              <a:gd name="connsiteX18" fmla="*/ 8174690 w 8238898"/>
              <a:gd name="connsiteY18" fmla="*/ 4908161 h 6857999"/>
              <a:gd name="connsiteX19" fmla="*/ 8063806 w 8238898"/>
              <a:gd name="connsiteY19" fmla="*/ 4816673 h 6857999"/>
              <a:gd name="connsiteX20" fmla="*/ 7482270 w 8238898"/>
              <a:gd name="connsiteY20" fmla="*/ 4639038 h 6857999"/>
              <a:gd name="connsiteX21" fmla="*/ 6442159 w 8238898"/>
              <a:gd name="connsiteY21" fmla="*/ 5679148 h 6857999"/>
              <a:gd name="connsiteX22" fmla="*/ 6431898 w 8238898"/>
              <a:gd name="connsiteY22" fmla="*/ 5679148 h 6857999"/>
              <a:gd name="connsiteX23" fmla="*/ 6426260 w 8238898"/>
              <a:gd name="connsiteY23" fmla="*/ 5790819 h 6857999"/>
              <a:gd name="connsiteX24" fmla="*/ 5243677 w 8238898"/>
              <a:gd name="connsiteY24" fmla="*/ 6857999 h 6857999"/>
              <a:gd name="connsiteX25" fmla="*/ 4054957 w 8238898"/>
              <a:gd name="connsiteY25" fmla="*/ 5669279 h 6857999"/>
              <a:gd name="connsiteX26" fmla="*/ 0 w 8238898"/>
              <a:gd name="connsiteY26" fmla="*/ 2087353 h 6857999"/>
              <a:gd name="connsiteX27" fmla="*/ 9214 w 8238898"/>
              <a:gd name="connsiteY27" fmla="*/ 2076451 h 6857999"/>
              <a:gd name="connsiteX28" fmla="*/ 73846 w 8238898"/>
              <a:gd name="connsiteY28" fmla="*/ 1996463 h 6857999"/>
              <a:gd name="connsiteX29" fmla="*/ 96067 w 8238898"/>
              <a:gd name="connsiteY29" fmla="*/ 1968594 h 6857999"/>
              <a:gd name="connsiteX30" fmla="*/ 184221 w 8238898"/>
              <a:gd name="connsiteY30" fmla="*/ 2041328 h 6857999"/>
              <a:gd name="connsiteX31" fmla="*/ 765757 w 8238898"/>
              <a:gd name="connsiteY31" fmla="*/ 2218963 h 6857999"/>
              <a:gd name="connsiteX32" fmla="*/ 1805868 w 8238898"/>
              <a:gd name="connsiteY32" fmla="*/ 1178853 h 6857999"/>
              <a:gd name="connsiteX33" fmla="*/ 1816129 w 8238898"/>
              <a:gd name="connsiteY33" fmla="*/ 1178853 h 6857999"/>
              <a:gd name="connsiteX34" fmla="*/ 1821767 w 8238898"/>
              <a:gd name="connsiteY34" fmla="*/ 1067182 h 6857999"/>
              <a:gd name="connsiteX35" fmla="*/ 3004350 w 8238898"/>
              <a:gd name="connsiteY35" fmla="*/ 0 h 6857999"/>
              <a:gd name="connsiteX36" fmla="*/ 4193070 w 8238898"/>
              <a:gd name="connsiteY36" fmla="*/ 1188721 h 6857999"/>
              <a:gd name="connsiteX37" fmla="*/ 3004350 w 8238898"/>
              <a:gd name="connsiteY37" fmla="*/ 2377441 h 6857999"/>
              <a:gd name="connsiteX38" fmla="*/ 3004350 w 8238898"/>
              <a:gd name="connsiteY38" fmla="*/ 2377440 h 6857999"/>
              <a:gd name="connsiteX39" fmla="*/ 1952790 w 8238898"/>
              <a:gd name="connsiteY39" fmla="*/ 3429000 h 6857999"/>
              <a:gd name="connsiteX40" fmla="*/ 3004350 w 8238898"/>
              <a:gd name="connsiteY40" fmla="*/ 4480560 h 6857999"/>
              <a:gd name="connsiteX41" fmla="*/ 4055910 w 8238898"/>
              <a:gd name="connsiteY41" fmla="*/ 3429000 h 6857999"/>
              <a:gd name="connsiteX42" fmla="*/ 4193070 w 8238898"/>
              <a:gd name="connsiteY42" fmla="*/ 3429000 h 6857999"/>
              <a:gd name="connsiteX43" fmla="*/ 3004350 w 8238898"/>
              <a:gd name="connsiteY43" fmla="*/ 4617720 h 6857999"/>
              <a:gd name="connsiteX44" fmla="*/ 1815630 w 8238898"/>
              <a:gd name="connsiteY44" fmla="*/ 3429000 h 6857999"/>
              <a:gd name="connsiteX45" fmla="*/ 3004350 w 8238898"/>
              <a:gd name="connsiteY45" fmla="*/ 2240280 h 6857999"/>
              <a:gd name="connsiteX46" fmla="*/ 3004350 w 8238898"/>
              <a:gd name="connsiteY46" fmla="*/ 2240281 h 6857999"/>
              <a:gd name="connsiteX47" fmla="*/ 4055910 w 8238898"/>
              <a:gd name="connsiteY47" fmla="*/ 1188721 h 6857999"/>
              <a:gd name="connsiteX48" fmla="*/ 3004350 w 8238898"/>
              <a:gd name="connsiteY48" fmla="*/ 137161 h 6857999"/>
              <a:gd name="connsiteX49" fmla="*/ 1958219 w 8238898"/>
              <a:gd name="connsiteY49" fmla="*/ 1081206 h 6857999"/>
              <a:gd name="connsiteX50" fmla="*/ 1953288 w 8238898"/>
              <a:gd name="connsiteY50" fmla="*/ 1178853 h 6857999"/>
              <a:gd name="connsiteX51" fmla="*/ 1954455 w 8238898"/>
              <a:gd name="connsiteY51" fmla="*/ 1178853 h 6857999"/>
              <a:gd name="connsiteX52" fmla="*/ 765757 w 8238898"/>
              <a:gd name="connsiteY52" fmla="*/ 2367550 h 6857999"/>
              <a:gd name="connsiteX53" fmla="*/ 9635 w 8238898"/>
              <a:gd name="connsiteY53" fmla="*/ 209610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8238898" h="6857999">
                <a:moveTo>
                  <a:pt x="4054957" y="5669279"/>
                </a:moveTo>
                <a:cubicBezTo>
                  <a:pt x="4054957" y="5012767"/>
                  <a:pt x="4587165" y="4480559"/>
                  <a:pt x="5243677" y="4480559"/>
                </a:cubicBezTo>
                <a:cubicBezTo>
                  <a:pt x="5824438" y="4480559"/>
                  <a:pt x="6295237" y="4009760"/>
                  <a:pt x="6295237" y="3428999"/>
                </a:cubicBezTo>
                <a:cubicBezTo>
                  <a:pt x="6295237" y="2848238"/>
                  <a:pt x="5824438" y="2377439"/>
                  <a:pt x="5243677" y="2377439"/>
                </a:cubicBezTo>
                <a:cubicBezTo>
                  <a:pt x="4662916" y="2377439"/>
                  <a:pt x="4192117" y="2848238"/>
                  <a:pt x="4192117" y="3428999"/>
                </a:cubicBezTo>
                <a:lnTo>
                  <a:pt x="4054957" y="3428999"/>
                </a:lnTo>
                <a:cubicBezTo>
                  <a:pt x="4054957" y="2772487"/>
                  <a:pt x="4587165" y="2240279"/>
                  <a:pt x="5243677" y="2240279"/>
                </a:cubicBezTo>
                <a:cubicBezTo>
                  <a:pt x="5900189" y="2240279"/>
                  <a:pt x="6432397" y="2772487"/>
                  <a:pt x="6432397" y="3428999"/>
                </a:cubicBezTo>
                <a:cubicBezTo>
                  <a:pt x="6432397" y="4085511"/>
                  <a:pt x="5900189" y="4617719"/>
                  <a:pt x="5243677" y="4617719"/>
                </a:cubicBezTo>
                <a:cubicBezTo>
                  <a:pt x="4662916" y="4617719"/>
                  <a:pt x="4192117" y="5088518"/>
                  <a:pt x="4192117" y="5669279"/>
                </a:cubicBezTo>
                <a:cubicBezTo>
                  <a:pt x="4192117" y="6250040"/>
                  <a:pt x="4662916" y="6720839"/>
                  <a:pt x="5243677" y="6720839"/>
                </a:cubicBezTo>
                <a:cubicBezTo>
                  <a:pt x="5788140" y="6720839"/>
                  <a:pt x="6235957" y="6307051"/>
                  <a:pt x="6289808" y="5776795"/>
                </a:cubicBezTo>
                <a:lnTo>
                  <a:pt x="6294738" y="5679148"/>
                </a:lnTo>
                <a:lnTo>
                  <a:pt x="6293572" y="5679148"/>
                </a:lnTo>
                <a:cubicBezTo>
                  <a:pt x="6293572" y="5022649"/>
                  <a:pt x="6825771" y="4490451"/>
                  <a:pt x="7482270" y="4490451"/>
                </a:cubicBezTo>
                <a:cubicBezTo>
                  <a:pt x="7769489" y="4490451"/>
                  <a:pt x="8032915" y="4592317"/>
                  <a:pt x="8238393" y="4761892"/>
                </a:cubicBezTo>
                <a:lnTo>
                  <a:pt x="8238898" y="4762351"/>
                </a:lnTo>
                <a:lnTo>
                  <a:pt x="8210149" y="4832436"/>
                </a:lnTo>
                <a:lnTo>
                  <a:pt x="8174690" y="4908161"/>
                </a:lnTo>
                <a:lnTo>
                  <a:pt x="8063806" y="4816673"/>
                </a:lnTo>
                <a:cubicBezTo>
                  <a:pt x="7897803" y="4704524"/>
                  <a:pt x="7697684" y="4639038"/>
                  <a:pt x="7482270" y="4639038"/>
                </a:cubicBezTo>
                <a:cubicBezTo>
                  <a:pt x="6907833" y="4639038"/>
                  <a:pt x="6442159" y="5104712"/>
                  <a:pt x="6442159" y="5679148"/>
                </a:cubicBezTo>
                <a:lnTo>
                  <a:pt x="6431898" y="5679148"/>
                </a:lnTo>
                <a:lnTo>
                  <a:pt x="6426260" y="5790819"/>
                </a:lnTo>
                <a:cubicBezTo>
                  <a:pt x="6365385" y="6390238"/>
                  <a:pt x="5859157" y="6857999"/>
                  <a:pt x="5243677" y="6857999"/>
                </a:cubicBezTo>
                <a:cubicBezTo>
                  <a:pt x="4587165" y="6857999"/>
                  <a:pt x="4054957" y="6325791"/>
                  <a:pt x="4054957" y="5669279"/>
                </a:cubicBezTo>
                <a:close/>
                <a:moveTo>
                  <a:pt x="0" y="2087353"/>
                </a:moveTo>
                <a:lnTo>
                  <a:pt x="9214" y="2076451"/>
                </a:lnTo>
                <a:cubicBezTo>
                  <a:pt x="32520" y="2047767"/>
                  <a:pt x="54027" y="2021146"/>
                  <a:pt x="73846" y="1996463"/>
                </a:cubicBezTo>
                <a:lnTo>
                  <a:pt x="96067" y="1968594"/>
                </a:lnTo>
                <a:lnTo>
                  <a:pt x="184221" y="2041328"/>
                </a:lnTo>
                <a:cubicBezTo>
                  <a:pt x="350224" y="2153478"/>
                  <a:pt x="550343" y="2218963"/>
                  <a:pt x="765757" y="2218963"/>
                </a:cubicBezTo>
                <a:cubicBezTo>
                  <a:pt x="1340194" y="2218963"/>
                  <a:pt x="1805868" y="1753290"/>
                  <a:pt x="1805868" y="1178853"/>
                </a:cubicBezTo>
                <a:lnTo>
                  <a:pt x="1816129" y="1178853"/>
                </a:lnTo>
                <a:lnTo>
                  <a:pt x="1821767" y="1067182"/>
                </a:lnTo>
                <a:cubicBezTo>
                  <a:pt x="1882642" y="467762"/>
                  <a:pt x="2388870" y="0"/>
                  <a:pt x="3004350" y="0"/>
                </a:cubicBezTo>
                <a:cubicBezTo>
                  <a:pt x="3660862" y="0"/>
                  <a:pt x="4193070" y="532209"/>
                  <a:pt x="4193070" y="1188721"/>
                </a:cubicBezTo>
                <a:cubicBezTo>
                  <a:pt x="4193070" y="1845233"/>
                  <a:pt x="3660862" y="2377441"/>
                  <a:pt x="3004350" y="2377441"/>
                </a:cubicBezTo>
                <a:lnTo>
                  <a:pt x="3004350" y="2377440"/>
                </a:lnTo>
                <a:cubicBezTo>
                  <a:pt x="2423589" y="2377440"/>
                  <a:pt x="1952790" y="2848239"/>
                  <a:pt x="1952790" y="3429000"/>
                </a:cubicBezTo>
                <a:cubicBezTo>
                  <a:pt x="1952790" y="4009761"/>
                  <a:pt x="2423589" y="4480560"/>
                  <a:pt x="3004350" y="4480560"/>
                </a:cubicBezTo>
                <a:cubicBezTo>
                  <a:pt x="3585111" y="4480560"/>
                  <a:pt x="4055910" y="4009761"/>
                  <a:pt x="4055910" y="3429000"/>
                </a:cubicBezTo>
                <a:lnTo>
                  <a:pt x="4193070" y="3429000"/>
                </a:lnTo>
                <a:cubicBezTo>
                  <a:pt x="4193070" y="4085512"/>
                  <a:pt x="3660862" y="4617720"/>
                  <a:pt x="3004350" y="4617720"/>
                </a:cubicBezTo>
                <a:cubicBezTo>
                  <a:pt x="2347838" y="4617720"/>
                  <a:pt x="1815630" y="4085512"/>
                  <a:pt x="1815630" y="3429000"/>
                </a:cubicBezTo>
                <a:cubicBezTo>
                  <a:pt x="1815630" y="2772488"/>
                  <a:pt x="2347838" y="2240280"/>
                  <a:pt x="3004350" y="2240280"/>
                </a:cubicBezTo>
                <a:lnTo>
                  <a:pt x="3004350" y="2240281"/>
                </a:lnTo>
                <a:cubicBezTo>
                  <a:pt x="3585111" y="2240281"/>
                  <a:pt x="4055910" y="1769482"/>
                  <a:pt x="4055910" y="1188721"/>
                </a:cubicBezTo>
                <a:cubicBezTo>
                  <a:pt x="4055910" y="607961"/>
                  <a:pt x="3585111" y="137161"/>
                  <a:pt x="3004350" y="137161"/>
                </a:cubicBezTo>
                <a:cubicBezTo>
                  <a:pt x="2459887" y="137161"/>
                  <a:pt x="2012070" y="550950"/>
                  <a:pt x="1958219" y="1081206"/>
                </a:cubicBezTo>
                <a:lnTo>
                  <a:pt x="1953288" y="1178853"/>
                </a:lnTo>
                <a:lnTo>
                  <a:pt x="1954455" y="1178853"/>
                </a:lnTo>
                <a:cubicBezTo>
                  <a:pt x="1954455" y="1835352"/>
                  <a:pt x="1422256" y="2367550"/>
                  <a:pt x="765757" y="2367550"/>
                </a:cubicBezTo>
                <a:cubicBezTo>
                  <a:pt x="478538" y="2367550"/>
                  <a:pt x="215112" y="2265684"/>
                  <a:pt x="9635" y="2096109"/>
                </a:cubicBezTo>
                <a:close/>
              </a:path>
            </a:pathLst>
          </a:custGeom>
          <a:solidFill>
            <a:srgbClr val="000000"/>
          </a:solidFill>
          <a:ln w="18256" cap="flat">
            <a:noFill/>
            <a:prstDash val="solid"/>
            <a:miter/>
          </a:ln>
          <a:effectLst>
            <a:outerShdw blurRad="203200" sx="102000" sy="102000" algn="ctr" rotWithShape="0">
              <a:srgbClr val="5A24FD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A2DDEC0-9F83-8FCF-9234-2A1C9B3FDF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700000">
            <a:off x="2996240" y="-207181"/>
            <a:ext cx="7273576" cy="7272363"/>
          </a:xfrm>
          <a:custGeom>
            <a:avLst/>
            <a:gdLst>
              <a:gd name="connsiteX0" fmla="*/ 2312273 w 7273576"/>
              <a:gd name="connsiteY0" fmla="*/ 111357 h 7272363"/>
              <a:gd name="connsiteX1" fmla="*/ 2423630 w 7273576"/>
              <a:gd name="connsiteY1" fmla="*/ 0 h 7272363"/>
              <a:gd name="connsiteX2" fmla="*/ 2473704 w 7273576"/>
              <a:gd name="connsiteY2" fmla="*/ 66962 h 7272363"/>
              <a:gd name="connsiteX3" fmla="*/ 2704661 w 7273576"/>
              <a:gd name="connsiteY3" fmla="*/ 823064 h 7272363"/>
              <a:gd name="connsiteX4" fmla="*/ 1352329 w 7273576"/>
              <a:gd name="connsiteY4" fmla="*/ 2175396 h 7272363"/>
              <a:gd name="connsiteX5" fmla="*/ 1352330 w 7273576"/>
              <a:gd name="connsiteY5" fmla="*/ 2174046 h 7272363"/>
              <a:gd name="connsiteX6" fmla="*/ 1230018 w 7273576"/>
              <a:gd name="connsiteY6" fmla="*/ 2180223 h 7272363"/>
              <a:gd name="connsiteX7" fmla="*/ 156038 w 7273576"/>
              <a:gd name="connsiteY7" fmla="*/ 3370339 h 7272363"/>
              <a:gd name="connsiteX8" fmla="*/ 1352331 w 7273576"/>
              <a:gd name="connsiteY8" fmla="*/ 4566632 h 7272363"/>
              <a:gd name="connsiteX9" fmla="*/ 2548625 w 7273576"/>
              <a:gd name="connsiteY9" fmla="*/ 3370339 h 7272363"/>
              <a:gd name="connsiteX10" fmla="*/ 2547765 w 7273576"/>
              <a:gd name="connsiteY10" fmla="*/ 3370339 h 7272363"/>
              <a:gd name="connsiteX11" fmla="*/ 3900096 w 7273576"/>
              <a:gd name="connsiteY11" fmla="*/ 2018008 h 7272363"/>
              <a:gd name="connsiteX12" fmla="*/ 5252428 w 7273576"/>
              <a:gd name="connsiteY12" fmla="*/ 3370339 h 7272363"/>
              <a:gd name="connsiteX13" fmla="*/ 4038364 w 7273576"/>
              <a:gd name="connsiteY13" fmla="*/ 4715689 h 7272363"/>
              <a:gd name="connsiteX14" fmla="*/ 3902749 w 7273576"/>
              <a:gd name="connsiteY14" fmla="*/ 4722536 h 7272363"/>
              <a:gd name="connsiteX15" fmla="*/ 3902749 w 7273576"/>
              <a:gd name="connsiteY15" fmla="*/ 4723738 h 7272363"/>
              <a:gd name="connsiteX16" fmla="*/ 2706456 w 7273576"/>
              <a:gd name="connsiteY16" fmla="*/ 5920031 h 7272363"/>
              <a:gd name="connsiteX17" fmla="*/ 3902749 w 7273576"/>
              <a:gd name="connsiteY17" fmla="*/ 7116324 h 7272363"/>
              <a:gd name="connsiteX18" fmla="*/ 5099043 w 7273576"/>
              <a:gd name="connsiteY18" fmla="*/ 5920031 h 7272363"/>
              <a:gd name="connsiteX19" fmla="*/ 5098182 w 7273576"/>
              <a:gd name="connsiteY19" fmla="*/ 5920031 h 7272363"/>
              <a:gd name="connsiteX20" fmla="*/ 6450515 w 7273576"/>
              <a:gd name="connsiteY20" fmla="*/ 4567700 h 7272363"/>
              <a:gd name="connsiteX21" fmla="*/ 7206616 w 7273576"/>
              <a:gd name="connsiteY21" fmla="*/ 4798657 h 7272363"/>
              <a:gd name="connsiteX22" fmla="*/ 7273576 w 7273576"/>
              <a:gd name="connsiteY22" fmla="*/ 4848729 h 7272363"/>
              <a:gd name="connsiteX23" fmla="*/ 7162220 w 7273576"/>
              <a:gd name="connsiteY23" fmla="*/ 4960086 h 7272363"/>
              <a:gd name="connsiteX24" fmla="*/ 7119374 w 7273576"/>
              <a:gd name="connsiteY24" fmla="*/ 4928046 h 7272363"/>
              <a:gd name="connsiteX25" fmla="*/ 6450515 w 7273576"/>
              <a:gd name="connsiteY25" fmla="*/ 4723738 h 7272363"/>
              <a:gd name="connsiteX26" fmla="*/ 5254221 w 7273576"/>
              <a:gd name="connsiteY26" fmla="*/ 5920031 h 7272363"/>
              <a:gd name="connsiteX27" fmla="*/ 5255081 w 7273576"/>
              <a:gd name="connsiteY27" fmla="*/ 5920031 h 7272363"/>
              <a:gd name="connsiteX28" fmla="*/ 3902749 w 7273576"/>
              <a:gd name="connsiteY28" fmla="*/ 7272363 h 7272363"/>
              <a:gd name="connsiteX29" fmla="*/ 2550418 w 7273576"/>
              <a:gd name="connsiteY29" fmla="*/ 5920031 h 7272363"/>
              <a:gd name="connsiteX30" fmla="*/ 3764482 w 7273576"/>
              <a:gd name="connsiteY30" fmla="*/ 4574681 h 7272363"/>
              <a:gd name="connsiteX31" fmla="*/ 3900096 w 7273576"/>
              <a:gd name="connsiteY31" fmla="*/ 4567834 h 7272363"/>
              <a:gd name="connsiteX32" fmla="*/ 3900096 w 7273576"/>
              <a:gd name="connsiteY32" fmla="*/ 4566632 h 7272363"/>
              <a:gd name="connsiteX33" fmla="*/ 5096390 w 7273576"/>
              <a:gd name="connsiteY33" fmla="*/ 3370339 h 7272363"/>
              <a:gd name="connsiteX34" fmla="*/ 3900097 w 7273576"/>
              <a:gd name="connsiteY34" fmla="*/ 2174046 h 7272363"/>
              <a:gd name="connsiteX35" fmla="*/ 2703804 w 7273576"/>
              <a:gd name="connsiteY35" fmla="*/ 3370339 h 7272363"/>
              <a:gd name="connsiteX36" fmla="*/ 2704663 w 7273576"/>
              <a:gd name="connsiteY36" fmla="*/ 3370339 h 7272363"/>
              <a:gd name="connsiteX37" fmla="*/ 1352332 w 7273576"/>
              <a:gd name="connsiteY37" fmla="*/ 4722671 h 7272363"/>
              <a:gd name="connsiteX38" fmla="*/ 0 w 7273576"/>
              <a:gd name="connsiteY38" fmla="*/ 3370339 h 7272363"/>
              <a:gd name="connsiteX39" fmla="*/ 1352332 w 7273576"/>
              <a:gd name="connsiteY39" fmla="*/ 2018008 h 7272363"/>
              <a:gd name="connsiteX40" fmla="*/ 1352331 w 7273576"/>
              <a:gd name="connsiteY40" fmla="*/ 2019357 h 7272363"/>
              <a:gd name="connsiteX41" fmla="*/ 1474643 w 7273576"/>
              <a:gd name="connsiteY41" fmla="*/ 2013181 h 7272363"/>
              <a:gd name="connsiteX42" fmla="*/ 2548622 w 7273576"/>
              <a:gd name="connsiteY42" fmla="*/ 823064 h 7272363"/>
              <a:gd name="connsiteX43" fmla="*/ 2344315 w 7273576"/>
              <a:gd name="connsiteY43" fmla="*/ 154205 h 727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273576" h="7272363">
                <a:moveTo>
                  <a:pt x="2312273" y="111357"/>
                </a:moveTo>
                <a:lnTo>
                  <a:pt x="2423630" y="0"/>
                </a:lnTo>
                <a:lnTo>
                  <a:pt x="2473704" y="66962"/>
                </a:lnTo>
                <a:cubicBezTo>
                  <a:pt x="2619518" y="282796"/>
                  <a:pt x="2704661" y="542987"/>
                  <a:pt x="2704661" y="823064"/>
                </a:cubicBezTo>
                <a:cubicBezTo>
                  <a:pt x="2704661" y="1569936"/>
                  <a:pt x="2099202" y="2175395"/>
                  <a:pt x="1352329" y="2175396"/>
                </a:cubicBezTo>
                <a:lnTo>
                  <a:pt x="1352330" y="2174046"/>
                </a:lnTo>
                <a:lnTo>
                  <a:pt x="1230018" y="2180223"/>
                </a:lnTo>
                <a:cubicBezTo>
                  <a:pt x="626779" y="2241485"/>
                  <a:pt x="156038" y="2750938"/>
                  <a:pt x="156038" y="3370339"/>
                </a:cubicBezTo>
                <a:cubicBezTo>
                  <a:pt x="156038" y="4031035"/>
                  <a:pt x="691636" y="4566633"/>
                  <a:pt x="1352331" y="4566632"/>
                </a:cubicBezTo>
                <a:cubicBezTo>
                  <a:pt x="2013027" y="4566633"/>
                  <a:pt x="2548625" y="4031035"/>
                  <a:pt x="2548625" y="3370339"/>
                </a:cubicBezTo>
                <a:lnTo>
                  <a:pt x="2547765" y="3370339"/>
                </a:lnTo>
                <a:cubicBezTo>
                  <a:pt x="2547765" y="2623467"/>
                  <a:pt x="3153224" y="2018008"/>
                  <a:pt x="3900096" y="2018008"/>
                </a:cubicBezTo>
                <a:cubicBezTo>
                  <a:pt x="4646969" y="2018008"/>
                  <a:pt x="5252428" y="2623467"/>
                  <a:pt x="5252428" y="3370339"/>
                </a:cubicBezTo>
                <a:cubicBezTo>
                  <a:pt x="5252428" y="4070532"/>
                  <a:pt x="4720286" y="4646437"/>
                  <a:pt x="4038364" y="4715689"/>
                </a:cubicBezTo>
                <a:lnTo>
                  <a:pt x="3902749" y="4722536"/>
                </a:lnTo>
                <a:lnTo>
                  <a:pt x="3902749" y="4723738"/>
                </a:lnTo>
                <a:cubicBezTo>
                  <a:pt x="3242054" y="4723738"/>
                  <a:pt x="2706456" y="5259336"/>
                  <a:pt x="2706456" y="5920031"/>
                </a:cubicBezTo>
                <a:cubicBezTo>
                  <a:pt x="2706456" y="6580726"/>
                  <a:pt x="3242054" y="7116324"/>
                  <a:pt x="3902749" y="7116324"/>
                </a:cubicBezTo>
                <a:cubicBezTo>
                  <a:pt x="4563445" y="7116324"/>
                  <a:pt x="5099043" y="6580726"/>
                  <a:pt x="5099043" y="5920031"/>
                </a:cubicBezTo>
                <a:lnTo>
                  <a:pt x="5098182" y="5920031"/>
                </a:lnTo>
                <a:cubicBezTo>
                  <a:pt x="5098182" y="5173159"/>
                  <a:pt x="5703642" y="4567700"/>
                  <a:pt x="6450515" y="4567700"/>
                </a:cubicBezTo>
                <a:cubicBezTo>
                  <a:pt x="6730591" y="4567700"/>
                  <a:pt x="6990782" y="4652843"/>
                  <a:pt x="7206616" y="4798657"/>
                </a:cubicBezTo>
                <a:lnTo>
                  <a:pt x="7273576" y="4848729"/>
                </a:lnTo>
                <a:lnTo>
                  <a:pt x="7162220" y="4960086"/>
                </a:lnTo>
                <a:lnTo>
                  <a:pt x="7119374" y="4928046"/>
                </a:lnTo>
                <a:cubicBezTo>
                  <a:pt x="6928444" y="4799056"/>
                  <a:pt x="6698275" y="4723738"/>
                  <a:pt x="6450515" y="4723738"/>
                </a:cubicBezTo>
                <a:cubicBezTo>
                  <a:pt x="5789819" y="4723738"/>
                  <a:pt x="5254221" y="5259336"/>
                  <a:pt x="5254221" y="5920031"/>
                </a:cubicBezTo>
                <a:lnTo>
                  <a:pt x="5255081" y="5920031"/>
                </a:lnTo>
                <a:cubicBezTo>
                  <a:pt x="5255081" y="6666904"/>
                  <a:pt x="4649622" y="7272363"/>
                  <a:pt x="3902749" y="7272363"/>
                </a:cubicBezTo>
                <a:cubicBezTo>
                  <a:pt x="3155877" y="7272363"/>
                  <a:pt x="2550418" y="6666903"/>
                  <a:pt x="2550418" y="5920031"/>
                </a:cubicBezTo>
                <a:cubicBezTo>
                  <a:pt x="2550418" y="5219838"/>
                  <a:pt x="3082560" y="4643935"/>
                  <a:pt x="3764482" y="4574681"/>
                </a:cubicBezTo>
                <a:lnTo>
                  <a:pt x="3900096" y="4567834"/>
                </a:lnTo>
                <a:lnTo>
                  <a:pt x="3900096" y="4566632"/>
                </a:lnTo>
                <a:cubicBezTo>
                  <a:pt x="4560792" y="4566632"/>
                  <a:pt x="5096389" y="4031035"/>
                  <a:pt x="5096390" y="3370339"/>
                </a:cubicBezTo>
                <a:cubicBezTo>
                  <a:pt x="5096390" y="2709644"/>
                  <a:pt x="4560792" y="2174046"/>
                  <a:pt x="3900097" y="2174046"/>
                </a:cubicBezTo>
                <a:cubicBezTo>
                  <a:pt x="3239401" y="2174047"/>
                  <a:pt x="2703803" y="2709645"/>
                  <a:pt x="2703804" y="3370339"/>
                </a:cubicBezTo>
                <a:lnTo>
                  <a:pt x="2704663" y="3370339"/>
                </a:lnTo>
                <a:cubicBezTo>
                  <a:pt x="2704663" y="4117212"/>
                  <a:pt x="2099204" y="4722671"/>
                  <a:pt x="1352332" y="4722671"/>
                </a:cubicBezTo>
                <a:cubicBezTo>
                  <a:pt x="605459" y="4722671"/>
                  <a:pt x="0" y="4117212"/>
                  <a:pt x="0" y="3370339"/>
                </a:cubicBezTo>
                <a:cubicBezTo>
                  <a:pt x="0" y="2623467"/>
                  <a:pt x="605459" y="2018008"/>
                  <a:pt x="1352332" y="2018008"/>
                </a:cubicBezTo>
                <a:lnTo>
                  <a:pt x="1352331" y="2019357"/>
                </a:lnTo>
                <a:lnTo>
                  <a:pt x="1474643" y="2013181"/>
                </a:lnTo>
                <a:cubicBezTo>
                  <a:pt x="2077882" y="1951919"/>
                  <a:pt x="2548622" y="1442466"/>
                  <a:pt x="2548622" y="823064"/>
                </a:cubicBezTo>
                <a:cubicBezTo>
                  <a:pt x="2548623" y="575303"/>
                  <a:pt x="2473304" y="345135"/>
                  <a:pt x="2344315" y="154205"/>
                </a:cubicBezTo>
                <a:close/>
              </a:path>
            </a:pathLst>
          </a:custGeom>
          <a:gradFill flip="none" rotWithShape="1">
            <a:gsLst>
              <a:gs pos="8000">
                <a:schemeClr val="accent5">
                  <a:lumMod val="60000"/>
                  <a:lumOff val="40000"/>
                </a:schemeClr>
              </a:gs>
              <a:gs pos="97000">
                <a:schemeClr val="accent5">
                  <a:lumMod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 w="18256" cap="flat">
            <a:noFill/>
            <a:prstDash val="solid"/>
            <a:miter/>
          </a:ln>
          <a:effectLst>
            <a:glow rad="38100">
              <a:schemeClr val="accent1">
                <a:alpha val="40000"/>
              </a:schemeClr>
            </a:glow>
            <a:innerShdw blurRad="469900">
              <a:schemeClr val="accent5">
                <a:lumMod val="50000"/>
              </a:schemeClr>
            </a:innerShdw>
          </a:effectLst>
        </p:spPr>
        <p:txBody>
          <a:bodyPr rtlCol="0" anchor="ctr"/>
          <a:lstStyle/>
          <a:p>
            <a:endParaRPr lang="en-US" dirty="0">
              <a:latin typeface="Avenir Next LT Pro Demi" panose="020B0704020202020204" pitchFamily="34" charset="0"/>
            </a:endParaRPr>
          </a:p>
        </p:txBody>
      </p:sp>
      <p:sp>
        <p:nvSpPr>
          <p:cNvPr id="18" name="Graphic 11" descr="Single gear with solid fill">
            <a:extLst>
              <a:ext uri="{FF2B5EF4-FFF2-40B4-BE49-F238E27FC236}">
                <a16:creationId xmlns:a16="http://schemas.microsoft.com/office/drawing/2014/main" id="{62AB7E65-ABAC-52DD-4832-47E221A39A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6355" y="4372751"/>
            <a:ext cx="1755648" cy="1755648"/>
          </a:xfrm>
          <a:custGeom>
            <a:avLst/>
            <a:gdLst>
              <a:gd name="connsiteX0" fmla="*/ 621792 w 1245412"/>
              <a:gd name="connsiteY0" fmla="*/ 841248 h 1243584"/>
              <a:gd name="connsiteX1" fmla="*/ 402336 w 1245412"/>
              <a:gd name="connsiteY1" fmla="*/ 621792 h 1243584"/>
              <a:gd name="connsiteX2" fmla="*/ 621792 w 1245412"/>
              <a:gd name="connsiteY2" fmla="*/ 402336 h 1243584"/>
              <a:gd name="connsiteX3" fmla="*/ 841248 w 1245412"/>
              <a:gd name="connsiteY3" fmla="*/ 621792 h 1243584"/>
              <a:gd name="connsiteX4" fmla="*/ 621792 w 1245412"/>
              <a:gd name="connsiteY4" fmla="*/ 841248 h 1243584"/>
              <a:gd name="connsiteX5" fmla="*/ 1115568 w 1245412"/>
              <a:gd name="connsiteY5" fmla="*/ 484632 h 1243584"/>
              <a:gd name="connsiteX6" fmla="*/ 1068019 w 1245412"/>
              <a:gd name="connsiteY6" fmla="*/ 371246 h 1243584"/>
              <a:gd name="connsiteX7" fmla="*/ 1113739 w 1245412"/>
              <a:gd name="connsiteY7" fmla="*/ 234086 h 1243584"/>
              <a:gd name="connsiteX8" fmla="*/ 1009498 w 1245412"/>
              <a:gd name="connsiteY8" fmla="*/ 129845 h 1243584"/>
              <a:gd name="connsiteX9" fmla="*/ 872338 w 1245412"/>
              <a:gd name="connsiteY9" fmla="*/ 175565 h 1243584"/>
              <a:gd name="connsiteX10" fmla="*/ 757123 w 1245412"/>
              <a:gd name="connsiteY10" fmla="*/ 128016 h 1243584"/>
              <a:gd name="connsiteX11" fmla="*/ 694944 w 1245412"/>
              <a:gd name="connsiteY11" fmla="*/ 0 h 1243584"/>
              <a:gd name="connsiteX12" fmla="*/ 548640 w 1245412"/>
              <a:gd name="connsiteY12" fmla="*/ 0 h 1243584"/>
              <a:gd name="connsiteX13" fmla="*/ 484632 w 1245412"/>
              <a:gd name="connsiteY13" fmla="*/ 128016 h 1243584"/>
              <a:gd name="connsiteX14" fmla="*/ 371246 w 1245412"/>
              <a:gd name="connsiteY14" fmla="*/ 175565 h 1243584"/>
              <a:gd name="connsiteX15" fmla="*/ 234086 w 1245412"/>
              <a:gd name="connsiteY15" fmla="*/ 129845 h 1243584"/>
              <a:gd name="connsiteX16" fmla="*/ 129845 w 1245412"/>
              <a:gd name="connsiteY16" fmla="*/ 234086 h 1243584"/>
              <a:gd name="connsiteX17" fmla="*/ 175565 w 1245412"/>
              <a:gd name="connsiteY17" fmla="*/ 371246 h 1243584"/>
              <a:gd name="connsiteX18" fmla="*/ 128016 w 1245412"/>
              <a:gd name="connsiteY18" fmla="*/ 486461 h 1243584"/>
              <a:gd name="connsiteX19" fmla="*/ 0 w 1245412"/>
              <a:gd name="connsiteY19" fmla="*/ 548640 h 1243584"/>
              <a:gd name="connsiteX20" fmla="*/ 0 w 1245412"/>
              <a:gd name="connsiteY20" fmla="*/ 694944 h 1243584"/>
              <a:gd name="connsiteX21" fmla="*/ 128016 w 1245412"/>
              <a:gd name="connsiteY21" fmla="*/ 758952 h 1243584"/>
              <a:gd name="connsiteX22" fmla="*/ 175565 w 1245412"/>
              <a:gd name="connsiteY22" fmla="*/ 872338 h 1243584"/>
              <a:gd name="connsiteX23" fmla="*/ 129845 w 1245412"/>
              <a:gd name="connsiteY23" fmla="*/ 1009498 h 1243584"/>
              <a:gd name="connsiteX24" fmla="*/ 234086 w 1245412"/>
              <a:gd name="connsiteY24" fmla="*/ 1113739 h 1243584"/>
              <a:gd name="connsiteX25" fmla="*/ 371246 w 1245412"/>
              <a:gd name="connsiteY25" fmla="*/ 1068019 h 1243584"/>
              <a:gd name="connsiteX26" fmla="*/ 486461 w 1245412"/>
              <a:gd name="connsiteY26" fmla="*/ 1115568 h 1243584"/>
              <a:gd name="connsiteX27" fmla="*/ 550469 w 1245412"/>
              <a:gd name="connsiteY27" fmla="*/ 1243584 h 1243584"/>
              <a:gd name="connsiteX28" fmla="*/ 696773 w 1245412"/>
              <a:gd name="connsiteY28" fmla="*/ 1243584 h 1243584"/>
              <a:gd name="connsiteX29" fmla="*/ 760781 w 1245412"/>
              <a:gd name="connsiteY29" fmla="*/ 1115568 h 1243584"/>
              <a:gd name="connsiteX30" fmla="*/ 874166 w 1245412"/>
              <a:gd name="connsiteY30" fmla="*/ 1068019 h 1243584"/>
              <a:gd name="connsiteX31" fmla="*/ 1011326 w 1245412"/>
              <a:gd name="connsiteY31" fmla="*/ 1113739 h 1243584"/>
              <a:gd name="connsiteX32" fmla="*/ 1115568 w 1245412"/>
              <a:gd name="connsiteY32" fmla="*/ 1009498 h 1243584"/>
              <a:gd name="connsiteX33" fmla="*/ 1069848 w 1245412"/>
              <a:gd name="connsiteY33" fmla="*/ 872338 h 1243584"/>
              <a:gd name="connsiteX34" fmla="*/ 1117397 w 1245412"/>
              <a:gd name="connsiteY34" fmla="*/ 757123 h 1243584"/>
              <a:gd name="connsiteX35" fmla="*/ 1245413 w 1245412"/>
              <a:gd name="connsiteY35" fmla="*/ 693115 h 1243584"/>
              <a:gd name="connsiteX36" fmla="*/ 1245413 w 1245412"/>
              <a:gd name="connsiteY36" fmla="*/ 546811 h 1243584"/>
              <a:gd name="connsiteX37" fmla="*/ 1115568 w 1245412"/>
              <a:gd name="connsiteY37" fmla="*/ 484632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45412" h="1243584">
                <a:moveTo>
                  <a:pt x="621792" y="841248"/>
                </a:moveTo>
                <a:cubicBezTo>
                  <a:pt x="501091" y="841248"/>
                  <a:pt x="402336" y="742493"/>
                  <a:pt x="402336" y="621792"/>
                </a:cubicBezTo>
                <a:cubicBezTo>
                  <a:pt x="402336" y="501091"/>
                  <a:pt x="501091" y="402336"/>
                  <a:pt x="621792" y="402336"/>
                </a:cubicBezTo>
                <a:cubicBezTo>
                  <a:pt x="742493" y="402336"/>
                  <a:pt x="841248" y="501091"/>
                  <a:pt x="841248" y="621792"/>
                </a:cubicBezTo>
                <a:cubicBezTo>
                  <a:pt x="841248" y="742493"/>
                  <a:pt x="742493" y="841248"/>
                  <a:pt x="621792" y="841248"/>
                </a:cubicBezTo>
                <a:close/>
                <a:moveTo>
                  <a:pt x="1115568" y="484632"/>
                </a:moveTo>
                <a:cubicBezTo>
                  <a:pt x="1104595" y="444398"/>
                  <a:pt x="1088136" y="405994"/>
                  <a:pt x="1068019" y="371246"/>
                </a:cubicBezTo>
                <a:lnTo>
                  <a:pt x="1113739" y="234086"/>
                </a:lnTo>
                <a:lnTo>
                  <a:pt x="1009498" y="129845"/>
                </a:lnTo>
                <a:lnTo>
                  <a:pt x="872338" y="175565"/>
                </a:lnTo>
                <a:cubicBezTo>
                  <a:pt x="835762" y="155448"/>
                  <a:pt x="797357" y="138989"/>
                  <a:pt x="757123" y="128016"/>
                </a:cubicBezTo>
                <a:lnTo>
                  <a:pt x="694944" y="0"/>
                </a:lnTo>
                <a:lnTo>
                  <a:pt x="548640" y="0"/>
                </a:lnTo>
                <a:lnTo>
                  <a:pt x="484632" y="128016"/>
                </a:lnTo>
                <a:cubicBezTo>
                  <a:pt x="444398" y="138989"/>
                  <a:pt x="405994" y="155448"/>
                  <a:pt x="371246" y="175565"/>
                </a:cubicBezTo>
                <a:lnTo>
                  <a:pt x="234086" y="129845"/>
                </a:lnTo>
                <a:lnTo>
                  <a:pt x="129845" y="234086"/>
                </a:lnTo>
                <a:lnTo>
                  <a:pt x="175565" y="371246"/>
                </a:lnTo>
                <a:cubicBezTo>
                  <a:pt x="155448" y="407822"/>
                  <a:pt x="138989" y="446227"/>
                  <a:pt x="128016" y="486461"/>
                </a:cubicBezTo>
                <a:lnTo>
                  <a:pt x="0" y="548640"/>
                </a:lnTo>
                <a:lnTo>
                  <a:pt x="0" y="694944"/>
                </a:lnTo>
                <a:lnTo>
                  <a:pt x="128016" y="758952"/>
                </a:lnTo>
                <a:cubicBezTo>
                  <a:pt x="138989" y="799186"/>
                  <a:pt x="155448" y="837590"/>
                  <a:pt x="175565" y="872338"/>
                </a:cubicBezTo>
                <a:lnTo>
                  <a:pt x="129845" y="1009498"/>
                </a:lnTo>
                <a:lnTo>
                  <a:pt x="234086" y="1113739"/>
                </a:lnTo>
                <a:lnTo>
                  <a:pt x="371246" y="1068019"/>
                </a:lnTo>
                <a:cubicBezTo>
                  <a:pt x="407822" y="1088136"/>
                  <a:pt x="446227" y="1104595"/>
                  <a:pt x="486461" y="1115568"/>
                </a:cubicBezTo>
                <a:lnTo>
                  <a:pt x="550469" y="1243584"/>
                </a:lnTo>
                <a:lnTo>
                  <a:pt x="696773" y="1243584"/>
                </a:lnTo>
                <a:lnTo>
                  <a:pt x="760781" y="1115568"/>
                </a:lnTo>
                <a:cubicBezTo>
                  <a:pt x="801014" y="1104595"/>
                  <a:pt x="839419" y="1088136"/>
                  <a:pt x="874166" y="1068019"/>
                </a:cubicBezTo>
                <a:lnTo>
                  <a:pt x="1011326" y="1113739"/>
                </a:lnTo>
                <a:lnTo>
                  <a:pt x="1115568" y="1009498"/>
                </a:lnTo>
                <a:lnTo>
                  <a:pt x="1069848" y="872338"/>
                </a:lnTo>
                <a:cubicBezTo>
                  <a:pt x="1089965" y="835762"/>
                  <a:pt x="1106424" y="797357"/>
                  <a:pt x="1117397" y="757123"/>
                </a:cubicBezTo>
                <a:lnTo>
                  <a:pt x="1245413" y="693115"/>
                </a:lnTo>
                <a:lnTo>
                  <a:pt x="1245413" y="546811"/>
                </a:lnTo>
                <a:lnTo>
                  <a:pt x="1115568" y="484632"/>
                </a:lnTo>
                <a:close/>
              </a:path>
            </a:pathLst>
          </a:custGeom>
          <a:gradFill flip="none" rotWithShape="1">
            <a:gsLst>
              <a:gs pos="8000">
                <a:schemeClr val="accent5">
                  <a:lumMod val="60000"/>
                  <a:lumOff val="40000"/>
                </a:schemeClr>
              </a:gs>
              <a:gs pos="97000">
                <a:schemeClr val="accent5">
                  <a:lumMod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 w="18256" cap="flat">
            <a:noFill/>
            <a:prstDash val="solid"/>
            <a:miter/>
          </a:ln>
          <a:effectLst>
            <a:glow rad="38100">
              <a:schemeClr val="accent1">
                <a:alpha val="40000"/>
              </a:schemeClr>
            </a:glow>
            <a:innerShdw blurRad="469900">
              <a:schemeClr val="accent5">
                <a:lumMod val="50000"/>
              </a:schemeClr>
            </a:innerShdw>
          </a:effectLst>
        </p:spPr>
        <p:txBody>
          <a:bodyPr rtlCol="0" anchor="ctr"/>
          <a:lstStyle/>
          <a:p>
            <a:endParaRPr lang="en-US" dirty="0">
              <a:latin typeface="Avenir Next LT Pro Demi" panose="020B0704020202020204" pitchFamily="34" charset="0"/>
            </a:endParaRPr>
          </a:p>
        </p:txBody>
      </p:sp>
      <p:sp>
        <p:nvSpPr>
          <p:cNvPr id="19" name="Graphic 11" descr="Single gear with solid fill">
            <a:extLst>
              <a:ext uri="{FF2B5EF4-FFF2-40B4-BE49-F238E27FC236}">
                <a16:creationId xmlns:a16="http://schemas.microsoft.com/office/drawing/2014/main" id="{FC63401E-F982-177F-993B-358E185D64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32846" y="2551176"/>
            <a:ext cx="1755648" cy="1755648"/>
          </a:xfrm>
          <a:custGeom>
            <a:avLst/>
            <a:gdLst>
              <a:gd name="connsiteX0" fmla="*/ 621792 w 1245412"/>
              <a:gd name="connsiteY0" fmla="*/ 841248 h 1243584"/>
              <a:gd name="connsiteX1" fmla="*/ 402336 w 1245412"/>
              <a:gd name="connsiteY1" fmla="*/ 621792 h 1243584"/>
              <a:gd name="connsiteX2" fmla="*/ 621792 w 1245412"/>
              <a:gd name="connsiteY2" fmla="*/ 402336 h 1243584"/>
              <a:gd name="connsiteX3" fmla="*/ 841248 w 1245412"/>
              <a:gd name="connsiteY3" fmla="*/ 621792 h 1243584"/>
              <a:gd name="connsiteX4" fmla="*/ 621792 w 1245412"/>
              <a:gd name="connsiteY4" fmla="*/ 841248 h 1243584"/>
              <a:gd name="connsiteX5" fmla="*/ 1115568 w 1245412"/>
              <a:gd name="connsiteY5" fmla="*/ 484632 h 1243584"/>
              <a:gd name="connsiteX6" fmla="*/ 1068019 w 1245412"/>
              <a:gd name="connsiteY6" fmla="*/ 371246 h 1243584"/>
              <a:gd name="connsiteX7" fmla="*/ 1113739 w 1245412"/>
              <a:gd name="connsiteY7" fmla="*/ 234086 h 1243584"/>
              <a:gd name="connsiteX8" fmla="*/ 1009498 w 1245412"/>
              <a:gd name="connsiteY8" fmla="*/ 129845 h 1243584"/>
              <a:gd name="connsiteX9" fmla="*/ 872338 w 1245412"/>
              <a:gd name="connsiteY9" fmla="*/ 175565 h 1243584"/>
              <a:gd name="connsiteX10" fmla="*/ 757123 w 1245412"/>
              <a:gd name="connsiteY10" fmla="*/ 128016 h 1243584"/>
              <a:gd name="connsiteX11" fmla="*/ 694944 w 1245412"/>
              <a:gd name="connsiteY11" fmla="*/ 0 h 1243584"/>
              <a:gd name="connsiteX12" fmla="*/ 548640 w 1245412"/>
              <a:gd name="connsiteY12" fmla="*/ 0 h 1243584"/>
              <a:gd name="connsiteX13" fmla="*/ 484632 w 1245412"/>
              <a:gd name="connsiteY13" fmla="*/ 128016 h 1243584"/>
              <a:gd name="connsiteX14" fmla="*/ 371246 w 1245412"/>
              <a:gd name="connsiteY14" fmla="*/ 175565 h 1243584"/>
              <a:gd name="connsiteX15" fmla="*/ 234086 w 1245412"/>
              <a:gd name="connsiteY15" fmla="*/ 129845 h 1243584"/>
              <a:gd name="connsiteX16" fmla="*/ 129845 w 1245412"/>
              <a:gd name="connsiteY16" fmla="*/ 234086 h 1243584"/>
              <a:gd name="connsiteX17" fmla="*/ 175565 w 1245412"/>
              <a:gd name="connsiteY17" fmla="*/ 371246 h 1243584"/>
              <a:gd name="connsiteX18" fmla="*/ 128016 w 1245412"/>
              <a:gd name="connsiteY18" fmla="*/ 486461 h 1243584"/>
              <a:gd name="connsiteX19" fmla="*/ 0 w 1245412"/>
              <a:gd name="connsiteY19" fmla="*/ 548640 h 1243584"/>
              <a:gd name="connsiteX20" fmla="*/ 0 w 1245412"/>
              <a:gd name="connsiteY20" fmla="*/ 694944 h 1243584"/>
              <a:gd name="connsiteX21" fmla="*/ 128016 w 1245412"/>
              <a:gd name="connsiteY21" fmla="*/ 758952 h 1243584"/>
              <a:gd name="connsiteX22" fmla="*/ 175565 w 1245412"/>
              <a:gd name="connsiteY22" fmla="*/ 872338 h 1243584"/>
              <a:gd name="connsiteX23" fmla="*/ 129845 w 1245412"/>
              <a:gd name="connsiteY23" fmla="*/ 1009498 h 1243584"/>
              <a:gd name="connsiteX24" fmla="*/ 234086 w 1245412"/>
              <a:gd name="connsiteY24" fmla="*/ 1113739 h 1243584"/>
              <a:gd name="connsiteX25" fmla="*/ 371246 w 1245412"/>
              <a:gd name="connsiteY25" fmla="*/ 1068019 h 1243584"/>
              <a:gd name="connsiteX26" fmla="*/ 486461 w 1245412"/>
              <a:gd name="connsiteY26" fmla="*/ 1115568 h 1243584"/>
              <a:gd name="connsiteX27" fmla="*/ 550469 w 1245412"/>
              <a:gd name="connsiteY27" fmla="*/ 1243584 h 1243584"/>
              <a:gd name="connsiteX28" fmla="*/ 696773 w 1245412"/>
              <a:gd name="connsiteY28" fmla="*/ 1243584 h 1243584"/>
              <a:gd name="connsiteX29" fmla="*/ 760781 w 1245412"/>
              <a:gd name="connsiteY29" fmla="*/ 1115568 h 1243584"/>
              <a:gd name="connsiteX30" fmla="*/ 874166 w 1245412"/>
              <a:gd name="connsiteY30" fmla="*/ 1068019 h 1243584"/>
              <a:gd name="connsiteX31" fmla="*/ 1011326 w 1245412"/>
              <a:gd name="connsiteY31" fmla="*/ 1113739 h 1243584"/>
              <a:gd name="connsiteX32" fmla="*/ 1115568 w 1245412"/>
              <a:gd name="connsiteY32" fmla="*/ 1009498 h 1243584"/>
              <a:gd name="connsiteX33" fmla="*/ 1069848 w 1245412"/>
              <a:gd name="connsiteY33" fmla="*/ 872338 h 1243584"/>
              <a:gd name="connsiteX34" fmla="*/ 1117397 w 1245412"/>
              <a:gd name="connsiteY34" fmla="*/ 757123 h 1243584"/>
              <a:gd name="connsiteX35" fmla="*/ 1245413 w 1245412"/>
              <a:gd name="connsiteY35" fmla="*/ 693115 h 1243584"/>
              <a:gd name="connsiteX36" fmla="*/ 1245413 w 1245412"/>
              <a:gd name="connsiteY36" fmla="*/ 546811 h 1243584"/>
              <a:gd name="connsiteX37" fmla="*/ 1115568 w 1245412"/>
              <a:gd name="connsiteY37" fmla="*/ 484632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45412" h="1243584">
                <a:moveTo>
                  <a:pt x="621792" y="841248"/>
                </a:moveTo>
                <a:cubicBezTo>
                  <a:pt x="501091" y="841248"/>
                  <a:pt x="402336" y="742493"/>
                  <a:pt x="402336" y="621792"/>
                </a:cubicBezTo>
                <a:cubicBezTo>
                  <a:pt x="402336" y="501091"/>
                  <a:pt x="501091" y="402336"/>
                  <a:pt x="621792" y="402336"/>
                </a:cubicBezTo>
                <a:cubicBezTo>
                  <a:pt x="742493" y="402336"/>
                  <a:pt x="841248" y="501091"/>
                  <a:pt x="841248" y="621792"/>
                </a:cubicBezTo>
                <a:cubicBezTo>
                  <a:pt x="841248" y="742493"/>
                  <a:pt x="742493" y="841248"/>
                  <a:pt x="621792" y="841248"/>
                </a:cubicBezTo>
                <a:close/>
                <a:moveTo>
                  <a:pt x="1115568" y="484632"/>
                </a:moveTo>
                <a:cubicBezTo>
                  <a:pt x="1104595" y="444398"/>
                  <a:pt x="1088136" y="405994"/>
                  <a:pt x="1068019" y="371246"/>
                </a:cubicBezTo>
                <a:lnTo>
                  <a:pt x="1113739" y="234086"/>
                </a:lnTo>
                <a:lnTo>
                  <a:pt x="1009498" y="129845"/>
                </a:lnTo>
                <a:lnTo>
                  <a:pt x="872338" y="175565"/>
                </a:lnTo>
                <a:cubicBezTo>
                  <a:pt x="835762" y="155448"/>
                  <a:pt x="797357" y="138989"/>
                  <a:pt x="757123" y="128016"/>
                </a:cubicBezTo>
                <a:lnTo>
                  <a:pt x="694944" y="0"/>
                </a:lnTo>
                <a:lnTo>
                  <a:pt x="548640" y="0"/>
                </a:lnTo>
                <a:lnTo>
                  <a:pt x="484632" y="128016"/>
                </a:lnTo>
                <a:cubicBezTo>
                  <a:pt x="444398" y="138989"/>
                  <a:pt x="405994" y="155448"/>
                  <a:pt x="371246" y="175565"/>
                </a:cubicBezTo>
                <a:lnTo>
                  <a:pt x="234086" y="129845"/>
                </a:lnTo>
                <a:lnTo>
                  <a:pt x="129845" y="234086"/>
                </a:lnTo>
                <a:lnTo>
                  <a:pt x="175565" y="371246"/>
                </a:lnTo>
                <a:cubicBezTo>
                  <a:pt x="155448" y="407822"/>
                  <a:pt x="138989" y="446227"/>
                  <a:pt x="128016" y="486461"/>
                </a:cubicBezTo>
                <a:lnTo>
                  <a:pt x="0" y="548640"/>
                </a:lnTo>
                <a:lnTo>
                  <a:pt x="0" y="694944"/>
                </a:lnTo>
                <a:lnTo>
                  <a:pt x="128016" y="758952"/>
                </a:lnTo>
                <a:cubicBezTo>
                  <a:pt x="138989" y="799186"/>
                  <a:pt x="155448" y="837590"/>
                  <a:pt x="175565" y="872338"/>
                </a:cubicBezTo>
                <a:lnTo>
                  <a:pt x="129845" y="1009498"/>
                </a:lnTo>
                <a:lnTo>
                  <a:pt x="234086" y="1113739"/>
                </a:lnTo>
                <a:lnTo>
                  <a:pt x="371246" y="1068019"/>
                </a:lnTo>
                <a:cubicBezTo>
                  <a:pt x="407822" y="1088136"/>
                  <a:pt x="446227" y="1104595"/>
                  <a:pt x="486461" y="1115568"/>
                </a:cubicBezTo>
                <a:lnTo>
                  <a:pt x="550469" y="1243584"/>
                </a:lnTo>
                <a:lnTo>
                  <a:pt x="696773" y="1243584"/>
                </a:lnTo>
                <a:lnTo>
                  <a:pt x="760781" y="1115568"/>
                </a:lnTo>
                <a:cubicBezTo>
                  <a:pt x="801014" y="1104595"/>
                  <a:pt x="839419" y="1088136"/>
                  <a:pt x="874166" y="1068019"/>
                </a:cubicBezTo>
                <a:lnTo>
                  <a:pt x="1011326" y="1113739"/>
                </a:lnTo>
                <a:lnTo>
                  <a:pt x="1115568" y="1009498"/>
                </a:lnTo>
                <a:lnTo>
                  <a:pt x="1069848" y="872338"/>
                </a:lnTo>
                <a:cubicBezTo>
                  <a:pt x="1089965" y="835762"/>
                  <a:pt x="1106424" y="797357"/>
                  <a:pt x="1117397" y="757123"/>
                </a:cubicBezTo>
                <a:lnTo>
                  <a:pt x="1245413" y="693115"/>
                </a:lnTo>
                <a:lnTo>
                  <a:pt x="1245413" y="546811"/>
                </a:lnTo>
                <a:lnTo>
                  <a:pt x="1115568" y="484632"/>
                </a:lnTo>
                <a:close/>
              </a:path>
            </a:pathLst>
          </a:custGeom>
          <a:gradFill flip="none" rotWithShape="1">
            <a:gsLst>
              <a:gs pos="8000">
                <a:schemeClr val="accent5">
                  <a:lumMod val="60000"/>
                  <a:lumOff val="40000"/>
                </a:schemeClr>
              </a:gs>
              <a:gs pos="97000">
                <a:schemeClr val="accent5">
                  <a:lumMod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 w="18256" cap="flat">
            <a:noFill/>
            <a:prstDash val="solid"/>
            <a:miter/>
          </a:ln>
          <a:effectLst>
            <a:glow rad="38100">
              <a:schemeClr val="accent1">
                <a:alpha val="40000"/>
              </a:schemeClr>
            </a:glow>
            <a:innerShdw blurRad="469900">
              <a:schemeClr val="accent5">
                <a:lumMod val="50000"/>
              </a:schemeClr>
            </a:innerShdw>
          </a:effectLst>
        </p:spPr>
        <p:txBody>
          <a:bodyPr rtlCol="0" anchor="ctr"/>
          <a:lstStyle/>
          <a:p>
            <a:endParaRPr lang="en-US" dirty="0">
              <a:latin typeface="Avenir Next LT Pro Demi" panose="020B0704020202020204" pitchFamily="34" charset="0"/>
            </a:endParaRPr>
          </a:p>
        </p:txBody>
      </p:sp>
      <p:sp>
        <p:nvSpPr>
          <p:cNvPr id="21" name="Graphic 11" descr="Single gear with solid fill">
            <a:extLst>
              <a:ext uri="{FF2B5EF4-FFF2-40B4-BE49-F238E27FC236}">
                <a16:creationId xmlns:a16="http://schemas.microsoft.com/office/drawing/2014/main" id="{15C63413-1542-D862-8354-4502F425C9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6355" y="760050"/>
            <a:ext cx="1755648" cy="1755648"/>
          </a:xfrm>
          <a:custGeom>
            <a:avLst/>
            <a:gdLst>
              <a:gd name="connsiteX0" fmla="*/ 621792 w 1245412"/>
              <a:gd name="connsiteY0" fmla="*/ 841248 h 1243584"/>
              <a:gd name="connsiteX1" fmla="*/ 402336 w 1245412"/>
              <a:gd name="connsiteY1" fmla="*/ 621792 h 1243584"/>
              <a:gd name="connsiteX2" fmla="*/ 621792 w 1245412"/>
              <a:gd name="connsiteY2" fmla="*/ 402336 h 1243584"/>
              <a:gd name="connsiteX3" fmla="*/ 841248 w 1245412"/>
              <a:gd name="connsiteY3" fmla="*/ 621792 h 1243584"/>
              <a:gd name="connsiteX4" fmla="*/ 621792 w 1245412"/>
              <a:gd name="connsiteY4" fmla="*/ 841248 h 1243584"/>
              <a:gd name="connsiteX5" fmla="*/ 1115568 w 1245412"/>
              <a:gd name="connsiteY5" fmla="*/ 484632 h 1243584"/>
              <a:gd name="connsiteX6" fmla="*/ 1068019 w 1245412"/>
              <a:gd name="connsiteY6" fmla="*/ 371246 h 1243584"/>
              <a:gd name="connsiteX7" fmla="*/ 1113739 w 1245412"/>
              <a:gd name="connsiteY7" fmla="*/ 234086 h 1243584"/>
              <a:gd name="connsiteX8" fmla="*/ 1009498 w 1245412"/>
              <a:gd name="connsiteY8" fmla="*/ 129845 h 1243584"/>
              <a:gd name="connsiteX9" fmla="*/ 872338 w 1245412"/>
              <a:gd name="connsiteY9" fmla="*/ 175565 h 1243584"/>
              <a:gd name="connsiteX10" fmla="*/ 757123 w 1245412"/>
              <a:gd name="connsiteY10" fmla="*/ 128016 h 1243584"/>
              <a:gd name="connsiteX11" fmla="*/ 694944 w 1245412"/>
              <a:gd name="connsiteY11" fmla="*/ 0 h 1243584"/>
              <a:gd name="connsiteX12" fmla="*/ 548640 w 1245412"/>
              <a:gd name="connsiteY12" fmla="*/ 0 h 1243584"/>
              <a:gd name="connsiteX13" fmla="*/ 484632 w 1245412"/>
              <a:gd name="connsiteY13" fmla="*/ 128016 h 1243584"/>
              <a:gd name="connsiteX14" fmla="*/ 371246 w 1245412"/>
              <a:gd name="connsiteY14" fmla="*/ 175565 h 1243584"/>
              <a:gd name="connsiteX15" fmla="*/ 234086 w 1245412"/>
              <a:gd name="connsiteY15" fmla="*/ 129845 h 1243584"/>
              <a:gd name="connsiteX16" fmla="*/ 129845 w 1245412"/>
              <a:gd name="connsiteY16" fmla="*/ 234086 h 1243584"/>
              <a:gd name="connsiteX17" fmla="*/ 175565 w 1245412"/>
              <a:gd name="connsiteY17" fmla="*/ 371246 h 1243584"/>
              <a:gd name="connsiteX18" fmla="*/ 128016 w 1245412"/>
              <a:gd name="connsiteY18" fmla="*/ 486461 h 1243584"/>
              <a:gd name="connsiteX19" fmla="*/ 0 w 1245412"/>
              <a:gd name="connsiteY19" fmla="*/ 548640 h 1243584"/>
              <a:gd name="connsiteX20" fmla="*/ 0 w 1245412"/>
              <a:gd name="connsiteY20" fmla="*/ 694944 h 1243584"/>
              <a:gd name="connsiteX21" fmla="*/ 128016 w 1245412"/>
              <a:gd name="connsiteY21" fmla="*/ 758952 h 1243584"/>
              <a:gd name="connsiteX22" fmla="*/ 175565 w 1245412"/>
              <a:gd name="connsiteY22" fmla="*/ 872338 h 1243584"/>
              <a:gd name="connsiteX23" fmla="*/ 129845 w 1245412"/>
              <a:gd name="connsiteY23" fmla="*/ 1009498 h 1243584"/>
              <a:gd name="connsiteX24" fmla="*/ 234086 w 1245412"/>
              <a:gd name="connsiteY24" fmla="*/ 1113739 h 1243584"/>
              <a:gd name="connsiteX25" fmla="*/ 371246 w 1245412"/>
              <a:gd name="connsiteY25" fmla="*/ 1068019 h 1243584"/>
              <a:gd name="connsiteX26" fmla="*/ 486461 w 1245412"/>
              <a:gd name="connsiteY26" fmla="*/ 1115568 h 1243584"/>
              <a:gd name="connsiteX27" fmla="*/ 550469 w 1245412"/>
              <a:gd name="connsiteY27" fmla="*/ 1243584 h 1243584"/>
              <a:gd name="connsiteX28" fmla="*/ 696773 w 1245412"/>
              <a:gd name="connsiteY28" fmla="*/ 1243584 h 1243584"/>
              <a:gd name="connsiteX29" fmla="*/ 760781 w 1245412"/>
              <a:gd name="connsiteY29" fmla="*/ 1115568 h 1243584"/>
              <a:gd name="connsiteX30" fmla="*/ 874166 w 1245412"/>
              <a:gd name="connsiteY30" fmla="*/ 1068019 h 1243584"/>
              <a:gd name="connsiteX31" fmla="*/ 1011326 w 1245412"/>
              <a:gd name="connsiteY31" fmla="*/ 1113739 h 1243584"/>
              <a:gd name="connsiteX32" fmla="*/ 1115568 w 1245412"/>
              <a:gd name="connsiteY32" fmla="*/ 1009498 h 1243584"/>
              <a:gd name="connsiteX33" fmla="*/ 1069848 w 1245412"/>
              <a:gd name="connsiteY33" fmla="*/ 872338 h 1243584"/>
              <a:gd name="connsiteX34" fmla="*/ 1117397 w 1245412"/>
              <a:gd name="connsiteY34" fmla="*/ 757123 h 1243584"/>
              <a:gd name="connsiteX35" fmla="*/ 1245413 w 1245412"/>
              <a:gd name="connsiteY35" fmla="*/ 693115 h 1243584"/>
              <a:gd name="connsiteX36" fmla="*/ 1245413 w 1245412"/>
              <a:gd name="connsiteY36" fmla="*/ 546811 h 1243584"/>
              <a:gd name="connsiteX37" fmla="*/ 1115568 w 1245412"/>
              <a:gd name="connsiteY37" fmla="*/ 484632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45412" h="1243584">
                <a:moveTo>
                  <a:pt x="621792" y="841248"/>
                </a:moveTo>
                <a:cubicBezTo>
                  <a:pt x="501091" y="841248"/>
                  <a:pt x="402336" y="742493"/>
                  <a:pt x="402336" y="621792"/>
                </a:cubicBezTo>
                <a:cubicBezTo>
                  <a:pt x="402336" y="501091"/>
                  <a:pt x="501091" y="402336"/>
                  <a:pt x="621792" y="402336"/>
                </a:cubicBezTo>
                <a:cubicBezTo>
                  <a:pt x="742493" y="402336"/>
                  <a:pt x="841248" y="501091"/>
                  <a:pt x="841248" y="621792"/>
                </a:cubicBezTo>
                <a:cubicBezTo>
                  <a:pt x="841248" y="742493"/>
                  <a:pt x="742493" y="841248"/>
                  <a:pt x="621792" y="841248"/>
                </a:cubicBezTo>
                <a:close/>
                <a:moveTo>
                  <a:pt x="1115568" y="484632"/>
                </a:moveTo>
                <a:cubicBezTo>
                  <a:pt x="1104595" y="444398"/>
                  <a:pt x="1088136" y="405994"/>
                  <a:pt x="1068019" y="371246"/>
                </a:cubicBezTo>
                <a:lnTo>
                  <a:pt x="1113739" y="234086"/>
                </a:lnTo>
                <a:lnTo>
                  <a:pt x="1009498" y="129845"/>
                </a:lnTo>
                <a:lnTo>
                  <a:pt x="872338" y="175565"/>
                </a:lnTo>
                <a:cubicBezTo>
                  <a:pt x="835762" y="155448"/>
                  <a:pt x="797357" y="138989"/>
                  <a:pt x="757123" y="128016"/>
                </a:cubicBezTo>
                <a:lnTo>
                  <a:pt x="694944" y="0"/>
                </a:lnTo>
                <a:lnTo>
                  <a:pt x="548640" y="0"/>
                </a:lnTo>
                <a:lnTo>
                  <a:pt x="484632" y="128016"/>
                </a:lnTo>
                <a:cubicBezTo>
                  <a:pt x="444398" y="138989"/>
                  <a:pt x="405994" y="155448"/>
                  <a:pt x="371246" y="175565"/>
                </a:cubicBezTo>
                <a:lnTo>
                  <a:pt x="234086" y="129845"/>
                </a:lnTo>
                <a:lnTo>
                  <a:pt x="129845" y="234086"/>
                </a:lnTo>
                <a:lnTo>
                  <a:pt x="175565" y="371246"/>
                </a:lnTo>
                <a:cubicBezTo>
                  <a:pt x="155448" y="407822"/>
                  <a:pt x="138989" y="446227"/>
                  <a:pt x="128016" y="486461"/>
                </a:cubicBezTo>
                <a:lnTo>
                  <a:pt x="0" y="548640"/>
                </a:lnTo>
                <a:lnTo>
                  <a:pt x="0" y="694944"/>
                </a:lnTo>
                <a:lnTo>
                  <a:pt x="128016" y="758952"/>
                </a:lnTo>
                <a:cubicBezTo>
                  <a:pt x="138989" y="799186"/>
                  <a:pt x="155448" y="837590"/>
                  <a:pt x="175565" y="872338"/>
                </a:cubicBezTo>
                <a:lnTo>
                  <a:pt x="129845" y="1009498"/>
                </a:lnTo>
                <a:lnTo>
                  <a:pt x="234086" y="1113739"/>
                </a:lnTo>
                <a:lnTo>
                  <a:pt x="371246" y="1068019"/>
                </a:lnTo>
                <a:cubicBezTo>
                  <a:pt x="407822" y="1088136"/>
                  <a:pt x="446227" y="1104595"/>
                  <a:pt x="486461" y="1115568"/>
                </a:cubicBezTo>
                <a:lnTo>
                  <a:pt x="550469" y="1243584"/>
                </a:lnTo>
                <a:lnTo>
                  <a:pt x="696773" y="1243584"/>
                </a:lnTo>
                <a:lnTo>
                  <a:pt x="760781" y="1115568"/>
                </a:lnTo>
                <a:cubicBezTo>
                  <a:pt x="801014" y="1104595"/>
                  <a:pt x="839419" y="1088136"/>
                  <a:pt x="874166" y="1068019"/>
                </a:cubicBezTo>
                <a:lnTo>
                  <a:pt x="1011326" y="1113739"/>
                </a:lnTo>
                <a:lnTo>
                  <a:pt x="1115568" y="1009498"/>
                </a:lnTo>
                <a:lnTo>
                  <a:pt x="1069848" y="872338"/>
                </a:lnTo>
                <a:cubicBezTo>
                  <a:pt x="1089965" y="835762"/>
                  <a:pt x="1106424" y="797357"/>
                  <a:pt x="1117397" y="757123"/>
                </a:cubicBezTo>
                <a:lnTo>
                  <a:pt x="1245413" y="693115"/>
                </a:lnTo>
                <a:lnTo>
                  <a:pt x="1245413" y="546811"/>
                </a:lnTo>
                <a:lnTo>
                  <a:pt x="1115568" y="484632"/>
                </a:lnTo>
                <a:close/>
              </a:path>
            </a:pathLst>
          </a:custGeom>
          <a:gradFill flip="none" rotWithShape="1">
            <a:gsLst>
              <a:gs pos="8000">
                <a:schemeClr val="accent5">
                  <a:lumMod val="60000"/>
                  <a:lumOff val="40000"/>
                </a:schemeClr>
              </a:gs>
              <a:gs pos="97000">
                <a:schemeClr val="accent5">
                  <a:lumMod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 w="18256" cap="flat">
            <a:noFill/>
            <a:prstDash val="solid"/>
            <a:miter/>
          </a:ln>
          <a:effectLst>
            <a:glow rad="38100">
              <a:schemeClr val="accent1">
                <a:alpha val="40000"/>
              </a:schemeClr>
            </a:glow>
            <a:innerShdw blurRad="469900">
              <a:schemeClr val="accent5">
                <a:lumMod val="50000"/>
              </a:schemeClr>
            </a:innerShdw>
          </a:effectLst>
        </p:spPr>
        <p:txBody>
          <a:bodyPr rtlCol="0" anchor="ctr"/>
          <a:lstStyle/>
          <a:p>
            <a:endParaRPr lang="en-US" dirty="0">
              <a:latin typeface="Avenir Next LT Pro Demi" panose="020B0704020202020204" pitchFamily="34" charset="0"/>
            </a:endParaRP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FC457A69-193A-0065-9FBB-9335AAE053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10629" y="1174324"/>
            <a:ext cx="927100" cy="927100"/>
          </a:xfrm>
          <a:prstGeom prst="donut">
            <a:avLst>
              <a:gd name="adj" fmla="val 137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5ACD5B30-9F09-340B-6031-3D6CCD01A8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47120" y="2965450"/>
            <a:ext cx="927100" cy="927100"/>
          </a:xfrm>
          <a:prstGeom prst="donut">
            <a:avLst>
              <a:gd name="adj" fmla="val 137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D2AFC517-C355-18CC-367E-468A0E476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10629" y="4787025"/>
            <a:ext cx="927100" cy="927100"/>
          </a:xfrm>
          <a:prstGeom prst="donut">
            <a:avLst>
              <a:gd name="adj" fmla="val 137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E24F9F-78FB-FC33-11D5-E9A564627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579" y="1350423"/>
            <a:ext cx="583200" cy="574903"/>
          </a:xfrm>
          <a:prstGeom prst="rect">
            <a:avLst/>
          </a:prstGeom>
        </p:spPr>
      </p:pic>
      <p:pic>
        <p:nvPicPr>
          <p:cNvPr id="4" name="Graphic 3" descr="Marker with solid fill">
            <a:extLst>
              <a:ext uri="{FF2B5EF4-FFF2-40B4-BE49-F238E27FC236}">
                <a16:creationId xmlns:a16="http://schemas.microsoft.com/office/drawing/2014/main" id="{50A048AD-E858-923B-5377-B0EE7E5397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9070" y="3137400"/>
            <a:ext cx="583200" cy="583200"/>
          </a:xfrm>
          <a:prstGeom prst="rect">
            <a:avLst/>
          </a:prstGeom>
        </p:spPr>
      </p:pic>
      <p:pic>
        <p:nvPicPr>
          <p:cNvPr id="5" name="Graphic 4" descr="Bar graph with upward trend with solid fill">
            <a:extLst>
              <a:ext uri="{FF2B5EF4-FFF2-40B4-BE49-F238E27FC236}">
                <a16:creationId xmlns:a16="http://schemas.microsoft.com/office/drawing/2014/main" id="{11A1F6F3-62D6-B5AF-3D61-D31A1D0917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2579" y="4958975"/>
            <a:ext cx="583200" cy="583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86EAD3-AAC8-937D-20C9-00828E51E0E1}"/>
              </a:ext>
            </a:extLst>
          </p:cNvPr>
          <p:cNvSpPr txBox="1">
            <a:spLocks/>
          </p:cNvSpPr>
          <p:nvPr/>
        </p:nvSpPr>
        <p:spPr>
          <a:xfrm>
            <a:off x="8158715" y="512604"/>
            <a:ext cx="41679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Research 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Question Selection</a:t>
            </a:r>
            <a:r>
              <a:rPr lang="en-IN" sz="28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 </a:t>
            </a:r>
          </a:p>
          <a:p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From six research directions, three were selected to construct one connected election narrative.</a:t>
            </a:r>
            <a:endParaRPr lang="en-US" sz="1600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2D31E9C-1952-1D28-377A-4E689E1335B0}"/>
              </a:ext>
            </a:extLst>
          </p:cNvPr>
          <p:cNvGrpSpPr/>
          <p:nvPr/>
        </p:nvGrpSpPr>
        <p:grpSpPr>
          <a:xfrm>
            <a:off x="8430319" y="2173424"/>
            <a:ext cx="3616389" cy="2777824"/>
            <a:chOff x="8395132" y="2159024"/>
            <a:chExt cx="3616389" cy="277782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C55B03A-B0E0-5583-C1C1-F17DADD4C65B}"/>
                </a:ext>
              </a:extLst>
            </p:cNvPr>
            <p:cNvSpPr txBox="1">
              <a:spLocks/>
            </p:cNvSpPr>
            <p:nvPr/>
          </p:nvSpPr>
          <p:spPr>
            <a:xfrm>
              <a:off x="8811121" y="2166859"/>
              <a:ext cx="3200400" cy="2769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Why this Framework?</a:t>
              </a:r>
            </a:p>
            <a:p>
              <a:pPr algn="ctr"/>
              <a:r>
                <a:rPr lang="en-IN" sz="16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 </a:t>
              </a:r>
            </a:p>
            <a:p>
              <a:r>
                <a:rPr lang="en-US" sz="1600" dirty="0">
                  <a:solidFill>
                    <a:schemeClr val="accent5"/>
                  </a:solidFill>
                  <a:latin typeface="Avenir Next LT Pro Demi" panose="020B0704020202020204" pitchFamily="34" charset="0"/>
                </a:rPr>
                <a:t>These questions examine the election through:</a:t>
              </a:r>
            </a:p>
            <a:p>
              <a:endParaRPr lang="en-US" sz="1600" dirty="0">
                <a:solidFill>
                  <a:schemeClr val="accent5"/>
                </a:solidFill>
                <a:latin typeface="Avenir Next LT Pro Demi" panose="020B07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Scale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Distribution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Intensity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  <a:p>
              <a:r>
                <a:rPr lang="en-US" sz="1600" dirty="0">
                  <a:solidFill>
                    <a:schemeClr val="accent5"/>
                  </a:solidFill>
                  <a:latin typeface="Avenir Next LT Pro Demi" panose="020B0704020202020204" pitchFamily="34" charset="0"/>
                </a:rPr>
                <a:t>No predictions.</a:t>
              </a:r>
            </a:p>
            <a:p>
              <a:r>
                <a:rPr lang="en-US" sz="1600" dirty="0">
                  <a:solidFill>
                    <a:schemeClr val="accent5"/>
                  </a:solidFill>
                  <a:latin typeface="Avenir Next LT Pro Demi" panose="020B0704020202020204" pitchFamily="34" charset="0"/>
                </a:rPr>
                <a:t>No explanations.</a:t>
              </a:r>
            </a:p>
            <a:p>
              <a:r>
                <a:rPr lang="en-US" sz="1600" dirty="0">
                  <a:solidFill>
                    <a:schemeClr val="accent5"/>
                  </a:solidFill>
                  <a:latin typeface="Avenir Next LT Pro Demi" panose="020B0704020202020204" pitchFamily="34" charset="0"/>
                </a:rPr>
                <a:t>Only measured outcomes.</a:t>
              </a:r>
              <a:endParaRPr lang="en-US" sz="2400" dirty="0">
                <a:solidFill>
                  <a:schemeClr val="accent5"/>
                </a:solidFill>
                <a:latin typeface="Avenir Next LT Pro Demi" panose="020B0704020202020204" pitchFamily="34" charset="0"/>
              </a:endParaRPr>
            </a:p>
          </p:txBody>
        </p:sp>
        <p:pic>
          <p:nvPicPr>
            <p:cNvPr id="13" name="Graphic 12" descr="Bullseye with solid fill">
              <a:extLst>
                <a:ext uri="{FF2B5EF4-FFF2-40B4-BE49-F238E27FC236}">
                  <a16:creationId xmlns:a16="http://schemas.microsoft.com/office/drawing/2014/main" id="{95C50C20-25A4-0FD7-ABD6-76A2238BD0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95132" y="2159024"/>
              <a:ext cx="449968" cy="449968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3683BF5-70AA-91A5-32DD-2880A1691348}"/>
              </a:ext>
            </a:extLst>
          </p:cNvPr>
          <p:cNvGrpSpPr/>
          <p:nvPr/>
        </p:nvGrpSpPr>
        <p:grpSpPr>
          <a:xfrm>
            <a:off x="724201" y="2709933"/>
            <a:ext cx="3614674" cy="1573210"/>
            <a:chOff x="724201" y="2709933"/>
            <a:chExt cx="3614674" cy="15732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B2A688B-1656-EBD8-D430-0B2ADBD8CB29}"/>
                </a:ext>
              </a:extLst>
            </p:cNvPr>
            <p:cNvSpPr txBox="1">
              <a:spLocks/>
            </p:cNvSpPr>
            <p:nvPr/>
          </p:nvSpPr>
          <p:spPr>
            <a:xfrm>
              <a:off x="724201" y="2709933"/>
              <a:ext cx="3614674" cy="1184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Q1 | Geographic Story</a:t>
              </a:r>
            </a:p>
            <a:p>
              <a:r>
                <a:rPr lang="en-IN" sz="9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 </a:t>
              </a:r>
            </a:p>
            <a:p>
              <a:r>
                <a:rPr lang="en-US" sz="1600" dirty="0">
                  <a:solidFill>
                    <a:schemeClr val="accent5"/>
                  </a:solidFill>
                  <a:latin typeface="Avenir Next LT Pro Demi" panose="020B0704020202020204" pitchFamily="34" charset="0"/>
                </a:rPr>
                <a:t>Analytical  Purpose</a:t>
              </a:r>
              <a:br>
                <a:rPr lang="en-US" sz="11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</a:br>
              <a:r>
                <a:rPr lang="en-US" sz="11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How did seat distribution shift across Tamil Nadu’s six regions between 2021 and 2026?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4AF886-A378-7916-FC11-E31A11A2AD4F}"/>
                </a:ext>
              </a:extLst>
            </p:cNvPr>
            <p:cNvSpPr txBox="1">
              <a:spLocks/>
            </p:cNvSpPr>
            <p:nvPr/>
          </p:nvSpPr>
          <p:spPr>
            <a:xfrm>
              <a:off x="724201" y="3852256"/>
              <a:ext cx="3200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Key Insight</a:t>
              </a:r>
            </a:p>
            <a:p>
              <a:r>
                <a:rPr lang="en-IN" sz="11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Regional Concentration</a:t>
              </a:r>
              <a:endParaRPr lang="en-US" sz="6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B1C7A70-BDDC-0224-3A16-B4ADB6E3BA85}"/>
              </a:ext>
            </a:extLst>
          </p:cNvPr>
          <p:cNvGrpSpPr/>
          <p:nvPr/>
        </p:nvGrpSpPr>
        <p:grpSpPr>
          <a:xfrm>
            <a:off x="751154" y="4642716"/>
            <a:ext cx="3200400" cy="1580920"/>
            <a:chOff x="751154" y="4642716"/>
            <a:chExt cx="3200400" cy="15809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C0C1473-26CF-5F7F-019D-371324430F71}"/>
                </a:ext>
              </a:extLst>
            </p:cNvPr>
            <p:cNvSpPr txBox="1">
              <a:spLocks/>
            </p:cNvSpPr>
            <p:nvPr/>
          </p:nvSpPr>
          <p:spPr>
            <a:xfrm>
              <a:off x="751154" y="4642716"/>
              <a:ext cx="3200400" cy="1184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Q6 | Margin story</a:t>
              </a:r>
            </a:p>
            <a:p>
              <a:r>
                <a:rPr lang="en-IN" sz="9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 </a:t>
              </a:r>
              <a:endParaRPr lang="en-IN" sz="9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Next LT Pro Demi" panose="020B0704020202020204" pitchFamily="34" charset="0"/>
              </a:endParaRPr>
            </a:p>
            <a:p>
              <a:r>
                <a:rPr lang="en-US" sz="1600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Avenir Next LT Pro Demi" panose="020B0704020202020204" pitchFamily="34" charset="0"/>
                </a:rPr>
                <a:t>Analytical  Purpose</a:t>
              </a:r>
              <a:br>
                <a:rPr lang="en-US" sz="11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</a:br>
              <a:r>
                <a:rPr lang="en-US" sz="11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Evaluate how decisive electoral outcomes became across seats.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6D7045-FBF7-CDF9-B752-FAE96383C8AE}"/>
                </a:ext>
              </a:extLst>
            </p:cNvPr>
            <p:cNvSpPr txBox="1">
              <a:spLocks/>
            </p:cNvSpPr>
            <p:nvPr/>
          </p:nvSpPr>
          <p:spPr>
            <a:xfrm>
              <a:off x="751154" y="5792749"/>
              <a:ext cx="3200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Key Insight</a:t>
              </a:r>
            </a:p>
            <a:p>
              <a:r>
                <a:rPr lang="en-IN" sz="11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Electoral Decisiveness</a:t>
              </a:r>
              <a:endParaRPr lang="en-US" sz="6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93D54A-487D-1859-2991-2D431373C002}"/>
              </a:ext>
            </a:extLst>
          </p:cNvPr>
          <p:cNvGrpSpPr/>
          <p:nvPr/>
        </p:nvGrpSpPr>
        <p:grpSpPr>
          <a:xfrm>
            <a:off x="698449" y="777150"/>
            <a:ext cx="3200400" cy="1570887"/>
            <a:chOff x="698449" y="777150"/>
            <a:chExt cx="3200400" cy="157088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C195783-C6B4-09D7-A08D-EDB32B47AA47}"/>
                </a:ext>
              </a:extLst>
            </p:cNvPr>
            <p:cNvSpPr txBox="1">
              <a:spLocks/>
            </p:cNvSpPr>
            <p:nvPr/>
          </p:nvSpPr>
          <p:spPr>
            <a:xfrm>
              <a:off x="698449" y="777150"/>
              <a:ext cx="3200400" cy="1184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Q2 | Flip Story</a:t>
              </a:r>
              <a:r>
                <a:rPr lang="en-IN" sz="9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 </a:t>
              </a:r>
            </a:p>
            <a:p>
              <a:endParaRPr lang="en-IN" sz="9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endParaRPr>
            </a:p>
            <a:p>
              <a:r>
                <a:rPr lang="en-US" sz="1600" dirty="0">
                  <a:solidFill>
                    <a:schemeClr val="accent5"/>
                  </a:solidFill>
                  <a:latin typeface="Avenir Next LT Pro Demi" panose="020B0704020202020204" pitchFamily="34" charset="0"/>
                </a:rPr>
                <a:t>Analytical  Purpose</a:t>
              </a:r>
              <a:br>
                <a:rPr lang="en-US" sz="11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</a:br>
              <a:r>
                <a:rPr lang="en-US" sz="11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Track constituency-level winner realignment between 2021 and 2026.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F4D490-464F-D218-D836-2FBA60BDD4D8}"/>
                </a:ext>
              </a:extLst>
            </p:cNvPr>
            <p:cNvSpPr txBox="1">
              <a:spLocks/>
            </p:cNvSpPr>
            <p:nvPr/>
          </p:nvSpPr>
          <p:spPr>
            <a:xfrm>
              <a:off x="698449" y="1917150"/>
              <a:ext cx="3200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Key Insight</a:t>
              </a:r>
            </a:p>
            <a:p>
              <a:r>
                <a:rPr lang="en-IN" sz="11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Constituency Realignment</a:t>
              </a:r>
              <a:endParaRPr lang="en-US" sz="6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1020998"/>
      </p:ext>
    </p:extLst>
  </p:cSld>
  <p:clrMapOvr>
    <a:masterClrMapping/>
  </p:clrMapOvr>
  <p:transition spd="slow">
    <p:wipe dir="r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8" presetClass="emph" presetSubtype="0" accel="11111" decel="55556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8" dur="4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9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30" dur="4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1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32" dur="4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2" fill="hold" grpId="0" nodeType="with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53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54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9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0" fill="hold">
                          <p:stCondLst>
                            <p:cond delay="indefinite"/>
                          </p:stCondLst>
                          <p:childTnLst>
                            <p:par>
                              <p:cTn id="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2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0" fill="hold">
                          <p:stCondLst>
                            <p:cond delay="indefinite"/>
                          </p:stCondLst>
                          <p:childTnLst>
                            <p:par>
                              <p:cTn id="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16" grpId="0" animBg="1"/>
          <p:bldP spid="18" grpId="0" animBg="1"/>
          <p:bldP spid="18" grpId="1" animBg="1"/>
          <p:bldP spid="19" grpId="0" animBg="1"/>
          <p:bldP spid="19" grpId="1" animBg="1"/>
          <p:bldP spid="21" grpId="0" animBg="1"/>
          <p:bldP spid="21" grpId="1" animBg="1"/>
          <p:bldP spid="22" grpId="0" animBg="1"/>
          <p:bldP spid="24" grpId="0" animBg="1"/>
          <p:bldP spid="25" grpId="0" animBg="1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8" presetClass="emph" presetSubtype="0" accel="11111" decel="55556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8" dur="4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9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30" dur="4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1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32" dur="4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9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0" fill="hold">
                          <p:stCondLst>
                            <p:cond delay="indefinite"/>
                          </p:stCondLst>
                          <p:childTnLst>
                            <p:par>
                              <p:cTn id="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2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0" fill="hold">
                          <p:stCondLst>
                            <p:cond delay="indefinite"/>
                          </p:stCondLst>
                          <p:childTnLst>
                            <p:par>
                              <p:cTn id="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5" fill="hold">
                          <p:stCondLst>
                            <p:cond delay="indefinite"/>
                          </p:stCondLst>
                          <p:childTnLst>
                            <p:par>
                              <p:cTn id="7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7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16" grpId="0" animBg="1"/>
          <p:bldP spid="18" grpId="0" animBg="1"/>
          <p:bldP spid="18" grpId="1" animBg="1"/>
          <p:bldP spid="19" grpId="0" animBg="1"/>
          <p:bldP spid="19" grpId="1" animBg="1"/>
          <p:bldP spid="21" grpId="0" animBg="1"/>
          <p:bldP spid="21" grpId="1" animBg="1"/>
          <p:bldP spid="22" grpId="0" animBg="1"/>
          <p:bldP spid="24" grpId="0" animBg="1"/>
          <p:bldP spid="25" grpId="0" animBg="1"/>
          <p:bldP spid="11" grpId="0"/>
          <p:bldP spid="15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/>
            </a:gs>
            <a:gs pos="48000">
              <a:schemeClr val="accent5">
                <a:lumMod val="60000"/>
                <a:lumOff val="40000"/>
              </a:schemeClr>
            </a:gs>
            <a:gs pos="100000">
              <a:srgbClr val="EEC1E9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3716BCFC-9FB5-3FD9-099A-5248B17D48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090AE0D-6BFC-2952-5E5A-1B7DCAF6CCA5}"/>
              </a:ext>
            </a:extLst>
          </p:cNvPr>
          <p:cNvSpPr/>
          <p:nvPr/>
        </p:nvSpPr>
        <p:spPr>
          <a:xfrm>
            <a:off x="271404" y="181048"/>
            <a:ext cx="2697584" cy="6120898"/>
          </a:xfrm>
          <a:prstGeom prst="roundRect">
            <a:avLst>
              <a:gd name="adj" fmla="val 2097"/>
            </a:avLst>
          </a:prstGeom>
          <a:gradFill>
            <a:gsLst>
              <a:gs pos="0">
                <a:schemeClr val="accent5">
                  <a:lumMod val="50000"/>
                  <a:alpha val="41000"/>
                </a:schemeClr>
              </a:gs>
              <a:gs pos="48000">
                <a:schemeClr val="accent5">
                  <a:lumMod val="75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18415D0-AFB2-E5AB-8BE4-EF7587FD0114}"/>
              </a:ext>
            </a:extLst>
          </p:cNvPr>
          <p:cNvSpPr/>
          <p:nvPr/>
        </p:nvSpPr>
        <p:spPr>
          <a:xfrm>
            <a:off x="9290757" y="417689"/>
            <a:ext cx="587022" cy="587022"/>
          </a:xfrm>
          <a:prstGeom prst="ellipse">
            <a:avLst/>
          </a:prstGeom>
          <a:solidFill>
            <a:srgbClr val="D75FD1"/>
          </a:solidFill>
          <a:ln>
            <a:solidFill>
              <a:srgbClr val="D55BCE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pic>
        <p:nvPicPr>
          <p:cNvPr id="78" name="Graphic 77" descr="Group of men with solid fill">
            <a:extLst>
              <a:ext uri="{FF2B5EF4-FFF2-40B4-BE49-F238E27FC236}">
                <a16:creationId xmlns:a16="http://schemas.microsoft.com/office/drawing/2014/main" id="{9BB22D22-735F-68B2-2053-CD392ACBBD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8490" y="462845"/>
            <a:ext cx="451555" cy="451555"/>
          </a:xfrm>
          <a:prstGeom prst="rect">
            <a:avLst/>
          </a:prstGeom>
        </p:spPr>
      </p:pic>
      <p:pic>
        <p:nvPicPr>
          <p:cNvPr id="80" name="Graphic 79" descr="Group of men with solid fill">
            <a:extLst>
              <a:ext uri="{FF2B5EF4-FFF2-40B4-BE49-F238E27FC236}">
                <a16:creationId xmlns:a16="http://schemas.microsoft.com/office/drawing/2014/main" id="{4C7FDEF7-97EC-266E-E1A0-58269A5F30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0757" y="3934179"/>
            <a:ext cx="451555" cy="451555"/>
          </a:xfrm>
          <a:prstGeom prst="rect">
            <a:avLst/>
          </a:prstGeom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A475270-27A3-5194-0C2C-5B53665EF2FC}"/>
              </a:ext>
            </a:extLst>
          </p:cNvPr>
          <p:cNvGrpSpPr/>
          <p:nvPr/>
        </p:nvGrpSpPr>
        <p:grpSpPr>
          <a:xfrm>
            <a:off x="287483" y="273534"/>
            <a:ext cx="2681505" cy="4196441"/>
            <a:chOff x="251987" y="288954"/>
            <a:chExt cx="2681505" cy="4196441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7D854DC-0EAF-4931-42A4-2859EF1398E1}"/>
                </a:ext>
              </a:extLst>
            </p:cNvPr>
            <p:cNvSpPr txBox="1"/>
            <p:nvPr/>
          </p:nvSpPr>
          <p:spPr>
            <a:xfrm>
              <a:off x="406400" y="288954"/>
              <a:ext cx="23706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Story 01</a:t>
              </a:r>
            </a:p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Constituency</a:t>
              </a:r>
            </a:p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Realignment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9028DB2-F07C-9C5F-BBE4-B32B79C4261E}"/>
                </a:ext>
              </a:extLst>
            </p:cNvPr>
            <p:cNvSpPr txBox="1"/>
            <p:nvPr/>
          </p:nvSpPr>
          <p:spPr>
            <a:xfrm>
              <a:off x="406400" y="1390388"/>
              <a:ext cx="23706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How extensively did electoral control shift?</a:t>
              </a:r>
              <a:endPara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9EC4562-8427-A6BA-BDAB-2665BCD13C63}"/>
                </a:ext>
              </a:extLst>
            </p:cNvPr>
            <p:cNvSpPr txBox="1"/>
            <p:nvPr/>
          </p:nvSpPr>
          <p:spPr>
            <a:xfrm>
              <a:off x="406400" y="2528753"/>
              <a:ext cx="23706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Tracking movement of winning formations between the 2021 and 2026 Assembly Elections across 234 constituencies.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37B00ED-2A2C-9F2E-4E81-C6F3E3D8F81D}"/>
                </a:ext>
              </a:extLst>
            </p:cNvPr>
            <p:cNvSpPr txBox="1"/>
            <p:nvPr/>
          </p:nvSpPr>
          <p:spPr>
            <a:xfrm>
              <a:off x="406400" y="3772987"/>
              <a:ext cx="6886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234</a:t>
              </a:r>
              <a:endParaRPr lang="en-IN" sz="20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BC540DA-7C60-EF24-BAA8-671887D2BC8F}"/>
                </a:ext>
              </a:extLst>
            </p:cNvPr>
            <p:cNvSpPr txBox="1"/>
            <p:nvPr/>
          </p:nvSpPr>
          <p:spPr>
            <a:xfrm>
              <a:off x="1247422" y="3772987"/>
              <a:ext cx="6886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163</a:t>
              </a:r>
              <a:endParaRPr lang="en-IN" sz="20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5E7E8D3-6E00-C45F-F7B6-631E4834357C}"/>
                </a:ext>
              </a:extLst>
            </p:cNvPr>
            <p:cNvSpPr txBox="1"/>
            <p:nvPr/>
          </p:nvSpPr>
          <p:spPr>
            <a:xfrm>
              <a:off x="2167663" y="3774074"/>
              <a:ext cx="6886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71</a:t>
              </a:r>
              <a:endParaRPr lang="en-IN" sz="20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CDBAAEC-DD8D-EF72-E389-05852C145690}"/>
                </a:ext>
              </a:extLst>
            </p:cNvPr>
            <p:cNvSpPr txBox="1"/>
            <p:nvPr/>
          </p:nvSpPr>
          <p:spPr>
            <a:xfrm>
              <a:off x="251987" y="4146841"/>
              <a:ext cx="9974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Total</a:t>
              </a:r>
            </a:p>
            <a:p>
              <a:pPr algn="ctr"/>
              <a:r>
                <a:rPr lang="en-US" sz="8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Constituencies</a:t>
              </a:r>
              <a:endParaRPr lang="en-IN" sz="8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BE5BE5E-4EDF-07A1-241E-DE97E95F68C7}"/>
                </a:ext>
              </a:extLst>
            </p:cNvPr>
            <p:cNvSpPr txBox="1"/>
            <p:nvPr/>
          </p:nvSpPr>
          <p:spPr>
            <a:xfrm>
              <a:off x="1936044" y="4107456"/>
              <a:ext cx="9974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Retained</a:t>
              </a:r>
            </a:p>
            <a:p>
              <a:pPr algn="ctr"/>
              <a:r>
                <a:rPr lang="en-US" sz="8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Seats</a:t>
              </a:r>
              <a:endParaRPr lang="en-IN" sz="8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4087BD9-B6D1-8B28-9312-126AA212AA07}"/>
                </a:ext>
              </a:extLst>
            </p:cNvPr>
            <p:cNvSpPr txBox="1"/>
            <p:nvPr/>
          </p:nvSpPr>
          <p:spPr>
            <a:xfrm>
              <a:off x="1094016" y="4107456"/>
              <a:ext cx="9974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Flipped</a:t>
              </a:r>
            </a:p>
            <a:p>
              <a:pPr algn="ctr"/>
              <a:r>
                <a:rPr lang="en-US" sz="8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Seats</a:t>
              </a:r>
              <a:endParaRPr lang="en-IN" sz="8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83A49D1-C406-CD4A-C7DC-471298800892}"/>
              </a:ext>
            </a:extLst>
          </p:cNvPr>
          <p:cNvGrpSpPr/>
          <p:nvPr/>
        </p:nvGrpSpPr>
        <p:grpSpPr>
          <a:xfrm>
            <a:off x="3216744" y="199461"/>
            <a:ext cx="2733463" cy="1117928"/>
            <a:chOff x="3216744" y="199461"/>
            <a:chExt cx="2733463" cy="1117928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9B568F80-07D9-E406-B607-DD01F08E25F8}"/>
                </a:ext>
              </a:extLst>
            </p:cNvPr>
            <p:cNvSpPr/>
            <p:nvPr/>
          </p:nvSpPr>
          <p:spPr>
            <a:xfrm>
              <a:off x="3216744" y="199461"/>
              <a:ext cx="2733463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rgbClr val="EEC1E9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02CBD02-3627-A922-51B2-D63E69E9201D}"/>
                </a:ext>
              </a:extLst>
            </p:cNvPr>
            <p:cNvGrpSpPr/>
            <p:nvPr/>
          </p:nvGrpSpPr>
          <p:grpSpPr>
            <a:xfrm>
              <a:off x="4068359" y="280795"/>
              <a:ext cx="1562441" cy="879138"/>
              <a:chOff x="4051582" y="266094"/>
              <a:chExt cx="1562441" cy="879138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EB776D0-9AA6-C61F-BC1F-2023B6980CC9}"/>
                  </a:ext>
                </a:extLst>
              </p:cNvPr>
              <p:cNvSpPr txBox="1"/>
              <p:nvPr/>
            </p:nvSpPr>
            <p:spPr>
              <a:xfrm>
                <a:off x="4051582" y="266094"/>
                <a:ext cx="12519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163</a:t>
                </a:r>
                <a:endParaRPr lang="en-IN" sz="28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A8B4DCA-C07D-4E07-70A6-B1BAE3ADF3F8}"/>
                  </a:ext>
                </a:extLst>
              </p:cNvPr>
              <p:cNvSpPr txBox="1"/>
              <p:nvPr/>
            </p:nvSpPr>
            <p:spPr>
              <a:xfrm>
                <a:off x="4100992" y="683567"/>
                <a:ext cx="15130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Flipped Seats</a:t>
                </a:r>
              </a:p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69.66%</a:t>
                </a:r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CFA7615-92C4-E13A-843B-B7AC7C04971A}"/>
              </a:ext>
            </a:extLst>
          </p:cNvPr>
          <p:cNvGrpSpPr/>
          <p:nvPr/>
        </p:nvGrpSpPr>
        <p:grpSpPr>
          <a:xfrm>
            <a:off x="6092761" y="185470"/>
            <a:ext cx="5708713" cy="1131919"/>
            <a:chOff x="6092761" y="185470"/>
            <a:chExt cx="5708713" cy="1131919"/>
          </a:xfrm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6D045AEA-0CAC-3136-97DB-70CB36F8E2E4}"/>
                </a:ext>
              </a:extLst>
            </p:cNvPr>
            <p:cNvSpPr/>
            <p:nvPr/>
          </p:nvSpPr>
          <p:spPr>
            <a:xfrm>
              <a:off x="6092761" y="199461"/>
              <a:ext cx="2755964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rgbClr val="EEC1E9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venir Next LT Pro Demi" panose="020B0704020202020204" pitchFamily="34" charset="0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7A86EFD2-9432-2C32-E725-99CEE8BACF55}"/>
                </a:ext>
              </a:extLst>
            </p:cNvPr>
            <p:cNvSpPr/>
            <p:nvPr/>
          </p:nvSpPr>
          <p:spPr>
            <a:xfrm>
              <a:off x="8989515" y="185470"/>
              <a:ext cx="281195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rgbClr val="EEC1E9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B2EF6B8-D9F9-118A-93B1-980145B22138}"/>
                </a:ext>
              </a:extLst>
            </p:cNvPr>
            <p:cNvGrpSpPr/>
            <p:nvPr/>
          </p:nvGrpSpPr>
          <p:grpSpPr>
            <a:xfrm>
              <a:off x="6911569" y="256315"/>
              <a:ext cx="4736385" cy="1032882"/>
              <a:chOff x="6979775" y="266094"/>
              <a:chExt cx="4736385" cy="1032882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9CB9421-EF82-926D-BD30-6990193D12BE}"/>
                  </a:ext>
                </a:extLst>
              </p:cNvPr>
              <p:cNvSpPr txBox="1"/>
              <p:nvPr/>
            </p:nvSpPr>
            <p:spPr>
              <a:xfrm>
                <a:off x="6979775" y="266094"/>
                <a:ext cx="6886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71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4EBEBF0-D40B-7B99-A374-057F294E617C}"/>
                  </a:ext>
                </a:extLst>
              </p:cNvPr>
              <p:cNvSpPr txBox="1"/>
              <p:nvPr/>
            </p:nvSpPr>
            <p:spPr>
              <a:xfrm>
                <a:off x="6987344" y="711200"/>
                <a:ext cx="15130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Retained</a:t>
                </a:r>
                <a:r>
                  <a:rPr lang="en-US" sz="80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Seats</a:t>
                </a:r>
              </a:p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30.34%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D684117-8E17-AEEB-C20B-463CB36FC6A2}"/>
                  </a:ext>
                </a:extLst>
              </p:cNvPr>
              <p:cNvSpPr txBox="1"/>
              <p:nvPr/>
            </p:nvSpPr>
            <p:spPr>
              <a:xfrm>
                <a:off x="9938489" y="266094"/>
                <a:ext cx="13582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234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67425B7-E050-85C2-3E9A-757B44010C44}"/>
                  </a:ext>
                </a:extLst>
              </p:cNvPr>
              <p:cNvSpPr txBox="1"/>
              <p:nvPr/>
            </p:nvSpPr>
            <p:spPr>
              <a:xfrm>
                <a:off x="9987053" y="652645"/>
                <a:ext cx="17291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Total</a:t>
                </a:r>
              </a:p>
              <a:p>
                <a:r>
                  <a:rPr lang="en-US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Constituencies </a:t>
                </a:r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In tamil </a:t>
                </a:r>
                <a:r>
                  <a:rPr lang="en-IN" sz="1200" dirty="0" err="1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nadu</a:t>
                </a:r>
                <a:endParaRPr lang="en-IN" sz="1200" dirty="0">
                  <a:solidFill>
                    <a:schemeClr val="bg1"/>
                  </a:solidFill>
                  <a:latin typeface="Avenir Next LT Pro Demi" panose="020B0704020202020204" pitchFamily="34" charset="0"/>
                </a:endParaRPr>
              </a:p>
            </p:txBody>
          </p:sp>
        </p:grpSp>
      </p:grp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71892DF2-DD0F-E952-86FD-0CA97D97E925}"/>
              </a:ext>
            </a:extLst>
          </p:cNvPr>
          <p:cNvSpPr/>
          <p:nvPr/>
        </p:nvSpPr>
        <p:spPr>
          <a:xfrm>
            <a:off x="3216744" y="1398723"/>
            <a:ext cx="5631981" cy="3306627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F23B181-CE57-3423-F1F8-CBA023FAD22F}"/>
              </a:ext>
            </a:extLst>
          </p:cNvPr>
          <p:cNvSpPr txBox="1"/>
          <p:nvPr/>
        </p:nvSpPr>
        <p:spPr>
          <a:xfrm>
            <a:off x="4051582" y="1461913"/>
            <a:ext cx="3616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Winner Movement : 2021 → 2026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E8D130BC-AD14-9B78-7698-DB37531F8A65}"/>
              </a:ext>
            </a:extLst>
          </p:cNvPr>
          <p:cNvSpPr/>
          <p:nvPr/>
        </p:nvSpPr>
        <p:spPr>
          <a:xfrm>
            <a:off x="3232516" y="4806854"/>
            <a:ext cx="1872883" cy="1495092"/>
          </a:xfrm>
          <a:prstGeom prst="roundRect">
            <a:avLst>
              <a:gd name="adj" fmla="val 11077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CD8AFA5-AB5E-0E7A-F900-D7710811617D}"/>
              </a:ext>
            </a:extLst>
          </p:cNvPr>
          <p:cNvSpPr/>
          <p:nvPr/>
        </p:nvSpPr>
        <p:spPr>
          <a:xfrm>
            <a:off x="5213721" y="4806854"/>
            <a:ext cx="1796680" cy="1495092"/>
          </a:xfrm>
          <a:prstGeom prst="roundRect">
            <a:avLst>
              <a:gd name="adj" fmla="val 11077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2DE6CED0-E4BB-1B50-1F88-18589136E3B4}"/>
              </a:ext>
            </a:extLst>
          </p:cNvPr>
          <p:cNvSpPr/>
          <p:nvPr/>
        </p:nvSpPr>
        <p:spPr>
          <a:xfrm>
            <a:off x="7118723" y="4786684"/>
            <a:ext cx="1796680" cy="1495092"/>
          </a:xfrm>
          <a:prstGeom prst="roundRect">
            <a:avLst>
              <a:gd name="adj" fmla="val 11077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B6B6C885-55FA-C845-3144-96C8B6EF68B1}"/>
              </a:ext>
            </a:extLst>
          </p:cNvPr>
          <p:cNvSpPr/>
          <p:nvPr/>
        </p:nvSpPr>
        <p:spPr>
          <a:xfrm>
            <a:off x="9023724" y="4786684"/>
            <a:ext cx="2777749" cy="1495092"/>
          </a:xfrm>
          <a:prstGeom prst="roundRect">
            <a:avLst>
              <a:gd name="adj" fmla="val 11077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CD56B95D-49CE-13B0-ECB0-F6FB54B38879}"/>
              </a:ext>
            </a:extLst>
          </p:cNvPr>
          <p:cNvSpPr/>
          <p:nvPr/>
        </p:nvSpPr>
        <p:spPr>
          <a:xfrm>
            <a:off x="8989514" y="1398723"/>
            <a:ext cx="2811959" cy="3306627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941997EE-8C67-3355-2634-9A5A93452ABE}"/>
              </a:ext>
            </a:extLst>
          </p:cNvPr>
          <p:cNvSpPr/>
          <p:nvPr/>
        </p:nvSpPr>
        <p:spPr>
          <a:xfrm>
            <a:off x="9121140" y="6353983"/>
            <a:ext cx="2680333" cy="411070"/>
          </a:xfrm>
          <a:prstGeom prst="roundRect">
            <a:avLst>
              <a:gd name="adj" fmla="val 19502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C8B6F36E-5341-2305-79D1-1C9AAB6227EE}"/>
              </a:ext>
            </a:extLst>
          </p:cNvPr>
          <p:cNvSpPr/>
          <p:nvPr/>
        </p:nvSpPr>
        <p:spPr>
          <a:xfrm>
            <a:off x="271404" y="6353983"/>
            <a:ext cx="8718110" cy="411070"/>
          </a:xfrm>
          <a:prstGeom prst="roundRect">
            <a:avLst>
              <a:gd name="adj" fmla="val 19502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B8A1DC2-487C-DFEA-C37B-715773998060}"/>
              </a:ext>
            </a:extLst>
          </p:cNvPr>
          <p:cNvSpPr txBox="1"/>
          <p:nvPr/>
        </p:nvSpPr>
        <p:spPr>
          <a:xfrm>
            <a:off x="9152890" y="1482894"/>
            <a:ext cx="2616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Retained VS Flipped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60659C2-11DB-9839-AE1E-39FDF1ED9B0F}"/>
              </a:ext>
            </a:extLst>
          </p:cNvPr>
          <p:cNvSpPr txBox="1"/>
          <p:nvPr/>
        </p:nvSpPr>
        <p:spPr>
          <a:xfrm>
            <a:off x="10221411" y="2414932"/>
            <a:ext cx="26168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Flipped</a:t>
            </a:r>
          </a:p>
          <a:p>
            <a:pPr algn="ctr"/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163</a:t>
            </a:r>
          </a:p>
          <a:p>
            <a:pPr algn="ctr"/>
            <a:r>
              <a:rPr lang="en-IN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(69.66%)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64705DA-8A20-CFCC-F1F4-2860AD995B1E}"/>
              </a:ext>
            </a:extLst>
          </p:cNvPr>
          <p:cNvSpPr txBox="1"/>
          <p:nvPr/>
        </p:nvSpPr>
        <p:spPr>
          <a:xfrm>
            <a:off x="8569909" y="2396226"/>
            <a:ext cx="149718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Retained</a:t>
            </a:r>
          </a:p>
          <a:p>
            <a:pPr algn="ctr"/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71</a:t>
            </a:r>
          </a:p>
          <a:p>
            <a:pPr algn="ctr"/>
            <a:r>
              <a:rPr lang="en-IN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(30.34%)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DD840FF-70C3-C2D4-A9E5-4CCD20C26858}"/>
              </a:ext>
            </a:extLst>
          </p:cNvPr>
          <p:cNvSpPr txBox="1"/>
          <p:nvPr/>
        </p:nvSpPr>
        <p:spPr>
          <a:xfrm>
            <a:off x="9742312" y="3931176"/>
            <a:ext cx="18051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Nearly seven out of ten constituencies recorded a change in winning formation.</a:t>
            </a:r>
            <a:endParaRPr lang="en-IN" sz="9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E6DACC8-67A5-F4E9-8742-BE6C2667FFE7}"/>
              </a:ext>
            </a:extLst>
          </p:cNvPr>
          <p:cNvSpPr txBox="1"/>
          <p:nvPr/>
        </p:nvSpPr>
        <p:spPr>
          <a:xfrm>
            <a:off x="9912769" y="2495172"/>
            <a:ext cx="999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234</a:t>
            </a:r>
          </a:p>
          <a:p>
            <a:pPr algn="ctr"/>
            <a:r>
              <a:rPr lang="en-IN" sz="10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total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DE3261D-396D-DFCF-55E8-0D34FFD1B3A8}"/>
              </a:ext>
            </a:extLst>
          </p:cNvPr>
          <p:cNvSpPr txBox="1"/>
          <p:nvPr/>
        </p:nvSpPr>
        <p:spPr>
          <a:xfrm>
            <a:off x="10335314" y="4836520"/>
            <a:ext cx="1786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Key Insight</a:t>
            </a:r>
            <a:endParaRPr lang="en-IN" sz="1200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229A811-E68C-4610-6FBF-EDF981C53111}"/>
              </a:ext>
            </a:extLst>
          </p:cNvPr>
          <p:cNvSpPr txBox="1"/>
          <p:nvPr/>
        </p:nvSpPr>
        <p:spPr>
          <a:xfrm>
            <a:off x="10335314" y="5151005"/>
            <a:ext cx="13695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Electoral movement was concentrated rather than evenly distributed across Tamil Nadu.</a:t>
            </a:r>
            <a:endParaRPr lang="en-IN" sz="9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3BD00E4-03E7-1DF2-A64E-3F2E582CFDD3}"/>
              </a:ext>
            </a:extLst>
          </p:cNvPr>
          <p:cNvSpPr txBox="1"/>
          <p:nvPr/>
        </p:nvSpPr>
        <p:spPr>
          <a:xfrm>
            <a:off x="7128997" y="4799744"/>
            <a:ext cx="1786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Most impacted region</a:t>
            </a:r>
            <a:endParaRPr lang="en-IN" sz="1200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9132FAA-BB12-9D17-180A-ADA581F85F78}"/>
              </a:ext>
            </a:extLst>
          </p:cNvPr>
          <p:cNvSpPr txBox="1"/>
          <p:nvPr/>
        </p:nvSpPr>
        <p:spPr>
          <a:xfrm>
            <a:off x="5258071" y="4806854"/>
            <a:ext cx="1786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Largest Winner Flow</a:t>
            </a:r>
            <a:endParaRPr lang="en-IN" sz="1200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EFC9E2C-3BEA-1F45-86D4-13676FF3A03D}"/>
              </a:ext>
            </a:extLst>
          </p:cNvPr>
          <p:cNvSpPr txBox="1"/>
          <p:nvPr/>
        </p:nvSpPr>
        <p:spPr>
          <a:xfrm>
            <a:off x="3275754" y="5295430"/>
            <a:ext cx="1786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Flip Rate</a:t>
            </a:r>
          </a:p>
          <a:p>
            <a:pPr algn="ctr"/>
            <a:r>
              <a:rPr lang="en-IN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69.66%</a:t>
            </a:r>
          </a:p>
          <a:p>
            <a:pPr algn="ctr"/>
            <a:endParaRPr lang="en-IN" sz="12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38692A1-A05B-9CFC-8797-EE836574BF9D}"/>
              </a:ext>
            </a:extLst>
          </p:cNvPr>
          <p:cNvSpPr txBox="1"/>
          <p:nvPr/>
        </p:nvSpPr>
        <p:spPr>
          <a:xfrm>
            <a:off x="786207" y="6434213"/>
            <a:ext cx="7117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Source: ECI Results Portal (2026) / ECI Statistical Reports (2021) / </a:t>
            </a:r>
            <a:r>
              <a:rPr lang="en-US" sz="1200" dirty="0" err="1">
                <a:solidFill>
                  <a:schemeClr val="bg1"/>
                </a:solidFill>
                <a:latin typeface="Avenir Next LT Pro Demi" panose="020B0704020202020204" pitchFamily="34" charset="0"/>
              </a:rPr>
              <a:t>Codebasics</a:t>
            </a:r>
            <a:endParaRPr lang="en-IN" sz="12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233E2F9-A0B2-0473-2D4B-824AA8B1BD5F}"/>
              </a:ext>
            </a:extLst>
          </p:cNvPr>
          <p:cNvSpPr txBox="1"/>
          <p:nvPr/>
        </p:nvSpPr>
        <p:spPr>
          <a:xfrm>
            <a:off x="9693044" y="6427243"/>
            <a:ext cx="1903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2026 Election Results</a:t>
            </a:r>
            <a:endParaRPr lang="en-IN" sz="12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D70460A1-23DB-58F9-2807-8D4FB1915D1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1000"/>
          </a:blip>
          <a:stretch>
            <a:fillRect/>
          </a:stretch>
        </p:blipFill>
        <p:spPr>
          <a:xfrm>
            <a:off x="2765680" y="1299410"/>
            <a:ext cx="6355458" cy="3716024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DD8CAE18-F896-13D1-67DA-56BBCFB773E3}"/>
              </a:ext>
            </a:extLst>
          </p:cNvPr>
          <p:cNvSpPr txBox="1"/>
          <p:nvPr/>
        </p:nvSpPr>
        <p:spPr>
          <a:xfrm>
            <a:off x="5463506" y="4857247"/>
            <a:ext cx="1297109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b="1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DMK → TVK</a:t>
            </a:r>
          </a:p>
          <a:p>
            <a:pPr algn="ctr"/>
            <a:endParaRPr lang="en-US" sz="11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  <a:p>
            <a:pPr algn="ctr"/>
            <a:r>
              <a:rPr lang="en-U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65</a:t>
            </a:r>
          </a:p>
          <a:p>
            <a:pPr algn="ctr"/>
            <a:r>
              <a:rPr lang="en-US" sz="9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Constituencies</a:t>
            </a:r>
            <a:endParaRPr lang="en-IN" sz="9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2380C-CCD5-0F70-75B3-A2E1A1E23227}"/>
              </a:ext>
            </a:extLst>
          </p:cNvPr>
          <p:cNvSpPr txBox="1"/>
          <p:nvPr/>
        </p:nvSpPr>
        <p:spPr>
          <a:xfrm>
            <a:off x="7086603" y="4799711"/>
            <a:ext cx="199434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b="1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Chennai Metro</a:t>
            </a:r>
            <a:endParaRPr lang="en-US" sz="12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  <a:p>
            <a:pPr algn="ctr"/>
            <a:r>
              <a:rPr lang="fr-FR" sz="11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93.8%</a:t>
            </a:r>
          </a:p>
          <a:p>
            <a:pPr algn="ctr"/>
            <a:r>
              <a:rPr lang="fr-FR" sz="11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(30 / 32 constituencies flipped)</a:t>
            </a:r>
            <a:endParaRPr lang="en-IN" sz="6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962041-284E-0D60-CDB8-55072B063323}"/>
              </a:ext>
            </a:extLst>
          </p:cNvPr>
          <p:cNvSpPr/>
          <p:nvPr/>
        </p:nvSpPr>
        <p:spPr>
          <a:xfrm>
            <a:off x="947905" y="68409"/>
            <a:ext cx="1255254" cy="23870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Flip Story</a:t>
            </a:r>
            <a:endParaRPr lang="en-IN" sz="1400" dirty="0">
              <a:latin typeface="Avenir Next LT Pro Demi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976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4569B"/>
            </a:gs>
            <a:gs pos="48000">
              <a:schemeClr val="accent5">
                <a:lumMod val="60000"/>
                <a:lumOff val="40000"/>
              </a:schemeClr>
            </a:gs>
            <a:gs pos="100000">
              <a:srgbClr val="EEC1E9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8CF66-A548-C458-AC31-46F83BDE0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390BBEAB-B0F9-FBB6-8B7C-094CF045F404}"/>
              </a:ext>
            </a:extLst>
          </p:cNvPr>
          <p:cNvSpPr/>
          <p:nvPr/>
        </p:nvSpPr>
        <p:spPr>
          <a:xfrm>
            <a:off x="9005033" y="4813963"/>
            <a:ext cx="2777749" cy="1495092"/>
          </a:xfrm>
          <a:prstGeom prst="roundRect">
            <a:avLst>
              <a:gd name="adj" fmla="val 11077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E259F93B-0B85-A0DE-0F6B-E2F71F88D499}"/>
              </a:ext>
            </a:extLst>
          </p:cNvPr>
          <p:cNvSpPr/>
          <p:nvPr/>
        </p:nvSpPr>
        <p:spPr>
          <a:xfrm>
            <a:off x="3216744" y="1398723"/>
            <a:ext cx="5631981" cy="3306627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3F621C9-2B16-F939-007C-D94A64F25C38}"/>
              </a:ext>
            </a:extLst>
          </p:cNvPr>
          <p:cNvGrpSpPr/>
          <p:nvPr/>
        </p:nvGrpSpPr>
        <p:grpSpPr>
          <a:xfrm>
            <a:off x="6092761" y="171193"/>
            <a:ext cx="5791408" cy="1146196"/>
            <a:chOff x="6092761" y="171193"/>
            <a:chExt cx="5791408" cy="1146196"/>
          </a:xfrm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F8C00BD3-7591-2EFE-790B-05BE88A9E499}"/>
                </a:ext>
              </a:extLst>
            </p:cNvPr>
            <p:cNvSpPr/>
            <p:nvPr/>
          </p:nvSpPr>
          <p:spPr>
            <a:xfrm>
              <a:off x="6092761" y="199461"/>
              <a:ext cx="2755964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D377FE1A-910F-6C8C-E3AB-B902E9501CDA}"/>
                </a:ext>
              </a:extLst>
            </p:cNvPr>
            <p:cNvSpPr/>
            <p:nvPr/>
          </p:nvSpPr>
          <p:spPr>
            <a:xfrm>
              <a:off x="9049135" y="171193"/>
              <a:ext cx="281195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350253FA-BA08-17C2-5EF3-9BCE42170EF4}"/>
                </a:ext>
              </a:extLst>
            </p:cNvPr>
            <p:cNvGrpSpPr/>
            <p:nvPr/>
          </p:nvGrpSpPr>
          <p:grpSpPr>
            <a:xfrm>
              <a:off x="6911569" y="256315"/>
              <a:ext cx="4972600" cy="1020649"/>
              <a:chOff x="6979775" y="266094"/>
              <a:chExt cx="4972600" cy="1020649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102171A-A9F3-B76F-63C1-4D05B85B64B9}"/>
                  </a:ext>
                </a:extLst>
              </p:cNvPr>
              <p:cNvSpPr txBox="1"/>
              <p:nvPr/>
            </p:nvSpPr>
            <p:spPr>
              <a:xfrm>
                <a:off x="6979775" y="266094"/>
                <a:ext cx="6886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71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D1138A5-CEFC-D14B-EA63-7DA314917CED}"/>
                  </a:ext>
                </a:extLst>
              </p:cNvPr>
              <p:cNvSpPr txBox="1"/>
              <p:nvPr/>
            </p:nvSpPr>
            <p:spPr>
              <a:xfrm>
                <a:off x="6987344" y="711200"/>
                <a:ext cx="15130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Retained</a:t>
                </a:r>
                <a:r>
                  <a:rPr lang="en-US" sz="80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 </a:t>
                </a:r>
                <a:r>
                  <a:rPr lang="en-US" sz="120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Seats</a:t>
                </a:r>
              </a:p>
              <a:p>
                <a:r>
                  <a:rPr lang="en-IN" sz="120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30.34</a:t>
                </a:r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%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3D7F794-2FF1-7C3B-BE3F-8910D5405345}"/>
                  </a:ext>
                </a:extLst>
              </p:cNvPr>
              <p:cNvSpPr txBox="1"/>
              <p:nvPr/>
            </p:nvSpPr>
            <p:spPr>
              <a:xfrm>
                <a:off x="10190121" y="266094"/>
                <a:ext cx="13582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234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874F40A-8AE1-0759-D793-8F0726440BA5}"/>
                  </a:ext>
                </a:extLst>
              </p:cNvPr>
              <p:cNvSpPr txBox="1"/>
              <p:nvPr/>
            </p:nvSpPr>
            <p:spPr>
              <a:xfrm>
                <a:off x="10223268" y="640412"/>
                <a:ext cx="17291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Total</a:t>
                </a:r>
              </a:p>
              <a:p>
                <a:r>
                  <a:rPr lang="en-US" sz="120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Constituencies </a:t>
                </a:r>
                <a:r>
                  <a:rPr lang="en-IN" sz="120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In </a:t>
                </a:r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tamil </a:t>
                </a:r>
                <a:r>
                  <a:rPr lang="en-IN" sz="1200" dirty="0" err="1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nadu</a:t>
                </a:r>
                <a:endParaRPr lang="en-IN" sz="1200" dirty="0">
                  <a:solidFill>
                    <a:schemeClr val="bg1"/>
                  </a:solidFill>
                  <a:latin typeface="Avenir Next LT Pro Demi" panose="020B0704020202020204" pitchFamily="34" charset="0"/>
                </a:endParaRPr>
              </a:p>
            </p:txBody>
          </p:sp>
        </p:grp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75EDA04-A924-12C0-CD61-090C5EC337FB}"/>
              </a:ext>
            </a:extLst>
          </p:cNvPr>
          <p:cNvSpPr/>
          <p:nvPr/>
        </p:nvSpPr>
        <p:spPr>
          <a:xfrm>
            <a:off x="6370426" y="4782120"/>
            <a:ext cx="2399710" cy="1495092"/>
          </a:xfrm>
          <a:prstGeom prst="roundRect">
            <a:avLst>
              <a:gd name="adj" fmla="val 11077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095C56B-D3F6-2BCA-73F2-67116FEB50E5}"/>
              </a:ext>
            </a:extLst>
          </p:cNvPr>
          <p:cNvSpPr/>
          <p:nvPr/>
        </p:nvSpPr>
        <p:spPr>
          <a:xfrm>
            <a:off x="271404" y="181048"/>
            <a:ext cx="2697584" cy="6120898"/>
          </a:xfrm>
          <a:prstGeom prst="roundRect">
            <a:avLst>
              <a:gd name="adj" fmla="val 2097"/>
            </a:avLst>
          </a:prstGeom>
          <a:gradFill>
            <a:gsLst>
              <a:gs pos="0">
                <a:srgbClr val="7D2277"/>
              </a:gs>
              <a:gs pos="48000">
                <a:schemeClr val="accent5">
                  <a:lumMod val="75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pic>
        <p:nvPicPr>
          <p:cNvPr id="78" name="Graphic 77" descr="Group of men with solid fill">
            <a:extLst>
              <a:ext uri="{FF2B5EF4-FFF2-40B4-BE49-F238E27FC236}">
                <a16:creationId xmlns:a16="http://schemas.microsoft.com/office/drawing/2014/main" id="{DCC2D62F-7B3D-EA41-EBC9-0D296DC5C8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8252" y="317690"/>
            <a:ext cx="716400" cy="716400"/>
          </a:xfrm>
          <a:prstGeom prst="rect">
            <a:avLst/>
          </a:prstGeom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9DFA308-6336-AF29-4D4D-FA3D13BE619E}"/>
              </a:ext>
            </a:extLst>
          </p:cNvPr>
          <p:cNvGrpSpPr/>
          <p:nvPr/>
        </p:nvGrpSpPr>
        <p:grpSpPr>
          <a:xfrm>
            <a:off x="277405" y="325399"/>
            <a:ext cx="4006536" cy="4113608"/>
            <a:chOff x="241909" y="340819"/>
            <a:chExt cx="4006536" cy="4113608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A57F655-377F-2488-CF7E-68E2ADEBD0AB}"/>
                </a:ext>
              </a:extLst>
            </p:cNvPr>
            <p:cNvSpPr txBox="1"/>
            <p:nvPr/>
          </p:nvSpPr>
          <p:spPr>
            <a:xfrm>
              <a:off x="241909" y="340819"/>
              <a:ext cx="4006536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Story 01 Findings</a:t>
              </a:r>
            </a:p>
            <a:p>
              <a:endParaRPr lang="en-IN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endParaRPr>
            </a:p>
            <a:p>
              <a:r>
                <a:rPr lang="en-IN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So What  changed?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5AB55B1-79A9-EC98-027D-EC7067C78C15}"/>
                </a:ext>
              </a:extLst>
            </p:cNvPr>
            <p:cNvSpPr txBox="1"/>
            <p:nvPr/>
          </p:nvSpPr>
          <p:spPr>
            <a:xfrm>
              <a:off x="272335" y="1123307"/>
              <a:ext cx="24793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Examining how electoral control shifted between 2021 and 2026.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59D67E-B10A-5768-1436-AF79791514CF}"/>
                </a:ext>
              </a:extLst>
            </p:cNvPr>
            <p:cNvSpPr txBox="1"/>
            <p:nvPr/>
          </p:nvSpPr>
          <p:spPr>
            <a:xfrm>
              <a:off x="536516" y="2146103"/>
              <a:ext cx="2370666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The 2026 election was not a minor reshuffle.</a:t>
              </a:r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163 out of 234 constituencies changed</a:t>
              </a:r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winning formation.</a:t>
              </a:r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The movement was concentrated across</a:t>
              </a:r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selected formations rather than evenly</a:t>
              </a:r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distributed across all parties.</a:t>
              </a:r>
              <a:endParaRPr lang="en-IN" sz="1200" dirty="0">
                <a:solidFill>
                  <a:schemeClr val="bg2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EA6701-86CE-A934-98FB-B7AB80F3ACAD}"/>
                </a:ext>
              </a:extLst>
            </p:cNvPr>
            <p:cNvSpPr txBox="1"/>
            <p:nvPr/>
          </p:nvSpPr>
          <p:spPr>
            <a:xfrm>
              <a:off x="241909" y="1798605"/>
              <a:ext cx="40065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What we Observed?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9710D5D-FCEC-2D59-5F89-6DD9B3F16DEC}"/>
              </a:ext>
            </a:extLst>
          </p:cNvPr>
          <p:cNvGrpSpPr/>
          <p:nvPr/>
        </p:nvGrpSpPr>
        <p:grpSpPr>
          <a:xfrm>
            <a:off x="3245743" y="201867"/>
            <a:ext cx="2733463" cy="1117928"/>
            <a:chOff x="3216744" y="199461"/>
            <a:chExt cx="2733463" cy="1117928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DBAD6021-1F2F-8F5B-F1A3-DE4123BEBF72}"/>
                </a:ext>
              </a:extLst>
            </p:cNvPr>
            <p:cNvSpPr/>
            <p:nvPr/>
          </p:nvSpPr>
          <p:spPr>
            <a:xfrm>
              <a:off x="3216744" y="199461"/>
              <a:ext cx="2733463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alpha val="60000"/>
                    <a:lumMod val="50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B7E25A5D-75B7-9325-BF1E-A7374DECFC83}"/>
                </a:ext>
              </a:extLst>
            </p:cNvPr>
            <p:cNvGrpSpPr/>
            <p:nvPr/>
          </p:nvGrpSpPr>
          <p:grpSpPr>
            <a:xfrm>
              <a:off x="4068359" y="280795"/>
              <a:ext cx="1562441" cy="879138"/>
              <a:chOff x="4051582" y="266094"/>
              <a:chExt cx="1562441" cy="879138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BEEBBE3-50D2-997C-9347-FD6E4883CA65}"/>
                  </a:ext>
                </a:extLst>
              </p:cNvPr>
              <p:cNvSpPr txBox="1"/>
              <p:nvPr/>
            </p:nvSpPr>
            <p:spPr>
              <a:xfrm>
                <a:off x="4051582" y="266094"/>
                <a:ext cx="12519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163</a:t>
                </a:r>
                <a:endParaRPr lang="en-IN" sz="28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9D4ABCB-3E3D-450E-588D-800A05087436}"/>
                  </a:ext>
                </a:extLst>
              </p:cNvPr>
              <p:cNvSpPr txBox="1"/>
              <p:nvPr/>
            </p:nvSpPr>
            <p:spPr>
              <a:xfrm>
                <a:off x="4100992" y="683567"/>
                <a:ext cx="15130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Flipped Seats</a:t>
                </a:r>
              </a:p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69.66%</a:t>
                </a:r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A540FFA4-1BDC-08A5-4E67-0AFB2880A194}"/>
              </a:ext>
            </a:extLst>
          </p:cNvPr>
          <p:cNvSpPr txBox="1"/>
          <p:nvPr/>
        </p:nvSpPr>
        <p:spPr>
          <a:xfrm>
            <a:off x="4051582" y="1461913"/>
            <a:ext cx="361681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Top Winner Transitions</a:t>
            </a:r>
          </a:p>
          <a:p>
            <a:pPr algn="ctr"/>
            <a:r>
              <a:rPr lang="en-IN" sz="105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Largest constituency movements between elections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2936FF92-1EE8-9417-7BAB-0E8E2D0ED82F}"/>
              </a:ext>
            </a:extLst>
          </p:cNvPr>
          <p:cNvSpPr/>
          <p:nvPr/>
        </p:nvSpPr>
        <p:spPr>
          <a:xfrm>
            <a:off x="3231090" y="4805050"/>
            <a:ext cx="2399710" cy="1495092"/>
          </a:xfrm>
          <a:prstGeom prst="roundRect">
            <a:avLst>
              <a:gd name="adj" fmla="val 11077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1BB9B731-A9AF-B3BC-F44D-58950D30D1CE}"/>
              </a:ext>
            </a:extLst>
          </p:cNvPr>
          <p:cNvSpPr/>
          <p:nvPr/>
        </p:nvSpPr>
        <p:spPr>
          <a:xfrm>
            <a:off x="8940091" y="1381767"/>
            <a:ext cx="2907635" cy="3306627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2F3F90DE-0203-2E06-5A14-5C377760D12D}"/>
              </a:ext>
            </a:extLst>
          </p:cNvPr>
          <p:cNvSpPr/>
          <p:nvPr/>
        </p:nvSpPr>
        <p:spPr>
          <a:xfrm>
            <a:off x="9121140" y="6353983"/>
            <a:ext cx="2680333" cy="411070"/>
          </a:xfrm>
          <a:prstGeom prst="roundRect">
            <a:avLst>
              <a:gd name="adj" fmla="val 19502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B6D4498-28C1-C0A4-B4CF-24C9D4A8E5C5}"/>
              </a:ext>
            </a:extLst>
          </p:cNvPr>
          <p:cNvSpPr txBox="1"/>
          <p:nvPr/>
        </p:nvSpPr>
        <p:spPr>
          <a:xfrm>
            <a:off x="9742312" y="3931176"/>
            <a:ext cx="18051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Nearly seven out of ten constituencies recorded a change in winning formation.</a:t>
            </a:r>
            <a:endParaRPr lang="en-IN" sz="10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DE5B849-3DD6-680C-EA8B-BC635018F35F}"/>
              </a:ext>
            </a:extLst>
          </p:cNvPr>
          <p:cNvSpPr txBox="1"/>
          <p:nvPr/>
        </p:nvSpPr>
        <p:spPr>
          <a:xfrm>
            <a:off x="10268655" y="4804849"/>
            <a:ext cx="1786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Key Insight</a:t>
            </a:r>
            <a:endParaRPr lang="en-IN" sz="1600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D68B804-3217-34E6-2AEF-5253F170218C}"/>
              </a:ext>
            </a:extLst>
          </p:cNvPr>
          <p:cNvSpPr txBox="1"/>
          <p:nvPr/>
        </p:nvSpPr>
        <p:spPr>
          <a:xfrm>
            <a:off x="10246009" y="5122109"/>
            <a:ext cx="15170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The result was not a uniform transition.</a:t>
            </a:r>
          </a:p>
          <a:p>
            <a:endParaRPr lang="en-US" sz="10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Most movement concentrated in a few high-volume party shifts.</a:t>
            </a:r>
            <a:endParaRPr lang="en-IN" sz="10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13AC473-7997-DA03-9F2F-5583B510502F}"/>
              </a:ext>
            </a:extLst>
          </p:cNvPr>
          <p:cNvSpPr txBox="1"/>
          <p:nvPr/>
        </p:nvSpPr>
        <p:spPr>
          <a:xfrm>
            <a:off x="9693044" y="6427243"/>
            <a:ext cx="1903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2026 Election Results</a:t>
            </a:r>
            <a:endParaRPr lang="en-IN" sz="12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6FA92F-A9D1-C442-C39B-59E05080DA1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6000"/>
          </a:blip>
          <a:stretch>
            <a:fillRect/>
          </a:stretch>
        </p:blipFill>
        <p:spPr>
          <a:xfrm>
            <a:off x="258689" y="4550205"/>
            <a:ext cx="2718813" cy="1678209"/>
          </a:xfrm>
          <a:prstGeom prst="rect">
            <a:avLst/>
          </a:prstGeom>
          <a:effectLst/>
        </p:spPr>
      </p:pic>
      <p:pic>
        <p:nvPicPr>
          <p:cNvPr id="15" name="Graphic 14" descr="Lightbulb and gear with solid fill">
            <a:extLst>
              <a:ext uri="{FF2B5EF4-FFF2-40B4-BE49-F238E27FC236}">
                <a16:creationId xmlns:a16="http://schemas.microsoft.com/office/drawing/2014/main" id="{21C2CE93-2D36-1135-2A68-9344A5A52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3858" y="5022498"/>
            <a:ext cx="914400" cy="914400"/>
          </a:xfrm>
          <a:prstGeom prst="rect">
            <a:avLst/>
          </a:prstGeom>
        </p:spPr>
      </p:pic>
      <p:pic>
        <p:nvPicPr>
          <p:cNvPr id="17" name="Graphic 16" descr="Shield Tick with solid fill">
            <a:extLst>
              <a:ext uri="{FF2B5EF4-FFF2-40B4-BE49-F238E27FC236}">
                <a16:creationId xmlns:a16="http://schemas.microsoft.com/office/drawing/2014/main" id="{30FFA3C0-9168-E3F4-525B-CFF921713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2862" y="5151080"/>
            <a:ext cx="785817" cy="785817"/>
          </a:xfrm>
          <a:prstGeom prst="rect">
            <a:avLst/>
          </a:prstGeom>
        </p:spPr>
      </p:pic>
      <p:pic>
        <p:nvPicPr>
          <p:cNvPr id="19" name="Graphic 18" descr="Bullseye with solid fill">
            <a:extLst>
              <a:ext uri="{FF2B5EF4-FFF2-40B4-BE49-F238E27FC236}">
                <a16:creationId xmlns:a16="http://schemas.microsoft.com/office/drawing/2014/main" id="{59552FF1-5A22-643A-6A43-B8908E86D9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5087" y="3484738"/>
            <a:ext cx="262800" cy="262800"/>
          </a:xfrm>
          <a:prstGeom prst="rect">
            <a:avLst/>
          </a:prstGeom>
        </p:spPr>
      </p:pic>
      <p:pic>
        <p:nvPicPr>
          <p:cNvPr id="21" name="Graphic 20" descr="Group of men with solid fill">
            <a:extLst>
              <a:ext uri="{FF2B5EF4-FFF2-40B4-BE49-F238E27FC236}">
                <a16:creationId xmlns:a16="http://schemas.microsoft.com/office/drawing/2014/main" id="{3173A29C-F86F-80C8-BE6F-46E68306D3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087" y="2837051"/>
            <a:ext cx="262800" cy="262800"/>
          </a:xfrm>
          <a:prstGeom prst="rect">
            <a:avLst/>
          </a:prstGeom>
        </p:spPr>
      </p:pic>
      <p:pic>
        <p:nvPicPr>
          <p:cNvPr id="23" name="Graphic 22" descr="Bar graph with upward trend with solid fill">
            <a:extLst>
              <a:ext uri="{FF2B5EF4-FFF2-40B4-BE49-F238E27FC236}">
                <a16:creationId xmlns:a16="http://schemas.microsoft.com/office/drawing/2014/main" id="{23D444B6-4878-166C-8E2D-90525A4FD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8776" y="2232937"/>
            <a:ext cx="261458" cy="26145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040FD87-22BD-61E2-1F97-DB0B673B94E5}"/>
              </a:ext>
            </a:extLst>
          </p:cNvPr>
          <p:cNvSpPr txBox="1"/>
          <p:nvPr/>
        </p:nvSpPr>
        <p:spPr>
          <a:xfrm>
            <a:off x="6975402" y="4874485"/>
            <a:ext cx="1786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Retained Base</a:t>
            </a:r>
            <a:endParaRPr lang="en-IN" sz="1600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A2AA5FD-0246-1AE1-BF92-C0F4EE5C700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585" y="337723"/>
            <a:ext cx="716400" cy="706208"/>
          </a:xfrm>
          <a:prstGeom prst="rect">
            <a:avLst/>
          </a:prstGeom>
        </p:spPr>
      </p:pic>
      <p:pic>
        <p:nvPicPr>
          <p:cNvPr id="27" name="Graphic 26" descr="Shield Tick with solid fill">
            <a:extLst>
              <a:ext uri="{FF2B5EF4-FFF2-40B4-BE49-F238E27FC236}">
                <a16:creationId xmlns:a16="http://schemas.microsoft.com/office/drawing/2014/main" id="{0D470593-CB8D-1785-4496-0AF72C95F2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2094" y="329048"/>
            <a:ext cx="716400" cy="716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90DB53C-582F-4DA5-9EF4-2A863AF85B86}"/>
              </a:ext>
            </a:extLst>
          </p:cNvPr>
          <p:cNvSpPr txBox="1"/>
          <p:nvPr/>
        </p:nvSpPr>
        <p:spPr>
          <a:xfrm>
            <a:off x="2571955" y="4879018"/>
            <a:ext cx="3616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Largest Winner Flow</a:t>
            </a:r>
            <a:endParaRPr lang="en-IN" sz="105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1A4E6E-BB12-B7B9-0563-D01413659581}"/>
              </a:ext>
            </a:extLst>
          </p:cNvPr>
          <p:cNvSpPr txBox="1"/>
          <p:nvPr/>
        </p:nvSpPr>
        <p:spPr>
          <a:xfrm>
            <a:off x="8587085" y="1486524"/>
            <a:ext cx="3616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Who Benefited Most?</a:t>
            </a:r>
            <a:endParaRPr lang="en-IN" sz="105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BE3B422-05B6-DF83-84A0-96C8E306B15C}"/>
              </a:ext>
            </a:extLst>
          </p:cNvPr>
          <p:cNvSpPr/>
          <p:nvPr/>
        </p:nvSpPr>
        <p:spPr>
          <a:xfrm>
            <a:off x="3603178" y="5276646"/>
            <a:ext cx="566164" cy="49596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700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00DE459-8AFA-416E-C9A4-23015B735FF9}"/>
              </a:ext>
            </a:extLst>
          </p:cNvPr>
          <p:cNvSpPr/>
          <p:nvPr/>
        </p:nvSpPr>
        <p:spPr>
          <a:xfrm>
            <a:off x="4583475" y="5295430"/>
            <a:ext cx="566164" cy="495962"/>
          </a:xfrm>
          <a:prstGeom prst="ellipse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7CA04CE0-A9FE-EE9B-E9FC-78221D60DC7D}"/>
              </a:ext>
            </a:extLst>
          </p:cNvPr>
          <p:cNvSpPr/>
          <p:nvPr/>
        </p:nvSpPr>
        <p:spPr>
          <a:xfrm>
            <a:off x="4257596" y="5459277"/>
            <a:ext cx="264371" cy="21549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95C218-3F7F-0B06-37B6-10330075C071}"/>
              </a:ext>
            </a:extLst>
          </p:cNvPr>
          <p:cNvSpPr txBox="1"/>
          <p:nvPr/>
        </p:nvSpPr>
        <p:spPr>
          <a:xfrm>
            <a:off x="3617386" y="5378701"/>
            <a:ext cx="65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5">
                    <a:lumMod val="75000"/>
                  </a:schemeClr>
                </a:solidFill>
                <a:latin typeface="Avenir Next LT Pro Demi" panose="020B0704020202020204" pitchFamily="34" charset="0"/>
              </a:rPr>
              <a:t>DMK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10EF89-6C46-4A72-E0E4-799ADFF16F54}"/>
              </a:ext>
            </a:extLst>
          </p:cNvPr>
          <p:cNvSpPr txBox="1"/>
          <p:nvPr/>
        </p:nvSpPr>
        <p:spPr>
          <a:xfrm>
            <a:off x="4619183" y="5389309"/>
            <a:ext cx="65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TVK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049B9E-A7F7-22D3-D8B3-2E8376E0EEA7}"/>
              </a:ext>
            </a:extLst>
          </p:cNvPr>
          <p:cNvSpPr txBox="1"/>
          <p:nvPr/>
        </p:nvSpPr>
        <p:spPr>
          <a:xfrm>
            <a:off x="3484752" y="5656020"/>
            <a:ext cx="1757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65</a:t>
            </a:r>
          </a:p>
          <a:p>
            <a:pPr algn="ctr"/>
            <a:r>
              <a:rPr lang="en-IN" sz="10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Constituencies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59E830-E95B-8BD8-9A0F-D3260C4F66B7}"/>
              </a:ext>
            </a:extLst>
          </p:cNvPr>
          <p:cNvSpPr txBox="1"/>
          <p:nvPr/>
        </p:nvSpPr>
        <p:spPr>
          <a:xfrm>
            <a:off x="6989622" y="5135539"/>
            <a:ext cx="1757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71</a:t>
            </a:r>
          </a:p>
          <a:p>
            <a:pPr algn="ctr"/>
            <a:r>
              <a:rPr lang="en-IN" sz="10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Constituencies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93AD8A-F022-D17E-EB65-AF700ACA9F21}"/>
              </a:ext>
            </a:extLst>
          </p:cNvPr>
          <p:cNvSpPr txBox="1"/>
          <p:nvPr/>
        </p:nvSpPr>
        <p:spPr>
          <a:xfrm>
            <a:off x="7326430" y="5701812"/>
            <a:ext cx="1478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retained their same winning formation</a:t>
            </a:r>
          </a:p>
        </p:txBody>
      </p:sp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1871AD2F-D44D-0EF1-E0FD-F8F40D990A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9664439"/>
              </p:ext>
            </p:extLst>
          </p:nvPr>
        </p:nvGraphicFramePr>
        <p:xfrm>
          <a:off x="3641034" y="197433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55" name="Chart 54">
            <a:extLst>
              <a:ext uri="{FF2B5EF4-FFF2-40B4-BE49-F238E27FC236}">
                <a16:creationId xmlns:a16="http://schemas.microsoft.com/office/drawing/2014/main" id="{E9878755-83B1-26A0-9B2D-98582468DE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6606019"/>
              </p:ext>
            </p:extLst>
          </p:nvPr>
        </p:nvGraphicFramePr>
        <p:xfrm>
          <a:off x="8940091" y="1824677"/>
          <a:ext cx="2657127" cy="2104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D2FE5B0-3E48-1705-C5E3-3E2E484CAC1D}"/>
              </a:ext>
            </a:extLst>
          </p:cNvPr>
          <p:cNvSpPr/>
          <p:nvPr/>
        </p:nvSpPr>
        <p:spPr>
          <a:xfrm>
            <a:off x="271404" y="6353983"/>
            <a:ext cx="8718110" cy="411070"/>
          </a:xfrm>
          <a:prstGeom prst="roundRect">
            <a:avLst>
              <a:gd name="adj" fmla="val 19502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A301F-944D-416D-6D8C-FDE93667013C}"/>
              </a:ext>
            </a:extLst>
          </p:cNvPr>
          <p:cNvSpPr txBox="1"/>
          <p:nvPr/>
        </p:nvSpPr>
        <p:spPr>
          <a:xfrm>
            <a:off x="786207" y="6434213"/>
            <a:ext cx="7117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Source: ECI Results Portal (2026) / ECI Statistical Reports (2021) / </a:t>
            </a:r>
            <a:r>
              <a:rPr lang="en-US" sz="1200" dirty="0" err="1">
                <a:solidFill>
                  <a:schemeClr val="bg1"/>
                </a:solidFill>
                <a:latin typeface="Avenir Next LT Pro Demi" panose="020B0704020202020204" pitchFamily="34" charset="0"/>
              </a:rPr>
              <a:t>Codebasics</a:t>
            </a:r>
            <a:endParaRPr lang="en-IN" sz="12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80" name="Graphic 79" descr="Group of men with solid fill">
            <a:extLst>
              <a:ext uri="{FF2B5EF4-FFF2-40B4-BE49-F238E27FC236}">
                <a16:creationId xmlns:a16="http://schemas.microsoft.com/office/drawing/2014/main" id="{2F9F21EA-CBD5-CDE2-EFCE-A7AFF0156B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0757" y="3934179"/>
            <a:ext cx="451555" cy="45155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5EEEDF-A2D6-9210-6DDF-08A76BC6BC63}"/>
              </a:ext>
            </a:extLst>
          </p:cNvPr>
          <p:cNvSpPr/>
          <p:nvPr/>
        </p:nvSpPr>
        <p:spPr>
          <a:xfrm>
            <a:off x="947905" y="68409"/>
            <a:ext cx="1255254" cy="23870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Flip Story</a:t>
            </a:r>
            <a:endParaRPr lang="en-IN" sz="1400" dirty="0">
              <a:latin typeface="Avenir Next LT Pro Demi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353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4569B"/>
            </a:gs>
            <a:gs pos="48000">
              <a:schemeClr val="accent5">
                <a:lumMod val="60000"/>
                <a:lumOff val="40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C8F99-2C9F-FD93-DC46-A9AA094D6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E07C069D-269A-74C3-9850-2A32C590D252}"/>
              </a:ext>
            </a:extLst>
          </p:cNvPr>
          <p:cNvSpPr/>
          <p:nvPr/>
        </p:nvSpPr>
        <p:spPr>
          <a:xfrm>
            <a:off x="8969543" y="1385505"/>
            <a:ext cx="3103631" cy="2315685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F440553D-1483-8671-AD7C-7E71189905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379"/>
          <a:stretch>
            <a:fillRect/>
          </a:stretch>
        </p:blipFill>
        <p:spPr>
          <a:xfrm>
            <a:off x="8214602" y="1374324"/>
            <a:ext cx="4204260" cy="1571221"/>
          </a:xfrm>
          <a:prstGeom prst="rect">
            <a:avLst/>
          </a:prstGeom>
        </p:spPr>
      </p:pic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35E5EDC-1EAD-61CF-EB5F-119AC794B99B}"/>
              </a:ext>
            </a:extLst>
          </p:cNvPr>
          <p:cNvSpPr/>
          <p:nvPr/>
        </p:nvSpPr>
        <p:spPr>
          <a:xfrm>
            <a:off x="3216744" y="1398723"/>
            <a:ext cx="5631981" cy="3997364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593941B-CF60-0A9F-EE3E-F19835F808C3}"/>
              </a:ext>
            </a:extLst>
          </p:cNvPr>
          <p:cNvGrpSpPr/>
          <p:nvPr/>
        </p:nvGrpSpPr>
        <p:grpSpPr>
          <a:xfrm>
            <a:off x="6092760" y="171193"/>
            <a:ext cx="6000385" cy="1146196"/>
            <a:chOff x="6092761" y="171193"/>
            <a:chExt cx="5791408" cy="1146196"/>
          </a:xfrm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5D02C194-8760-CCD3-5B39-AED16EE35259}"/>
                </a:ext>
              </a:extLst>
            </p:cNvPr>
            <p:cNvSpPr/>
            <p:nvPr/>
          </p:nvSpPr>
          <p:spPr>
            <a:xfrm>
              <a:off x="6092761" y="199461"/>
              <a:ext cx="2755964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A6B3732D-44D7-EB96-D756-0507919DB1A8}"/>
                </a:ext>
              </a:extLst>
            </p:cNvPr>
            <p:cNvSpPr/>
            <p:nvPr/>
          </p:nvSpPr>
          <p:spPr>
            <a:xfrm>
              <a:off x="9049135" y="171193"/>
              <a:ext cx="281195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BD9269C7-6D5D-B332-2289-F94F663A3CF8}"/>
                </a:ext>
              </a:extLst>
            </p:cNvPr>
            <p:cNvGrpSpPr/>
            <p:nvPr/>
          </p:nvGrpSpPr>
          <p:grpSpPr>
            <a:xfrm>
              <a:off x="6911569" y="256315"/>
              <a:ext cx="4972600" cy="1020649"/>
              <a:chOff x="6979775" y="266094"/>
              <a:chExt cx="4972600" cy="1020649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C29C0C6-8C5A-177E-E26F-78B89341785B}"/>
                  </a:ext>
                </a:extLst>
              </p:cNvPr>
              <p:cNvSpPr txBox="1"/>
              <p:nvPr/>
            </p:nvSpPr>
            <p:spPr>
              <a:xfrm>
                <a:off x="6979775" y="266094"/>
                <a:ext cx="6886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71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D02F578-C832-BAA1-5236-8A6425B9632B}"/>
                  </a:ext>
                </a:extLst>
              </p:cNvPr>
              <p:cNvSpPr txBox="1"/>
              <p:nvPr/>
            </p:nvSpPr>
            <p:spPr>
              <a:xfrm>
                <a:off x="6987344" y="711200"/>
                <a:ext cx="15130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Retained</a:t>
                </a:r>
                <a:r>
                  <a:rPr lang="en-US" sz="80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Seats</a:t>
                </a:r>
              </a:p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30.34%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4FBB3212-E354-1804-ACBB-57DAF89413AF}"/>
                  </a:ext>
                </a:extLst>
              </p:cNvPr>
              <p:cNvSpPr txBox="1"/>
              <p:nvPr/>
            </p:nvSpPr>
            <p:spPr>
              <a:xfrm>
                <a:off x="10190121" y="266094"/>
                <a:ext cx="13582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234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4828FCB-50C4-AE4A-4EF6-666AD572054D}"/>
                  </a:ext>
                </a:extLst>
              </p:cNvPr>
              <p:cNvSpPr txBox="1"/>
              <p:nvPr/>
            </p:nvSpPr>
            <p:spPr>
              <a:xfrm>
                <a:off x="10223268" y="640412"/>
                <a:ext cx="17291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Total</a:t>
                </a:r>
              </a:p>
              <a:p>
                <a:r>
                  <a:rPr lang="en-US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Constituencies </a:t>
                </a:r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In tamil </a:t>
                </a:r>
                <a:r>
                  <a:rPr lang="en-IN" sz="1200" dirty="0" err="1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nadu</a:t>
                </a:r>
                <a:endParaRPr lang="en-IN" sz="1200" dirty="0">
                  <a:solidFill>
                    <a:schemeClr val="bg1"/>
                  </a:solidFill>
                  <a:latin typeface="Avenir Next LT Pro Demi" panose="020B0704020202020204" pitchFamily="34" charset="0"/>
                </a:endParaRPr>
              </a:p>
            </p:txBody>
          </p:sp>
        </p:grp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1FEEB4E-D62E-7A53-D69B-5405699ED1EF}"/>
              </a:ext>
            </a:extLst>
          </p:cNvPr>
          <p:cNvSpPr/>
          <p:nvPr/>
        </p:nvSpPr>
        <p:spPr>
          <a:xfrm>
            <a:off x="3216744" y="5528999"/>
            <a:ext cx="8852493" cy="1236606"/>
          </a:xfrm>
          <a:prstGeom prst="roundRect">
            <a:avLst>
              <a:gd name="adj" fmla="val 11077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BE0BF37-BC8C-7EA9-7CAF-3A797FB07F67}"/>
              </a:ext>
            </a:extLst>
          </p:cNvPr>
          <p:cNvSpPr/>
          <p:nvPr/>
        </p:nvSpPr>
        <p:spPr>
          <a:xfrm>
            <a:off x="271404" y="181047"/>
            <a:ext cx="2697584" cy="6485223"/>
          </a:xfrm>
          <a:prstGeom prst="roundRect">
            <a:avLst>
              <a:gd name="adj" fmla="val 2097"/>
            </a:avLst>
          </a:prstGeom>
          <a:gradFill>
            <a:gsLst>
              <a:gs pos="0">
                <a:srgbClr val="7D2277"/>
              </a:gs>
              <a:gs pos="48000">
                <a:schemeClr val="accent5">
                  <a:lumMod val="75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pic>
        <p:nvPicPr>
          <p:cNvPr id="78" name="Graphic 77" descr="Group of men with solid fill">
            <a:extLst>
              <a:ext uri="{FF2B5EF4-FFF2-40B4-BE49-F238E27FC236}">
                <a16:creationId xmlns:a16="http://schemas.microsoft.com/office/drawing/2014/main" id="{803E590B-4B56-EF55-D4C0-C0CA14CC2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8252" y="317690"/>
            <a:ext cx="716400" cy="716400"/>
          </a:xfrm>
          <a:prstGeom prst="rect">
            <a:avLst/>
          </a:prstGeom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5E8B4BA-1AE7-3D45-2071-61817AC47BB6}"/>
              </a:ext>
            </a:extLst>
          </p:cNvPr>
          <p:cNvGrpSpPr/>
          <p:nvPr/>
        </p:nvGrpSpPr>
        <p:grpSpPr>
          <a:xfrm>
            <a:off x="277405" y="329048"/>
            <a:ext cx="4079056" cy="3510767"/>
            <a:chOff x="241909" y="344468"/>
            <a:chExt cx="4079056" cy="3510767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5FC13BF-2C17-98BB-9178-F9C08A34E19F}"/>
                </a:ext>
              </a:extLst>
            </p:cNvPr>
            <p:cNvSpPr txBox="1"/>
            <p:nvPr/>
          </p:nvSpPr>
          <p:spPr>
            <a:xfrm>
              <a:off x="314429" y="344468"/>
              <a:ext cx="40065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Story 02</a:t>
              </a:r>
            </a:p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Geographic shift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82E0708-AC77-D8E6-BC1D-D6A08DA73A8D}"/>
                </a:ext>
              </a:extLst>
            </p:cNvPr>
            <p:cNvSpPr txBox="1"/>
            <p:nvPr/>
          </p:nvSpPr>
          <p:spPr>
            <a:xfrm>
              <a:off x="272335" y="1123307"/>
              <a:ext cx="24793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Where was electoral</a:t>
              </a:r>
            </a:p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change concentrated?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232A038-047A-F261-7ACE-3040C5CC6A3F}"/>
                </a:ext>
              </a:extLst>
            </p:cNvPr>
            <p:cNvSpPr txBox="1"/>
            <p:nvPr/>
          </p:nvSpPr>
          <p:spPr>
            <a:xfrm>
              <a:off x="241909" y="1798605"/>
              <a:ext cx="40065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What we Observed?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98BD9E8-AEFC-03AC-906E-192F2C7524EF}"/>
                </a:ext>
              </a:extLst>
            </p:cNvPr>
            <p:cNvSpPr txBox="1"/>
            <p:nvPr/>
          </p:nvSpPr>
          <p:spPr>
            <a:xfrm>
              <a:off x="669264" y="2285575"/>
              <a:ext cx="237066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Change was not uniform across the state.</a:t>
              </a:r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Western and Northern regions showed stronger movement.</a:t>
              </a:r>
            </a:p>
            <a:p>
              <a:endParaRPr lang="en-US" sz="1200" dirty="0">
                <a:solidFill>
                  <a:schemeClr val="bg2"/>
                </a:solidFill>
                <a:latin typeface="Avenir Next LT Pro Demi" panose="020B0704020202020204" pitchFamily="34" charset="0"/>
              </a:endParaRPr>
            </a:p>
            <a:p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TVK gained across regions.</a:t>
              </a:r>
              <a:endParaRPr lang="en-IN" sz="1200" dirty="0">
                <a:solidFill>
                  <a:schemeClr val="bg2"/>
                </a:solidFill>
                <a:latin typeface="Avenir Next LT Pro Demi" panose="020B0704020202020204" pitchFamily="34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36CD7D9-129A-18E4-F8E4-C5E03ECFB5BA}"/>
              </a:ext>
            </a:extLst>
          </p:cNvPr>
          <p:cNvGrpSpPr/>
          <p:nvPr/>
        </p:nvGrpSpPr>
        <p:grpSpPr>
          <a:xfrm>
            <a:off x="3216744" y="199461"/>
            <a:ext cx="2733463" cy="1117928"/>
            <a:chOff x="3216744" y="199461"/>
            <a:chExt cx="2733463" cy="1117928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850AE39B-D962-7595-5872-3D4FF6685A29}"/>
                </a:ext>
              </a:extLst>
            </p:cNvPr>
            <p:cNvSpPr/>
            <p:nvPr/>
          </p:nvSpPr>
          <p:spPr>
            <a:xfrm>
              <a:off x="3216744" y="199461"/>
              <a:ext cx="2733463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77D66AE-DCD3-194A-EBBF-A6FD1851F495}"/>
                </a:ext>
              </a:extLst>
            </p:cNvPr>
            <p:cNvGrpSpPr/>
            <p:nvPr/>
          </p:nvGrpSpPr>
          <p:grpSpPr>
            <a:xfrm>
              <a:off x="4068359" y="280795"/>
              <a:ext cx="1562441" cy="879138"/>
              <a:chOff x="4051582" y="266094"/>
              <a:chExt cx="1562441" cy="879138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77F6481-7E4D-E557-B5C5-C84AD377B9A5}"/>
                  </a:ext>
                </a:extLst>
              </p:cNvPr>
              <p:cNvSpPr txBox="1"/>
              <p:nvPr/>
            </p:nvSpPr>
            <p:spPr>
              <a:xfrm>
                <a:off x="4051582" y="266094"/>
                <a:ext cx="12519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163</a:t>
                </a:r>
                <a:endParaRPr lang="en-IN" sz="28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83DBAA6-C392-55C3-46C1-FC7FF61E74C3}"/>
                  </a:ext>
                </a:extLst>
              </p:cNvPr>
              <p:cNvSpPr txBox="1"/>
              <p:nvPr/>
            </p:nvSpPr>
            <p:spPr>
              <a:xfrm>
                <a:off x="4100992" y="683567"/>
                <a:ext cx="15130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Flipped Seats</a:t>
                </a:r>
              </a:p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69.66%</a:t>
                </a:r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1E056916-7EC7-DDDD-C260-F916B2D2DCA0}"/>
              </a:ext>
            </a:extLst>
          </p:cNvPr>
          <p:cNvSpPr txBox="1"/>
          <p:nvPr/>
        </p:nvSpPr>
        <p:spPr>
          <a:xfrm>
            <a:off x="4051582" y="1461913"/>
            <a:ext cx="436563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Regional Flip Intensity (2021 → 2026)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Share of constituencies that changed winning formation</a:t>
            </a:r>
            <a:endParaRPr lang="en-IN" sz="105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35E99C-0AFB-1939-9C26-26DF4A74042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6000"/>
          </a:blip>
          <a:stretch>
            <a:fillRect/>
          </a:stretch>
        </p:blipFill>
        <p:spPr>
          <a:xfrm>
            <a:off x="258689" y="4550205"/>
            <a:ext cx="2718813" cy="2116065"/>
          </a:xfrm>
          <a:prstGeom prst="rect">
            <a:avLst/>
          </a:prstGeom>
          <a:effectLst/>
        </p:spPr>
      </p:pic>
      <p:pic>
        <p:nvPicPr>
          <p:cNvPr id="19" name="Graphic 18" descr="Bullseye with solid fill">
            <a:extLst>
              <a:ext uri="{FF2B5EF4-FFF2-40B4-BE49-F238E27FC236}">
                <a16:creationId xmlns:a16="http://schemas.microsoft.com/office/drawing/2014/main" id="{DABF8802-7435-97D5-BD04-3D61D955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9925" y="3488730"/>
            <a:ext cx="348830" cy="348830"/>
          </a:xfrm>
          <a:prstGeom prst="rect">
            <a:avLst/>
          </a:prstGeom>
        </p:spPr>
      </p:pic>
      <p:pic>
        <p:nvPicPr>
          <p:cNvPr id="23" name="Graphic 22" descr="Bar graph with upward trend with solid fill">
            <a:extLst>
              <a:ext uri="{FF2B5EF4-FFF2-40B4-BE49-F238E27FC236}">
                <a16:creationId xmlns:a16="http://schemas.microsoft.com/office/drawing/2014/main" id="{736693F5-C5D6-92E2-D8F9-2B772BBB6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524" y="2839796"/>
            <a:ext cx="348830" cy="34883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679F96C-C1DC-1383-8726-42C832A7C5D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585" y="337723"/>
            <a:ext cx="716400" cy="706208"/>
          </a:xfrm>
          <a:prstGeom prst="rect">
            <a:avLst/>
          </a:prstGeom>
        </p:spPr>
      </p:pic>
      <p:pic>
        <p:nvPicPr>
          <p:cNvPr id="27" name="Graphic 26" descr="Shield Tick with solid fill">
            <a:extLst>
              <a:ext uri="{FF2B5EF4-FFF2-40B4-BE49-F238E27FC236}">
                <a16:creationId xmlns:a16="http://schemas.microsoft.com/office/drawing/2014/main" id="{F0E83DAD-E8A7-8E50-76D2-A2519B665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2094" y="329048"/>
            <a:ext cx="716400" cy="716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288DE-9F1F-D30A-B00F-ECFBCB78F851}"/>
              </a:ext>
            </a:extLst>
          </p:cNvPr>
          <p:cNvSpPr/>
          <p:nvPr/>
        </p:nvSpPr>
        <p:spPr>
          <a:xfrm>
            <a:off x="8935738" y="3807103"/>
            <a:ext cx="3116611" cy="1571222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EA5070F-9ACB-DDE2-6F28-B80DD9AA3A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83429" y="1798763"/>
            <a:ext cx="5400779" cy="3600519"/>
          </a:xfrm>
          <a:prstGeom prst="rect">
            <a:avLst/>
          </a:prstGeom>
        </p:spPr>
      </p:pic>
      <p:pic>
        <p:nvPicPr>
          <p:cNvPr id="45" name="Graphic 44" descr="Marker with solid fill">
            <a:extLst>
              <a:ext uri="{FF2B5EF4-FFF2-40B4-BE49-F238E27FC236}">
                <a16:creationId xmlns:a16="http://schemas.microsoft.com/office/drawing/2014/main" id="{766AE1D4-BADD-584E-A06C-A42F34B1C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1333" y="2223080"/>
            <a:ext cx="466015" cy="46601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937D253-A49C-7A1E-6028-6A7DE1C43E17}"/>
              </a:ext>
            </a:extLst>
          </p:cNvPr>
          <p:cNvSpPr txBox="1"/>
          <p:nvPr/>
        </p:nvSpPr>
        <p:spPr>
          <a:xfrm>
            <a:off x="6091243" y="2121739"/>
            <a:ext cx="2148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Chennai Metro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1B4F40-E307-5406-C991-493ED25B84B5}"/>
              </a:ext>
            </a:extLst>
          </p:cNvPr>
          <p:cNvSpPr txBox="1"/>
          <p:nvPr/>
        </p:nvSpPr>
        <p:spPr>
          <a:xfrm>
            <a:off x="6109384" y="2665223"/>
            <a:ext cx="2148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West (</a:t>
            </a:r>
            <a:r>
              <a:rPr lang="en-IN" sz="1000" b="1" dirty="0" err="1">
                <a:solidFill>
                  <a:schemeClr val="bg1"/>
                </a:solidFill>
                <a:latin typeface="Avenir Next LT Pro Demi" panose="020B0704020202020204" pitchFamily="34" charset="0"/>
              </a:rPr>
              <a:t>Kongu</a:t>
            </a:r>
            <a:r>
              <a:rPr lang="en-IN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FD146D-7695-7C4E-8B72-FDE26FA1CD30}"/>
              </a:ext>
            </a:extLst>
          </p:cNvPr>
          <p:cNvSpPr txBox="1"/>
          <p:nvPr/>
        </p:nvSpPr>
        <p:spPr>
          <a:xfrm>
            <a:off x="6109384" y="3191976"/>
            <a:ext cx="2148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North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F75C36-F01B-580B-8E77-D347D5F35CFC}"/>
              </a:ext>
            </a:extLst>
          </p:cNvPr>
          <p:cNvSpPr txBox="1"/>
          <p:nvPr/>
        </p:nvSpPr>
        <p:spPr>
          <a:xfrm>
            <a:off x="6091243" y="3669704"/>
            <a:ext cx="2148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South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9317C4-DF53-FA64-A266-E6AC257A0DA2}"/>
              </a:ext>
            </a:extLst>
          </p:cNvPr>
          <p:cNvSpPr txBox="1"/>
          <p:nvPr/>
        </p:nvSpPr>
        <p:spPr>
          <a:xfrm>
            <a:off x="6091243" y="4103592"/>
            <a:ext cx="2148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Central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97BD23-E2C0-C78B-F27B-6F825AC9CA0D}"/>
              </a:ext>
            </a:extLst>
          </p:cNvPr>
          <p:cNvSpPr txBox="1"/>
          <p:nvPr/>
        </p:nvSpPr>
        <p:spPr>
          <a:xfrm>
            <a:off x="6072132" y="4535082"/>
            <a:ext cx="2148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Coastal (Delta)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59AFB9-BACA-0B4D-6870-74A3226F2F42}"/>
              </a:ext>
            </a:extLst>
          </p:cNvPr>
          <p:cNvSpPr txBox="1"/>
          <p:nvPr/>
        </p:nvSpPr>
        <p:spPr>
          <a:xfrm>
            <a:off x="8337332" y="2280325"/>
            <a:ext cx="639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93.8%</a:t>
            </a:r>
          </a:p>
          <a:p>
            <a:r>
              <a:rPr lang="en-IN" sz="8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(30 / 32)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0D7FE9-CF3A-86F0-4D23-4F4855A8411B}"/>
              </a:ext>
            </a:extLst>
          </p:cNvPr>
          <p:cNvSpPr txBox="1"/>
          <p:nvPr/>
        </p:nvSpPr>
        <p:spPr>
          <a:xfrm>
            <a:off x="8310863" y="2844934"/>
            <a:ext cx="639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latin typeface="Avenir Next LT Pro Demi" panose="020B0704020202020204" pitchFamily="34" charset="0"/>
              </a:rPr>
              <a:t>81.8%</a:t>
            </a:r>
            <a:br>
              <a:rPr lang="en-IN" sz="800" dirty="0">
                <a:latin typeface="Avenir Next LT Pro Demi" panose="020B0704020202020204" pitchFamily="34" charset="0"/>
              </a:rPr>
            </a:br>
            <a:r>
              <a:rPr lang="en-IN" sz="800" dirty="0">
                <a:latin typeface="Avenir Next LT Pro Demi" panose="020B0704020202020204" pitchFamily="34" charset="0"/>
              </a:rPr>
              <a:t>(27 / 33)</a:t>
            </a:r>
            <a:endParaRPr lang="en-IN" sz="800" b="1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451F19-4887-97EC-945C-A4AC9354E2F5}"/>
              </a:ext>
            </a:extLst>
          </p:cNvPr>
          <p:cNvSpPr txBox="1"/>
          <p:nvPr/>
        </p:nvSpPr>
        <p:spPr>
          <a:xfrm>
            <a:off x="8337332" y="3366974"/>
            <a:ext cx="639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latin typeface="Avenir Next LT Pro Demi" panose="020B0704020202020204" pitchFamily="34" charset="0"/>
              </a:rPr>
              <a:t>73.0%</a:t>
            </a:r>
            <a:br>
              <a:rPr lang="en-IN" sz="800" dirty="0">
                <a:latin typeface="Avenir Next LT Pro Demi" panose="020B0704020202020204" pitchFamily="34" charset="0"/>
              </a:rPr>
            </a:br>
            <a:r>
              <a:rPr lang="en-IN" sz="800" dirty="0">
                <a:latin typeface="Avenir Next LT Pro Demi" panose="020B0704020202020204" pitchFamily="34" charset="0"/>
              </a:rPr>
              <a:t>(27 / 37)</a:t>
            </a:r>
            <a:endParaRPr lang="en-IN" sz="800" b="1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FBBA84-2173-12E9-2E8D-3F6A766D612A}"/>
              </a:ext>
            </a:extLst>
          </p:cNvPr>
          <p:cNvSpPr txBox="1"/>
          <p:nvPr/>
        </p:nvSpPr>
        <p:spPr>
          <a:xfrm>
            <a:off x="8310863" y="3820471"/>
            <a:ext cx="639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65.5%</a:t>
            </a:r>
          </a:p>
          <a:p>
            <a:r>
              <a:rPr lang="en-IN" sz="8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(38 / 58)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D6FB19-2E88-8716-0C42-7737360C4E00}"/>
              </a:ext>
            </a:extLst>
          </p:cNvPr>
          <p:cNvSpPr txBox="1"/>
          <p:nvPr/>
        </p:nvSpPr>
        <p:spPr>
          <a:xfrm>
            <a:off x="8324098" y="4284594"/>
            <a:ext cx="639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63.4%</a:t>
            </a:r>
          </a:p>
          <a:p>
            <a:r>
              <a:rPr lang="en-IN" sz="8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(26 / 41)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331779-CB95-AF10-8489-DB26F5B27D3A}"/>
              </a:ext>
            </a:extLst>
          </p:cNvPr>
          <p:cNvSpPr txBox="1"/>
          <p:nvPr/>
        </p:nvSpPr>
        <p:spPr>
          <a:xfrm>
            <a:off x="8324098" y="4677927"/>
            <a:ext cx="639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45.5%</a:t>
            </a:r>
          </a:p>
          <a:p>
            <a:r>
              <a:rPr lang="en-IN" sz="8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(15 / 33)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441B0AF-2CB7-513A-055C-E8BE2CC9DC1E}"/>
              </a:ext>
            </a:extLst>
          </p:cNvPr>
          <p:cNvSpPr/>
          <p:nvPr/>
        </p:nvSpPr>
        <p:spPr>
          <a:xfrm>
            <a:off x="3594100" y="5078565"/>
            <a:ext cx="212881" cy="197610"/>
          </a:xfrm>
          <a:prstGeom prst="rect">
            <a:avLst/>
          </a:prstGeom>
          <a:solidFill>
            <a:srgbClr val="5B0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CD20D3E-EBAA-1DBE-FF5E-C99C8C32B7C7}"/>
              </a:ext>
            </a:extLst>
          </p:cNvPr>
          <p:cNvSpPr/>
          <p:nvPr/>
        </p:nvSpPr>
        <p:spPr>
          <a:xfrm>
            <a:off x="5303697" y="5078565"/>
            <a:ext cx="162206" cy="197610"/>
          </a:xfrm>
          <a:prstGeom prst="rect">
            <a:avLst/>
          </a:prstGeom>
          <a:solidFill>
            <a:srgbClr val="B82C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1BE2955-4F8A-B0FA-3D42-010D7EA746B1}"/>
              </a:ext>
            </a:extLst>
          </p:cNvPr>
          <p:cNvSpPr/>
          <p:nvPr/>
        </p:nvSpPr>
        <p:spPr>
          <a:xfrm>
            <a:off x="7013294" y="5078565"/>
            <a:ext cx="162206" cy="197609"/>
          </a:xfrm>
          <a:prstGeom prst="rect">
            <a:avLst/>
          </a:prstGeom>
          <a:solidFill>
            <a:srgbClr val="FC2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64EDEF-B7FB-12F5-76C0-56B24DA43842}"/>
              </a:ext>
            </a:extLst>
          </p:cNvPr>
          <p:cNvSpPr txBox="1"/>
          <p:nvPr/>
        </p:nvSpPr>
        <p:spPr>
          <a:xfrm>
            <a:off x="3913454" y="5078565"/>
            <a:ext cx="2148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High Change (≥70%)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67F91E-A36B-70C3-84EA-350E5928D840}"/>
              </a:ext>
            </a:extLst>
          </p:cNvPr>
          <p:cNvSpPr txBox="1"/>
          <p:nvPr/>
        </p:nvSpPr>
        <p:spPr>
          <a:xfrm>
            <a:off x="5479137" y="5083292"/>
            <a:ext cx="2148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Moderate (60–69%)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FC141F-5599-C714-CAE8-77AB0D00C061}"/>
              </a:ext>
            </a:extLst>
          </p:cNvPr>
          <p:cNvSpPr txBox="1"/>
          <p:nvPr/>
        </p:nvSpPr>
        <p:spPr>
          <a:xfrm>
            <a:off x="7175226" y="5074730"/>
            <a:ext cx="2148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Lower Change (&lt;60%)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01C3D5-365F-9595-F12B-4692D63E9299}"/>
              </a:ext>
            </a:extLst>
          </p:cNvPr>
          <p:cNvSpPr txBox="1"/>
          <p:nvPr/>
        </p:nvSpPr>
        <p:spPr>
          <a:xfrm>
            <a:off x="9295314" y="1692120"/>
            <a:ext cx="8809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Madurai</a:t>
            </a:r>
            <a:r>
              <a:rPr lang="en-IN" sz="800" dirty="0">
                <a:latin typeface="Avenir Next LT Pro Demi" panose="020B0704020202020204" pitchFamily="34" charset="0"/>
              </a:rPr>
              <a:t>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B976CDE-AD29-B3CF-84E9-35BE62030832}"/>
              </a:ext>
            </a:extLst>
          </p:cNvPr>
          <p:cNvSpPr txBox="1"/>
          <p:nvPr/>
        </p:nvSpPr>
        <p:spPr>
          <a:xfrm>
            <a:off x="9275390" y="1939112"/>
            <a:ext cx="8809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Tiruvallur</a:t>
            </a:r>
            <a:r>
              <a:rPr lang="en-IN" sz="10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 </a:t>
            </a:r>
            <a:endParaRPr lang="en-IN" sz="1000" dirty="0">
              <a:latin typeface="Avenir Next LT Pro Demi" panose="020B07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B6CAF6-F5E9-1C41-057A-BAE28A8D34A4}"/>
              </a:ext>
            </a:extLst>
          </p:cNvPr>
          <p:cNvSpPr txBox="1"/>
          <p:nvPr/>
        </p:nvSpPr>
        <p:spPr>
          <a:xfrm>
            <a:off x="9295314" y="2211857"/>
            <a:ext cx="8809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Vellore</a:t>
            </a:r>
            <a:r>
              <a:rPr lang="en-IN" sz="10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 </a:t>
            </a:r>
            <a:endParaRPr lang="en-IN" sz="1000" dirty="0">
              <a:latin typeface="Avenir Next LT Pro Demi" panose="020B0704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AB2E110-7439-8CBE-9D60-A9D5AD4F027E}"/>
              </a:ext>
            </a:extLst>
          </p:cNvPr>
          <p:cNvSpPr txBox="1"/>
          <p:nvPr/>
        </p:nvSpPr>
        <p:spPr>
          <a:xfrm>
            <a:off x="9273305" y="2460707"/>
            <a:ext cx="11484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Kanchipuram </a:t>
            </a:r>
            <a:endParaRPr lang="en-IN" sz="800" dirty="0">
              <a:latin typeface="Avenir Next LT Pro Demi" panose="020B07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6936889-0010-93B8-E173-F1DD51C30057}"/>
              </a:ext>
            </a:extLst>
          </p:cNvPr>
          <p:cNvSpPr txBox="1"/>
          <p:nvPr/>
        </p:nvSpPr>
        <p:spPr>
          <a:xfrm>
            <a:off x="9287292" y="2738066"/>
            <a:ext cx="10875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Coimbatore </a:t>
            </a:r>
            <a:endParaRPr lang="en-IN" sz="800" dirty="0">
              <a:latin typeface="Avenir Next LT Pro Demi" panose="020B07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FC824F-9A9D-D105-5DD6-202A659023DB}"/>
              </a:ext>
            </a:extLst>
          </p:cNvPr>
          <p:cNvGrpSpPr/>
          <p:nvPr/>
        </p:nvGrpSpPr>
        <p:grpSpPr>
          <a:xfrm>
            <a:off x="9186474" y="3009730"/>
            <a:ext cx="2416540" cy="400110"/>
            <a:chOff x="9186474" y="3009730"/>
            <a:chExt cx="2416540" cy="400110"/>
          </a:xfrm>
        </p:grpSpPr>
        <p:pic>
          <p:nvPicPr>
            <p:cNvPr id="86" name="Graphic 85" descr="Group of men with solid fill">
              <a:extLst>
                <a:ext uri="{FF2B5EF4-FFF2-40B4-BE49-F238E27FC236}">
                  <a16:creationId xmlns:a16="http://schemas.microsoft.com/office/drawing/2014/main" id="{D2B6B132-AA2D-9D9A-F07A-2AE9858A91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186474" y="3022982"/>
              <a:ext cx="262800" cy="262800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DAD7A25-B543-C9EE-C97A-F5BC8E3DED6A}"/>
                </a:ext>
              </a:extLst>
            </p:cNvPr>
            <p:cNvSpPr txBox="1"/>
            <p:nvPr/>
          </p:nvSpPr>
          <p:spPr>
            <a:xfrm>
              <a:off x="9454068" y="3009730"/>
              <a:ext cx="21489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These districts saw the most significant shifts in 2026.</a:t>
              </a:r>
              <a:endParaRPr lang="en-IN" sz="1000" b="1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45664B4-CADB-869C-D7C8-0A9ECBC7B735}"/>
              </a:ext>
            </a:extLst>
          </p:cNvPr>
          <p:cNvSpPr txBox="1"/>
          <p:nvPr/>
        </p:nvSpPr>
        <p:spPr>
          <a:xfrm>
            <a:off x="11543666" y="1689684"/>
            <a:ext cx="801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 100.0% </a:t>
            </a:r>
          </a:p>
          <a:p>
            <a:r>
              <a:rPr lang="en-IN" sz="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 (10/10)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632FF34-8B4F-C007-2F21-1320C8616BED}"/>
              </a:ext>
            </a:extLst>
          </p:cNvPr>
          <p:cNvSpPr txBox="1"/>
          <p:nvPr/>
        </p:nvSpPr>
        <p:spPr>
          <a:xfrm>
            <a:off x="11547869" y="1962378"/>
            <a:ext cx="584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100.0%   (10/10)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088EA65-6C69-DEF2-9643-98DA28419C71}"/>
              </a:ext>
            </a:extLst>
          </p:cNvPr>
          <p:cNvSpPr txBox="1"/>
          <p:nvPr/>
        </p:nvSpPr>
        <p:spPr>
          <a:xfrm>
            <a:off x="11558513" y="2176401"/>
            <a:ext cx="639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92.3%</a:t>
            </a:r>
          </a:p>
          <a:p>
            <a:r>
              <a:rPr lang="en-IN" sz="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(12/13)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5B1720F-44E9-62BC-478C-3249705B4C27}"/>
              </a:ext>
            </a:extLst>
          </p:cNvPr>
          <p:cNvSpPr txBox="1"/>
          <p:nvPr/>
        </p:nvSpPr>
        <p:spPr>
          <a:xfrm>
            <a:off x="11580108" y="2426428"/>
            <a:ext cx="639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90.9%</a:t>
            </a:r>
          </a:p>
          <a:p>
            <a:r>
              <a:rPr lang="en-IN" sz="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(10/11)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8A2772C-F233-EAAC-517C-6842B375C213}"/>
              </a:ext>
            </a:extLst>
          </p:cNvPr>
          <p:cNvSpPr txBox="1"/>
          <p:nvPr/>
        </p:nvSpPr>
        <p:spPr>
          <a:xfrm>
            <a:off x="11580454" y="2690116"/>
            <a:ext cx="488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90.0%</a:t>
            </a:r>
          </a:p>
          <a:p>
            <a:r>
              <a:rPr lang="en-IN" sz="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(9/10)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CAB76CB-FDD8-6637-5A28-5DBE0574D17C}"/>
              </a:ext>
            </a:extLst>
          </p:cNvPr>
          <p:cNvSpPr txBox="1"/>
          <p:nvPr/>
        </p:nvSpPr>
        <p:spPr>
          <a:xfrm>
            <a:off x="9394846" y="3851546"/>
            <a:ext cx="2148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Net Movement by region</a:t>
            </a:r>
          </a:p>
          <a:p>
            <a:pPr algn="ctr"/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(Which party gained the most)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7AA0B8F-BCF6-3DD2-A27F-91F97BDFF36D}"/>
              </a:ext>
            </a:extLst>
          </p:cNvPr>
          <p:cNvSpPr/>
          <p:nvPr/>
        </p:nvSpPr>
        <p:spPr>
          <a:xfrm>
            <a:off x="9246497" y="4616187"/>
            <a:ext cx="370947" cy="351652"/>
          </a:xfrm>
          <a:prstGeom prst="ellipse">
            <a:avLst/>
          </a:prstGeom>
          <a:solidFill>
            <a:srgbClr val="FC2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11641432-C909-4771-77E7-E1EB95E768BE}"/>
              </a:ext>
            </a:extLst>
          </p:cNvPr>
          <p:cNvSpPr/>
          <p:nvPr/>
        </p:nvSpPr>
        <p:spPr>
          <a:xfrm>
            <a:off x="9688878" y="4616187"/>
            <a:ext cx="370947" cy="351652"/>
          </a:xfrm>
          <a:prstGeom prst="ellipse">
            <a:avLst/>
          </a:prstGeom>
          <a:solidFill>
            <a:srgbClr val="FC2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92212F0E-6EC1-A21C-A419-24B226909D51}"/>
              </a:ext>
            </a:extLst>
          </p:cNvPr>
          <p:cNvSpPr/>
          <p:nvPr/>
        </p:nvSpPr>
        <p:spPr>
          <a:xfrm>
            <a:off x="10131259" y="4616187"/>
            <a:ext cx="370947" cy="351652"/>
          </a:xfrm>
          <a:prstGeom prst="ellipse">
            <a:avLst/>
          </a:prstGeom>
          <a:solidFill>
            <a:srgbClr val="FC2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D51CB3F2-6159-6B36-B9C6-EC1BBD31BAB6}"/>
              </a:ext>
            </a:extLst>
          </p:cNvPr>
          <p:cNvSpPr/>
          <p:nvPr/>
        </p:nvSpPr>
        <p:spPr>
          <a:xfrm>
            <a:off x="10573640" y="4616187"/>
            <a:ext cx="370947" cy="351652"/>
          </a:xfrm>
          <a:prstGeom prst="ellipse">
            <a:avLst/>
          </a:prstGeom>
          <a:solidFill>
            <a:srgbClr val="FC2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9011552F-BB32-60B1-5658-818015AE75A8}"/>
              </a:ext>
            </a:extLst>
          </p:cNvPr>
          <p:cNvSpPr/>
          <p:nvPr/>
        </p:nvSpPr>
        <p:spPr>
          <a:xfrm>
            <a:off x="11016021" y="4616187"/>
            <a:ext cx="370947" cy="351652"/>
          </a:xfrm>
          <a:prstGeom prst="ellipse">
            <a:avLst/>
          </a:prstGeom>
          <a:solidFill>
            <a:srgbClr val="FC2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FEA24D2-ED8A-1794-0A85-346AF04648B0}"/>
              </a:ext>
            </a:extLst>
          </p:cNvPr>
          <p:cNvSpPr/>
          <p:nvPr/>
        </p:nvSpPr>
        <p:spPr>
          <a:xfrm>
            <a:off x="11458402" y="4616187"/>
            <a:ext cx="370947" cy="351652"/>
          </a:xfrm>
          <a:prstGeom prst="ellipse">
            <a:avLst/>
          </a:prstGeom>
          <a:solidFill>
            <a:srgbClr val="FC2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701F63B-F8BA-9A4F-CE52-098461380A84}"/>
              </a:ext>
            </a:extLst>
          </p:cNvPr>
          <p:cNvSpPr txBox="1"/>
          <p:nvPr/>
        </p:nvSpPr>
        <p:spPr>
          <a:xfrm>
            <a:off x="9273305" y="1407375"/>
            <a:ext cx="254088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Most volatile districts</a:t>
            </a:r>
          </a:p>
          <a:p>
            <a:pPr algn="ctr"/>
            <a:r>
              <a:rPr lang="en-IN" sz="7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(Share of constituencies flipped)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68C4A23-600E-B48F-0718-7BCB7250DAFC}"/>
              </a:ext>
            </a:extLst>
          </p:cNvPr>
          <p:cNvSpPr txBox="1"/>
          <p:nvPr/>
        </p:nvSpPr>
        <p:spPr>
          <a:xfrm>
            <a:off x="9121591" y="4337639"/>
            <a:ext cx="559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Central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F71EAF8-969C-43C0-B67F-8C989357C5CD}"/>
              </a:ext>
            </a:extLst>
          </p:cNvPr>
          <p:cNvSpPr txBox="1"/>
          <p:nvPr/>
        </p:nvSpPr>
        <p:spPr>
          <a:xfrm>
            <a:off x="9596788" y="4278132"/>
            <a:ext cx="60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Chennai Metro</a:t>
            </a:r>
          </a:p>
          <a:p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48F6858-AE86-49E5-6EB1-657C1985D756}"/>
              </a:ext>
            </a:extLst>
          </p:cNvPr>
          <p:cNvSpPr txBox="1"/>
          <p:nvPr/>
        </p:nvSpPr>
        <p:spPr>
          <a:xfrm>
            <a:off x="10070518" y="4278132"/>
            <a:ext cx="608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Coastal (Delta)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5AB811E-38C5-D809-793B-F63638955C22}"/>
              </a:ext>
            </a:extLst>
          </p:cNvPr>
          <p:cNvSpPr txBox="1"/>
          <p:nvPr/>
        </p:nvSpPr>
        <p:spPr>
          <a:xfrm>
            <a:off x="10527760" y="4264644"/>
            <a:ext cx="608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West (</a:t>
            </a:r>
            <a:r>
              <a:rPr lang="en-IN" sz="800" b="1" dirty="0" err="1">
                <a:solidFill>
                  <a:schemeClr val="bg1"/>
                </a:solidFill>
                <a:latin typeface="Avenir Next LT Pro Demi" panose="020B0704020202020204" pitchFamily="34" charset="0"/>
              </a:rPr>
              <a:t>Kongu</a:t>
            </a:r>
            <a:r>
              <a:rPr lang="en-IN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068F771-EF35-D53D-95C7-038A2314A167}"/>
              </a:ext>
            </a:extLst>
          </p:cNvPr>
          <p:cNvSpPr txBox="1"/>
          <p:nvPr/>
        </p:nvSpPr>
        <p:spPr>
          <a:xfrm>
            <a:off x="10971476" y="4386874"/>
            <a:ext cx="608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North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44A038E-7DB0-8775-0593-741E8BF2D967}"/>
              </a:ext>
            </a:extLst>
          </p:cNvPr>
          <p:cNvSpPr txBox="1"/>
          <p:nvPr/>
        </p:nvSpPr>
        <p:spPr>
          <a:xfrm>
            <a:off x="11428718" y="4372081"/>
            <a:ext cx="608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South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90A6091-0D22-95C3-6882-FE765DDC1572}"/>
              </a:ext>
            </a:extLst>
          </p:cNvPr>
          <p:cNvSpPr txBox="1"/>
          <p:nvPr/>
        </p:nvSpPr>
        <p:spPr>
          <a:xfrm>
            <a:off x="9246497" y="4688227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TVK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C758A2E-EF3F-CE37-CE9D-1F17DBA2673E}"/>
              </a:ext>
            </a:extLst>
          </p:cNvPr>
          <p:cNvSpPr txBox="1"/>
          <p:nvPr/>
        </p:nvSpPr>
        <p:spPr>
          <a:xfrm>
            <a:off x="9688878" y="4673664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TVK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2C61C73-7E5F-EF32-772C-996940F595E3}"/>
              </a:ext>
            </a:extLst>
          </p:cNvPr>
          <p:cNvSpPr txBox="1"/>
          <p:nvPr/>
        </p:nvSpPr>
        <p:spPr>
          <a:xfrm>
            <a:off x="10126415" y="4680230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TVK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91CCAF3-5BA8-F635-725D-BFCAD84B27D1}"/>
              </a:ext>
            </a:extLst>
          </p:cNvPr>
          <p:cNvSpPr txBox="1"/>
          <p:nvPr/>
        </p:nvSpPr>
        <p:spPr>
          <a:xfrm>
            <a:off x="10563211" y="4664009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TVK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8E62BCC-7296-E522-D96A-BDFECC998FBE}"/>
              </a:ext>
            </a:extLst>
          </p:cNvPr>
          <p:cNvSpPr txBox="1"/>
          <p:nvPr/>
        </p:nvSpPr>
        <p:spPr>
          <a:xfrm>
            <a:off x="11000007" y="4663129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TVK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B330B12-6934-C61D-1D5D-FEC19D77C7EC}"/>
              </a:ext>
            </a:extLst>
          </p:cNvPr>
          <p:cNvSpPr txBox="1"/>
          <p:nvPr/>
        </p:nvSpPr>
        <p:spPr>
          <a:xfrm>
            <a:off x="11436803" y="4662249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TVK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4DEF17A-4CAE-6CDC-C141-1CD42A5A97E2}"/>
              </a:ext>
            </a:extLst>
          </p:cNvPr>
          <p:cNvSpPr txBox="1"/>
          <p:nvPr/>
        </p:nvSpPr>
        <p:spPr>
          <a:xfrm>
            <a:off x="9232064" y="4987181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+12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45BB7DA-7370-16DE-2B44-3968370B2ED0}"/>
              </a:ext>
            </a:extLst>
          </p:cNvPr>
          <p:cNvSpPr txBox="1"/>
          <p:nvPr/>
        </p:nvSpPr>
        <p:spPr>
          <a:xfrm>
            <a:off x="9676517" y="4975264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+29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762E6B8-4AB5-94E4-4808-781C79F1C5AC}"/>
              </a:ext>
            </a:extLst>
          </p:cNvPr>
          <p:cNvSpPr txBox="1"/>
          <p:nvPr/>
        </p:nvSpPr>
        <p:spPr>
          <a:xfrm>
            <a:off x="10120970" y="4963347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+10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A6BAD90-8112-5907-0EBF-C6018A5E659C}"/>
              </a:ext>
            </a:extLst>
          </p:cNvPr>
          <p:cNvSpPr txBox="1"/>
          <p:nvPr/>
        </p:nvSpPr>
        <p:spPr>
          <a:xfrm>
            <a:off x="10565423" y="4951430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+16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5C30FE8-C45C-EF6F-12AA-556D5A248358}"/>
              </a:ext>
            </a:extLst>
          </p:cNvPr>
          <p:cNvSpPr txBox="1"/>
          <p:nvPr/>
        </p:nvSpPr>
        <p:spPr>
          <a:xfrm>
            <a:off x="11009876" y="4939513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+15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64F5F8F-5E07-A736-FE3C-7FDB06F5DCC8}"/>
              </a:ext>
            </a:extLst>
          </p:cNvPr>
          <p:cNvSpPr txBox="1"/>
          <p:nvPr/>
        </p:nvSpPr>
        <p:spPr>
          <a:xfrm>
            <a:off x="11454329" y="4927596"/>
            <a:ext cx="399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+26</a:t>
            </a:r>
            <a:endParaRPr lang="en-IN" sz="8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5D2DD89-43D7-EE57-605C-8A30BBECED48}"/>
              </a:ext>
            </a:extLst>
          </p:cNvPr>
          <p:cNvSpPr txBox="1"/>
          <p:nvPr/>
        </p:nvSpPr>
        <p:spPr>
          <a:xfrm>
            <a:off x="9566307" y="5193287"/>
            <a:ext cx="2235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TVK is the net gainer in all regions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51257EC-559A-8561-81C6-43428BCDE763}"/>
              </a:ext>
            </a:extLst>
          </p:cNvPr>
          <p:cNvSpPr txBox="1"/>
          <p:nvPr/>
        </p:nvSpPr>
        <p:spPr>
          <a:xfrm>
            <a:off x="4151582" y="5819027"/>
            <a:ext cx="277991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Electoral change was concentrated in specific regions.</a:t>
            </a:r>
          </a:p>
          <a:p>
            <a:r>
              <a:rPr lang="en-US" sz="10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Kongu (West) </a:t>
            </a:r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and </a:t>
            </a:r>
            <a:r>
              <a:rPr lang="en-US" sz="10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North</a:t>
            </a:r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 recorded the strongest shifts. </a:t>
            </a:r>
          </a:p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Coastal (Delta) remained relatively stable.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E51AA3A-1FF2-F1B9-467C-56F0FE943334}"/>
              </a:ext>
            </a:extLst>
          </p:cNvPr>
          <p:cNvSpPr txBox="1"/>
          <p:nvPr/>
        </p:nvSpPr>
        <p:spPr>
          <a:xfrm>
            <a:off x="7373643" y="5842553"/>
            <a:ext cx="2235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Regional dynamics played a critical role in shaping the2026 outcome.</a:t>
            </a:r>
          </a:p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Not every region moved in the same way.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170636E-3A0C-5DBF-EB8B-8694A497AA6E}"/>
              </a:ext>
            </a:extLst>
          </p:cNvPr>
          <p:cNvSpPr txBox="1"/>
          <p:nvPr/>
        </p:nvSpPr>
        <p:spPr>
          <a:xfrm>
            <a:off x="10073313" y="5811690"/>
            <a:ext cx="2235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Understanding regional</a:t>
            </a:r>
            <a:b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</a:br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patterns helps decode the</a:t>
            </a:r>
            <a:b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</a:br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drivers behind the</a:t>
            </a:r>
            <a:b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</a:br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statewide result.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BA9A395-4A68-701B-958F-C3BC66B5F16E}"/>
              </a:ext>
            </a:extLst>
          </p:cNvPr>
          <p:cNvSpPr txBox="1"/>
          <p:nvPr/>
        </p:nvSpPr>
        <p:spPr>
          <a:xfrm>
            <a:off x="9663483" y="5581945"/>
            <a:ext cx="214894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Why it Matters</a:t>
            </a:r>
          </a:p>
          <a:p>
            <a:pPr algn="ctr"/>
            <a:endParaRPr lang="en-IN" sz="9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B971CEA-173B-A517-0739-6EA2F08E12D2}"/>
              </a:ext>
            </a:extLst>
          </p:cNvPr>
          <p:cNvSpPr txBox="1"/>
          <p:nvPr/>
        </p:nvSpPr>
        <p:spPr>
          <a:xfrm>
            <a:off x="7351567" y="5575767"/>
            <a:ext cx="2148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What this means</a:t>
            </a:r>
            <a:endParaRPr lang="en-IN" sz="9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6CB72DB-0B9C-0EB3-FE9C-12D7928B9F83}"/>
              </a:ext>
            </a:extLst>
          </p:cNvPr>
          <p:cNvSpPr txBox="1"/>
          <p:nvPr/>
        </p:nvSpPr>
        <p:spPr>
          <a:xfrm>
            <a:off x="3755785" y="5554058"/>
            <a:ext cx="2148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Key takeaway</a:t>
            </a:r>
            <a:endParaRPr lang="en-IN" sz="9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59" name="Graphic 158" descr="Lightbulb and gear with solid fill">
            <a:extLst>
              <a:ext uri="{FF2B5EF4-FFF2-40B4-BE49-F238E27FC236}">
                <a16:creationId xmlns:a16="http://schemas.microsoft.com/office/drawing/2014/main" id="{4C297EFA-AD7B-546B-91A6-1953D73813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04736" y="5839498"/>
            <a:ext cx="743231" cy="743231"/>
          </a:xfrm>
          <a:prstGeom prst="rect">
            <a:avLst/>
          </a:prstGeom>
        </p:spPr>
      </p:pic>
      <p:pic>
        <p:nvPicPr>
          <p:cNvPr id="160" name="Graphic 159" descr="Bullseye with solid fill">
            <a:extLst>
              <a:ext uri="{FF2B5EF4-FFF2-40B4-BE49-F238E27FC236}">
                <a16:creationId xmlns:a16="http://schemas.microsoft.com/office/drawing/2014/main" id="{9E118FF7-0AFF-E72A-7A9C-5553C6085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74241" y="5931072"/>
            <a:ext cx="557885" cy="557885"/>
          </a:xfrm>
          <a:prstGeom prst="rect">
            <a:avLst/>
          </a:prstGeom>
        </p:spPr>
      </p:pic>
      <p:pic>
        <p:nvPicPr>
          <p:cNvPr id="161" name="Graphic 160" descr="Bar graph with upward trend with solid fill">
            <a:extLst>
              <a:ext uri="{FF2B5EF4-FFF2-40B4-BE49-F238E27FC236}">
                <a16:creationId xmlns:a16="http://schemas.microsoft.com/office/drawing/2014/main" id="{9498A0A9-F6A2-FEA6-C760-79C810B7E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3639" y="5882042"/>
            <a:ext cx="517320" cy="5173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7FE0F9-5379-26E6-B6E6-8C37E2EA5EB4}"/>
              </a:ext>
            </a:extLst>
          </p:cNvPr>
          <p:cNvSpPr/>
          <p:nvPr/>
        </p:nvSpPr>
        <p:spPr>
          <a:xfrm>
            <a:off x="645203" y="103240"/>
            <a:ext cx="1692056" cy="2693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Geographic Story</a:t>
            </a:r>
            <a:endParaRPr lang="en-IN" sz="1400" dirty="0">
              <a:latin typeface="Avenir Next LT Pro Demi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9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15FD-C2CA-3660-8BCF-563D3D77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28B57749-27D5-5F48-D9CF-134F63B56361}"/>
              </a:ext>
            </a:extLst>
          </p:cNvPr>
          <p:cNvSpPr/>
          <p:nvPr/>
        </p:nvSpPr>
        <p:spPr>
          <a:xfrm>
            <a:off x="8969543" y="1385505"/>
            <a:ext cx="3103631" cy="2182773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018B7C63-B2D6-C23D-F1B4-44CA6A2A327D}"/>
              </a:ext>
            </a:extLst>
          </p:cNvPr>
          <p:cNvSpPr/>
          <p:nvPr/>
        </p:nvSpPr>
        <p:spPr>
          <a:xfrm>
            <a:off x="3216744" y="1398723"/>
            <a:ext cx="5631981" cy="3997364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2B34B1B-4CE6-F592-2EC4-B9CB2ED47DF9}"/>
              </a:ext>
            </a:extLst>
          </p:cNvPr>
          <p:cNvGrpSpPr/>
          <p:nvPr/>
        </p:nvGrpSpPr>
        <p:grpSpPr>
          <a:xfrm>
            <a:off x="6092760" y="171193"/>
            <a:ext cx="5976477" cy="1146196"/>
            <a:chOff x="6092761" y="171193"/>
            <a:chExt cx="5768333" cy="1146196"/>
          </a:xfrm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297C4EAE-5D40-F2FD-7D96-25BC56470732}"/>
                </a:ext>
              </a:extLst>
            </p:cNvPr>
            <p:cNvSpPr/>
            <p:nvPr/>
          </p:nvSpPr>
          <p:spPr>
            <a:xfrm>
              <a:off x="6092761" y="199461"/>
              <a:ext cx="260791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E8BCFA07-70B6-8269-4376-D5751823987F}"/>
                </a:ext>
              </a:extLst>
            </p:cNvPr>
            <p:cNvSpPr/>
            <p:nvPr/>
          </p:nvSpPr>
          <p:spPr>
            <a:xfrm>
              <a:off x="9049135" y="171193"/>
              <a:ext cx="281195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D4C55B-73C1-7A84-7892-276413742351}"/>
                </a:ext>
              </a:extLst>
            </p:cNvPr>
            <p:cNvGrpSpPr/>
            <p:nvPr/>
          </p:nvGrpSpPr>
          <p:grpSpPr>
            <a:xfrm>
              <a:off x="6911569" y="256315"/>
              <a:ext cx="4769744" cy="906771"/>
              <a:chOff x="6979775" y="266094"/>
              <a:chExt cx="4769744" cy="906771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B0BED54-3E00-EA26-EA9D-02B4413ED828}"/>
                  </a:ext>
                </a:extLst>
              </p:cNvPr>
              <p:cNvSpPr txBox="1"/>
              <p:nvPr/>
            </p:nvSpPr>
            <p:spPr>
              <a:xfrm>
                <a:off x="6979775" y="266094"/>
                <a:ext cx="6886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3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95267C4-3F99-DC26-9688-0E62EA448477}"/>
                  </a:ext>
                </a:extLst>
              </p:cNvPr>
              <p:cNvSpPr txBox="1"/>
              <p:nvPr/>
            </p:nvSpPr>
            <p:spPr>
              <a:xfrm>
                <a:off x="6987344" y="711200"/>
                <a:ext cx="15130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Regions Led By TVK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DB29A3F-7C6D-6806-1928-27E7F50A7205}"/>
                  </a:ext>
                </a:extLst>
              </p:cNvPr>
              <p:cNvSpPr txBox="1"/>
              <p:nvPr/>
            </p:nvSpPr>
            <p:spPr>
              <a:xfrm>
                <a:off x="10042830" y="316549"/>
                <a:ext cx="13582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234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A70024B-A38C-2580-72CF-EDF2F82E4C5C}"/>
                  </a:ext>
                </a:extLst>
              </p:cNvPr>
              <p:cNvSpPr txBox="1"/>
              <p:nvPr/>
            </p:nvSpPr>
            <p:spPr>
              <a:xfrm>
                <a:off x="10020412" y="747605"/>
                <a:ext cx="17291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Total Seats Observed</a:t>
                </a:r>
              </a:p>
            </p:txBody>
          </p:sp>
        </p:grp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53D9D8-9038-3ABB-0B7C-5E6C4BA64222}"/>
              </a:ext>
            </a:extLst>
          </p:cNvPr>
          <p:cNvSpPr/>
          <p:nvPr/>
        </p:nvSpPr>
        <p:spPr>
          <a:xfrm>
            <a:off x="3216744" y="5528999"/>
            <a:ext cx="8852493" cy="1236606"/>
          </a:xfrm>
          <a:prstGeom prst="roundRect">
            <a:avLst>
              <a:gd name="adj" fmla="val 11077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rgbClr val="EEC1E9">
                  <a:alpha val="51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460D7A5-B395-5E39-499D-F5E63F867A7D}"/>
              </a:ext>
            </a:extLst>
          </p:cNvPr>
          <p:cNvSpPr/>
          <p:nvPr/>
        </p:nvSpPr>
        <p:spPr>
          <a:xfrm>
            <a:off x="271404" y="181047"/>
            <a:ext cx="2697584" cy="6485223"/>
          </a:xfrm>
          <a:prstGeom prst="roundRect">
            <a:avLst>
              <a:gd name="adj" fmla="val 2097"/>
            </a:avLst>
          </a:prstGeom>
          <a:gradFill>
            <a:gsLst>
              <a:gs pos="0">
                <a:srgbClr val="7D2277"/>
              </a:gs>
              <a:gs pos="48000">
                <a:schemeClr val="accent5">
                  <a:lumMod val="75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pic>
        <p:nvPicPr>
          <p:cNvPr id="78" name="Graphic 77" descr="Group of men with solid fill">
            <a:extLst>
              <a:ext uri="{FF2B5EF4-FFF2-40B4-BE49-F238E27FC236}">
                <a16:creationId xmlns:a16="http://schemas.microsoft.com/office/drawing/2014/main" id="{2E50843F-04CE-F020-E2E0-A1C27A2EF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8252" y="317690"/>
            <a:ext cx="716400" cy="716400"/>
          </a:xfrm>
          <a:prstGeom prst="rect">
            <a:avLst/>
          </a:prstGeom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278F362-D294-E6D6-CB7A-F9A36BCB5271}"/>
              </a:ext>
            </a:extLst>
          </p:cNvPr>
          <p:cNvGrpSpPr/>
          <p:nvPr/>
        </p:nvGrpSpPr>
        <p:grpSpPr>
          <a:xfrm>
            <a:off x="334095" y="433432"/>
            <a:ext cx="3682392" cy="3883535"/>
            <a:chOff x="241909" y="344468"/>
            <a:chExt cx="4006536" cy="3883535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33E72DE-A18A-7B68-F383-FF1F23622B08}"/>
                </a:ext>
              </a:extLst>
            </p:cNvPr>
            <p:cNvSpPr txBox="1"/>
            <p:nvPr/>
          </p:nvSpPr>
          <p:spPr>
            <a:xfrm>
              <a:off x="241909" y="344468"/>
              <a:ext cx="40065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Story 02 Findings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E48C094-6F8A-0E30-E6F0-C912A98DA917}"/>
                </a:ext>
              </a:extLst>
            </p:cNvPr>
            <p:cNvSpPr txBox="1"/>
            <p:nvPr/>
          </p:nvSpPr>
          <p:spPr>
            <a:xfrm>
              <a:off x="272335" y="1123307"/>
              <a:ext cx="24793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venir Next LT Pro Demi" panose="020B0704020202020204" pitchFamily="34" charset="0"/>
                </a:rPr>
                <a:t>Who Controlled the Regions?</a:t>
              </a:r>
              <a:endParaRPr lang="en-IN" sz="1600" dirty="0">
                <a:solidFill>
                  <a:schemeClr val="accent5">
                    <a:lumMod val="75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582794F-D276-726E-E221-B734390E979A}"/>
                </a:ext>
              </a:extLst>
            </p:cNvPr>
            <p:cNvSpPr txBox="1"/>
            <p:nvPr/>
          </p:nvSpPr>
          <p:spPr>
            <a:xfrm>
              <a:off x="300725" y="2209813"/>
              <a:ext cx="2577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What we Observed?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D72EC21-6636-D361-936F-DB6969BE2DF5}"/>
                </a:ext>
              </a:extLst>
            </p:cNvPr>
            <p:cNvSpPr txBox="1"/>
            <p:nvPr/>
          </p:nvSpPr>
          <p:spPr>
            <a:xfrm>
              <a:off x="648616" y="2658343"/>
              <a:ext cx="237066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TVK</a:t>
              </a:r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 emerged as the largest regional winner.</a:t>
              </a:r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b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</a:br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Delta remained more resistant to change.</a:t>
              </a:r>
            </a:p>
            <a:p>
              <a:endParaRPr lang="en-US" sz="1200" dirty="0">
                <a:solidFill>
                  <a:schemeClr val="bg2"/>
                </a:solidFill>
                <a:latin typeface="Avenir Next LT Pro Demi" panose="020B0704020202020204" pitchFamily="34" charset="0"/>
              </a:endParaRPr>
            </a:p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AIADMK</a:t>
              </a:r>
              <a:r>
                <a:rPr lang="en-US" sz="12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 retained strength in selected territories.</a:t>
              </a:r>
              <a:endParaRPr lang="en-IN" sz="1200" dirty="0">
                <a:solidFill>
                  <a:schemeClr val="bg2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1800C0-36EF-1AF1-45CA-2EF7AD337706}"/>
                </a:ext>
              </a:extLst>
            </p:cNvPr>
            <p:cNvSpPr txBox="1"/>
            <p:nvPr/>
          </p:nvSpPr>
          <p:spPr>
            <a:xfrm>
              <a:off x="300725" y="1665745"/>
              <a:ext cx="24793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Understanding which parties benefited across regions.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AEB70C5-37E9-F9FE-A5DF-B185565C0F44}"/>
              </a:ext>
            </a:extLst>
          </p:cNvPr>
          <p:cNvGrpSpPr/>
          <p:nvPr/>
        </p:nvGrpSpPr>
        <p:grpSpPr>
          <a:xfrm>
            <a:off x="3216744" y="199461"/>
            <a:ext cx="2733463" cy="1117928"/>
            <a:chOff x="3216744" y="199461"/>
            <a:chExt cx="2733463" cy="1117928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3F6EFBAE-6B33-583B-69B8-753A9CB3D73B}"/>
                </a:ext>
              </a:extLst>
            </p:cNvPr>
            <p:cNvSpPr/>
            <p:nvPr/>
          </p:nvSpPr>
          <p:spPr>
            <a:xfrm>
              <a:off x="3216744" y="199461"/>
              <a:ext cx="2733463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D46B41DC-53D0-460D-5C39-1BA1FB8CD5DE}"/>
                </a:ext>
              </a:extLst>
            </p:cNvPr>
            <p:cNvGrpSpPr/>
            <p:nvPr/>
          </p:nvGrpSpPr>
          <p:grpSpPr>
            <a:xfrm>
              <a:off x="4117769" y="281259"/>
              <a:ext cx="1513031" cy="694008"/>
              <a:chOff x="4100992" y="266558"/>
              <a:chExt cx="1513031" cy="694008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F9D3A7E-20BC-F6D6-899F-CDD6FC3BBE80}"/>
                  </a:ext>
                </a:extLst>
              </p:cNvPr>
              <p:cNvSpPr txBox="1"/>
              <p:nvPr/>
            </p:nvSpPr>
            <p:spPr>
              <a:xfrm>
                <a:off x="4105539" y="266558"/>
                <a:ext cx="12519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6</a:t>
                </a:r>
                <a:endParaRPr lang="en-IN" sz="28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32544BE-0212-B8F2-707D-20E4B860FFC4}"/>
                  </a:ext>
                </a:extLst>
              </p:cNvPr>
              <p:cNvSpPr txBox="1"/>
              <p:nvPr/>
            </p:nvSpPr>
            <p:spPr>
              <a:xfrm>
                <a:off x="4100992" y="683567"/>
                <a:ext cx="15130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Regions  Analysed</a:t>
                </a:r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F12B3B46-7441-09E8-C6AA-AACBBA71D5C3}"/>
              </a:ext>
            </a:extLst>
          </p:cNvPr>
          <p:cNvSpPr txBox="1"/>
          <p:nvPr/>
        </p:nvSpPr>
        <p:spPr>
          <a:xfrm>
            <a:off x="4051582" y="1461913"/>
            <a:ext cx="4365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Regional Party Dominance (2026)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Winning formation distribution by region</a:t>
            </a:r>
            <a:endParaRPr lang="en-IN" sz="12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CD4DB2-9AA1-D640-E85B-6672DF9B0B6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6000"/>
          </a:blip>
          <a:stretch>
            <a:fillRect/>
          </a:stretch>
        </p:blipFill>
        <p:spPr>
          <a:xfrm>
            <a:off x="258689" y="4550205"/>
            <a:ext cx="2718813" cy="2116065"/>
          </a:xfrm>
          <a:prstGeom prst="rect">
            <a:avLst/>
          </a:prstGeom>
          <a:effectLst/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D91A17-150F-A9C6-C131-091E4D9D5AE7}"/>
              </a:ext>
            </a:extLst>
          </p:cNvPr>
          <p:cNvSpPr/>
          <p:nvPr/>
        </p:nvSpPr>
        <p:spPr>
          <a:xfrm>
            <a:off x="8969543" y="3617336"/>
            <a:ext cx="3095238" cy="1445565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42FD830-4BE0-336C-238F-DD4FFA5AD1FF}"/>
              </a:ext>
            </a:extLst>
          </p:cNvPr>
          <p:cNvSpPr txBox="1"/>
          <p:nvPr/>
        </p:nvSpPr>
        <p:spPr>
          <a:xfrm>
            <a:off x="9342081" y="1438887"/>
            <a:ext cx="2540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Leading Party By Region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6FB705E-E562-1184-0A7D-226BC1C77A1C}"/>
              </a:ext>
            </a:extLst>
          </p:cNvPr>
          <p:cNvSpPr txBox="1"/>
          <p:nvPr/>
        </p:nvSpPr>
        <p:spPr>
          <a:xfrm>
            <a:off x="4121588" y="5849320"/>
            <a:ext cx="3027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TVK became the dominant</a:t>
            </a:r>
          </a:p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regional beneficiary,</a:t>
            </a:r>
          </a:p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but gains were not</a:t>
            </a:r>
          </a:p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uniform across Tamil Nadu.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01462B6-6F87-0722-5A8B-9F43D499212A}"/>
              </a:ext>
            </a:extLst>
          </p:cNvPr>
          <p:cNvSpPr txBox="1"/>
          <p:nvPr/>
        </p:nvSpPr>
        <p:spPr>
          <a:xfrm>
            <a:off x="7234963" y="5888086"/>
            <a:ext cx="2235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Electoral concentration explains why statewide results alone can be misleading.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8088FF9-431A-1492-0998-DFC3E1CA240A}"/>
              </a:ext>
            </a:extLst>
          </p:cNvPr>
          <p:cNvSpPr txBox="1"/>
          <p:nvPr/>
        </p:nvSpPr>
        <p:spPr>
          <a:xfrm>
            <a:off x="10059825" y="5857325"/>
            <a:ext cx="19967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Regional dynamics reveal where political momentum actually shifted.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4E55397-C843-3794-B1A0-E647A6A28698}"/>
              </a:ext>
            </a:extLst>
          </p:cNvPr>
          <p:cNvSpPr txBox="1"/>
          <p:nvPr/>
        </p:nvSpPr>
        <p:spPr>
          <a:xfrm>
            <a:off x="9668353" y="5562392"/>
            <a:ext cx="214894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Why it Matters</a:t>
            </a:r>
          </a:p>
          <a:p>
            <a:pPr algn="ctr"/>
            <a:endParaRPr lang="en-IN" sz="9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24D5492-BD02-29E9-D74A-479CE353B741}"/>
              </a:ext>
            </a:extLst>
          </p:cNvPr>
          <p:cNvSpPr txBox="1"/>
          <p:nvPr/>
        </p:nvSpPr>
        <p:spPr>
          <a:xfrm>
            <a:off x="6905639" y="5591579"/>
            <a:ext cx="2148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What this means</a:t>
            </a:r>
            <a:endParaRPr lang="en-IN" sz="9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0E772E1-7FD2-C2CB-3DBA-E9A51F85559E}"/>
              </a:ext>
            </a:extLst>
          </p:cNvPr>
          <p:cNvSpPr txBox="1"/>
          <p:nvPr/>
        </p:nvSpPr>
        <p:spPr>
          <a:xfrm>
            <a:off x="3706204" y="5551084"/>
            <a:ext cx="2148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Key takeaway</a:t>
            </a:r>
            <a:endParaRPr lang="en-IN" sz="9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59" name="Graphic 158" descr="Lightbulb and gear with solid fill">
            <a:extLst>
              <a:ext uri="{FF2B5EF4-FFF2-40B4-BE49-F238E27FC236}">
                <a16:creationId xmlns:a16="http://schemas.microsoft.com/office/drawing/2014/main" id="{46F14EF3-0206-23DD-819B-30BE375BB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4736" y="5839498"/>
            <a:ext cx="743231" cy="743231"/>
          </a:xfrm>
          <a:prstGeom prst="rect">
            <a:avLst/>
          </a:prstGeom>
        </p:spPr>
      </p:pic>
      <p:pic>
        <p:nvPicPr>
          <p:cNvPr id="160" name="Graphic 159" descr="Bullseye with solid fill">
            <a:extLst>
              <a:ext uri="{FF2B5EF4-FFF2-40B4-BE49-F238E27FC236}">
                <a16:creationId xmlns:a16="http://schemas.microsoft.com/office/drawing/2014/main" id="{1117DDB2-CAE3-A318-1874-DEF1A26D2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9803" y="5884199"/>
            <a:ext cx="557885" cy="557885"/>
          </a:xfrm>
          <a:prstGeom prst="rect">
            <a:avLst/>
          </a:prstGeom>
        </p:spPr>
      </p:pic>
      <p:pic>
        <p:nvPicPr>
          <p:cNvPr id="161" name="Graphic 160" descr="Bar graph with upward trend with solid fill">
            <a:extLst>
              <a:ext uri="{FF2B5EF4-FFF2-40B4-BE49-F238E27FC236}">
                <a16:creationId xmlns:a16="http://schemas.microsoft.com/office/drawing/2014/main" id="{0F3DD6C5-D5A3-C83D-FA08-09A726E29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68651" y="5884199"/>
            <a:ext cx="517320" cy="517320"/>
          </a:xfrm>
          <a:prstGeom prst="rect">
            <a:avLst/>
          </a:prstGeom>
        </p:spPr>
      </p:pic>
      <p:pic>
        <p:nvPicPr>
          <p:cNvPr id="2" name="Graphic 1" descr="Group of men with solid fill">
            <a:extLst>
              <a:ext uri="{FF2B5EF4-FFF2-40B4-BE49-F238E27FC236}">
                <a16:creationId xmlns:a16="http://schemas.microsoft.com/office/drawing/2014/main" id="{D98A132E-D021-A848-F050-3418E3955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1697" y="2726889"/>
            <a:ext cx="366201" cy="366201"/>
          </a:xfrm>
          <a:prstGeom prst="rect">
            <a:avLst/>
          </a:prstGeom>
        </p:spPr>
      </p:pic>
      <p:pic>
        <p:nvPicPr>
          <p:cNvPr id="3" name="Graphic 2" descr="Shield Tick with solid fill">
            <a:extLst>
              <a:ext uri="{FF2B5EF4-FFF2-40B4-BE49-F238E27FC236}">
                <a16:creationId xmlns:a16="http://schemas.microsoft.com/office/drawing/2014/main" id="{DFADDA5E-FA9B-E4B9-E725-B9D9D913F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7780" y="3281780"/>
            <a:ext cx="414034" cy="414034"/>
          </a:xfrm>
          <a:prstGeom prst="rect">
            <a:avLst/>
          </a:prstGeom>
        </p:spPr>
      </p:pic>
      <p:pic>
        <p:nvPicPr>
          <p:cNvPr id="6" name="Graphic 5" descr="Bank outline">
            <a:extLst>
              <a:ext uri="{FF2B5EF4-FFF2-40B4-BE49-F238E27FC236}">
                <a16:creationId xmlns:a16="http://schemas.microsoft.com/office/drawing/2014/main" id="{ACD7203F-51B9-A5D6-1250-49C819B89C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4470" y="3812433"/>
            <a:ext cx="396240" cy="396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3ED993-742B-CA3D-25FB-0F844AFCA957}"/>
              </a:ext>
            </a:extLst>
          </p:cNvPr>
          <p:cNvSpPr txBox="1"/>
          <p:nvPr/>
        </p:nvSpPr>
        <p:spPr>
          <a:xfrm>
            <a:off x="9215197" y="3643448"/>
            <a:ext cx="2540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Most Competitive Region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610E02-0264-7EEF-7D87-2D83B1B5C87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5834" b="24379"/>
          <a:stretch>
            <a:fillRect/>
          </a:stretch>
        </p:blipFill>
        <p:spPr>
          <a:xfrm>
            <a:off x="8271949" y="1252588"/>
            <a:ext cx="1699431" cy="19752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F3C711B-67A6-EA3E-9862-86ECEE2C5FAE}"/>
              </a:ext>
            </a:extLst>
          </p:cNvPr>
          <p:cNvSpPr txBox="1"/>
          <p:nvPr/>
        </p:nvSpPr>
        <p:spPr>
          <a:xfrm>
            <a:off x="9695556" y="1721655"/>
            <a:ext cx="1407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Central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845BFB-1C9E-2A78-2D4C-990BCEE8577F}"/>
              </a:ext>
            </a:extLst>
          </p:cNvPr>
          <p:cNvSpPr txBox="1"/>
          <p:nvPr/>
        </p:nvSpPr>
        <p:spPr>
          <a:xfrm>
            <a:off x="9678775" y="2026346"/>
            <a:ext cx="1407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Chennai Metro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C8ECC5-0C18-791B-8D35-CE3C03A24707}"/>
              </a:ext>
            </a:extLst>
          </p:cNvPr>
          <p:cNvSpPr txBox="1"/>
          <p:nvPr/>
        </p:nvSpPr>
        <p:spPr>
          <a:xfrm>
            <a:off x="9673987" y="2338132"/>
            <a:ext cx="1407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Delta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376F56-31AA-EECD-50B2-5A6E8439DCFB}"/>
              </a:ext>
            </a:extLst>
          </p:cNvPr>
          <p:cNvSpPr txBox="1"/>
          <p:nvPr/>
        </p:nvSpPr>
        <p:spPr>
          <a:xfrm>
            <a:off x="9683563" y="2644386"/>
            <a:ext cx="1407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err="1">
                <a:solidFill>
                  <a:schemeClr val="bg1"/>
                </a:solidFill>
              </a:rPr>
              <a:t>Kongu</a:t>
            </a:r>
            <a:r>
              <a:rPr lang="en-IN" sz="1200" b="1" dirty="0">
                <a:solidFill>
                  <a:schemeClr val="bg1"/>
                </a:solidFill>
              </a:rPr>
              <a:t> (West)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FB4-31EC-10AB-8F80-C63EE021C164}"/>
              </a:ext>
            </a:extLst>
          </p:cNvPr>
          <p:cNvSpPr txBox="1"/>
          <p:nvPr/>
        </p:nvSpPr>
        <p:spPr>
          <a:xfrm>
            <a:off x="9678775" y="2996260"/>
            <a:ext cx="1407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North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B86E0E-6E65-97C7-9AD1-368B01A5E28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5834" b="73380"/>
          <a:stretch>
            <a:fillRect/>
          </a:stretch>
        </p:blipFill>
        <p:spPr>
          <a:xfrm>
            <a:off x="8281525" y="2825363"/>
            <a:ext cx="1699431" cy="69530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D985FBE-5D91-C735-66F8-C1B7041D83B8}"/>
              </a:ext>
            </a:extLst>
          </p:cNvPr>
          <p:cNvSpPr txBox="1"/>
          <p:nvPr/>
        </p:nvSpPr>
        <p:spPr>
          <a:xfrm>
            <a:off x="9673987" y="3262602"/>
            <a:ext cx="1407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South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F5A604-A894-FBF8-B255-61F151A6B5B8}"/>
              </a:ext>
            </a:extLst>
          </p:cNvPr>
          <p:cNvSpPr txBox="1"/>
          <p:nvPr/>
        </p:nvSpPr>
        <p:spPr>
          <a:xfrm>
            <a:off x="10705810" y="1709392"/>
            <a:ext cx="7952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AIADMK</a:t>
            </a:r>
            <a:endParaRPr lang="en-IN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9DF6C59-C368-A6DB-D90F-7171E9FD07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93716" y="1994387"/>
            <a:ext cx="5123605" cy="335300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D5A8E40-3A54-6BE2-8E70-5DBE5CA37A99}"/>
              </a:ext>
            </a:extLst>
          </p:cNvPr>
          <p:cNvSpPr txBox="1"/>
          <p:nvPr/>
        </p:nvSpPr>
        <p:spPr>
          <a:xfrm>
            <a:off x="10742826" y="2051993"/>
            <a:ext cx="464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accent5">
                    <a:lumMod val="75000"/>
                  </a:schemeClr>
                </a:solidFill>
              </a:rPr>
              <a:t>TVK</a:t>
            </a:r>
            <a:endParaRPr lang="en-IN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33AD2A-97F2-40C2-8ACD-BEEA7BC53913}"/>
              </a:ext>
            </a:extLst>
          </p:cNvPr>
          <p:cNvSpPr txBox="1"/>
          <p:nvPr/>
        </p:nvSpPr>
        <p:spPr>
          <a:xfrm>
            <a:off x="10742826" y="2662177"/>
            <a:ext cx="464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accent5">
                    <a:lumMod val="75000"/>
                  </a:schemeClr>
                </a:solidFill>
              </a:rPr>
              <a:t>TVK</a:t>
            </a:r>
            <a:endParaRPr lang="en-IN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786DAE-C534-0ECB-5801-DE2CBAB4398A}"/>
              </a:ext>
            </a:extLst>
          </p:cNvPr>
          <p:cNvSpPr txBox="1"/>
          <p:nvPr/>
        </p:nvSpPr>
        <p:spPr>
          <a:xfrm>
            <a:off x="10730870" y="2927734"/>
            <a:ext cx="11766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accent5">
                    <a:lumMod val="75000"/>
                  </a:schemeClr>
                </a:solidFill>
              </a:rPr>
              <a:t>TVK/</a:t>
            </a:r>
            <a:r>
              <a:rPr lang="en-IN" sz="1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1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AIADMK</a:t>
            </a:r>
            <a:endParaRPr lang="en-IN" sz="11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10D453-FF5A-463E-1749-5A8CDF8C3FF1}"/>
              </a:ext>
            </a:extLst>
          </p:cNvPr>
          <p:cNvSpPr txBox="1"/>
          <p:nvPr/>
        </p:nvSpPr>
        <p:spPr>
          <a:xfrm>
            <a:off x="10742826" y="2344478"/>
            <a:ext cx="630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rgbClr val="C00000"/>
                </a:solidFill>
              </a:rPr>
              <a:t>DMK</a:t>
            </a:r>
            <a:endParaRPr lang="en-IN" sz="1200" b="1" dirty="0">
              <a:solidFill>
                <a:srgbClr val="C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E45CD6-EDD2-888C-21EC-CF50C7733770}"/>
              </a:ext>
            </a:extLst>
          </p:cNvPr>
          <p:cNvSpPr txBox="1"/>
          <p:nvPr/>
        </p:nvSpPr>
        <p:spPr>
          <a:xfrm>
            <a:off x="10745314" y="3281780"/>
            <a:ext cx="464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accent5">
                    <a:lumMod val="75000"/>
                  </a:schemeClr>
                </a:solidFill>
              </a:rPr>
              <a:t>TVK</a:t>
            </a:r>
            <a:endParaRPr lang="en-IN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5DD738-F40B-DE65-3C2B-863F69989DB4}"/>
              </a:ext>
            </a:extLst>
          </p:cNvPr>
          <p:cNvSpPr txBox="1"/>
          <p:nvPr/>
        </p:nvSpPr>
        <p:spPr>
          <a:xfrm>
            <a:off x="11483563" y="1694558"/>
            <a:ext cx="383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accent5">
                    <a:lumMod val="50000"/>
                  </a:schemeClr>
                </a:solidFill>
              </a:rPr>
              <a:t>15</a:t>
            </a:r>
            <a:endParaRPr lang="en-IN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C5B631-E110-7CC1-57DB-71206D83A414}"/>
              </a:ext>
            </a:extLst>
          </p:cNvPr>
          <p:cNvSpPr txBox="1"/>
          <p:nvPr/>
        </p:nvSpPr>
        <p:spPr>
          <a:xfrm>
            <a:off x="11448711" y="2022884"/>
            <a:ext cx="383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accent5">
                    <a:lumMod val="50000"/>
                  </a:schemeClr>
                </a:solidFill>
              </a:rPr>
              <a:t>29</a:t>
            </a:r>
            <a:endParaRPr lang="en-IN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ED4DE9-BDC5-B21C-1E67-691D40A60F1C}"/>
              </a:ext>
            </a:extLst>
          </p:cNvPr>
          <p:cNvSpPr txBox="1"/>
          <p:nvPr/>
        </p:nvSpPr>
        <p:spPr>
          <a:xfrm>
            <a:off x="11454284" y="2338415"/>
            <a:ext cx="383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accent5">
                    <a:lumMod val="50000"/>
                  </a:schemeClr>
                </a:solidFill>
              </a:rPr>
              <a:t>14</a:t>
            </a:r>
            <a:endParaRPr lang="en-IN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77EEEA-9249-59FE-6698-5F44E798176E}"/>
              </a:ext>
            </a:extLst>
          </p:cNvPr>
          <p:cNvSpPr txBox="1"/>
          <p:nvPr/>
        </p:nvSpPr>
        <p:spPr>
          <a:xfrm>
            <a:off x="11448710" y="2679536"/>
            <a:ext cx="383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accent5">
                    <a:lumMod val="50000"/>
                  </a:schemeClr>
                </a:solidFill>
              </a:rPr>
              <a:t>16</a:t>
            </a:r>
            <a:endParaRPr lang="en-IN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1A8E25-0F06-C41A-9F35-84A512F5D345}"/>
              </a:ext>
            </a:extLst>
          </p:cNvPr>
          <p:cNvSpPr txBox="1"/>
          <p:nvPr/>
        </p:nvSpPr>
        <p:spPr>
          <a:xfrm>
            <a:off x="11461267" y="2918309"/>
            <a:ext cx="383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accent5">
                    <a:lumMod val="50000"/>
                  </a:schemeClr>
                </a:solidFill>
              </a:rPr>
              <a:t>15</a:t>
            </a:r>
          </a:p>
          <a:p>
            <a:r>
              <a:rPr lang="en-IN" sz="700" b="1" dirty="0">
                <a:solidFill>
                  <a:schemeClr val="accent5">
                    <a:lumMod val="50000"/>
                  </a:schemeClr>
                </a:solidFill>
              </a:rPr>
              <a:t>(Tie)</a:t>
            </a:r>
            <a:endParaRPr lang="en-IN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4A50FC-4750-9A25-BF7A-6ADCBA1530B6}"/>
              </a:ext>
            </a:extLst>
          </p:cNvPr>
          <p:cNvSpPr txBox="1"/>
          <p:nvPr/>
        </p:nvSpPr>
        <p:spPr>
          <a:xfrm>
            <a:off x="11467535" y="3278216"/>
            <a:ext cx="383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accent5">
                    <a:lumMod val="50000"/>
                  </a:schemeClr>
                </a:solidFill>
              </a:rPr>
              <a:t>26</a:t>
            </a:r>
            <a:endParaRPr lang="en-IN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98D01E-CAA9-9ED4-8C4F-CD1C5B9A130F}"/>
              </a:ext>
            </a:extLst>
          </p:cNvPr>
          <p:cNvSpPr txBox="1"/>
          <p:nvPr/>
        </p:nvSpPr>
        <p:spPr>
          <a:xfrm>
            <a:off x="9754103" y="3987165"/>
            <a:ext cx="2540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Lowest winner concentration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85971B4-EF89-B268-0319-D7F244151CBA}"/>
              </a:ext>
            </a:extLst>
          </p:cNvPr>
          <p:cNvSpPr txBox="1"/>
          <p:nvPr/>
        </p:nvSpPr>
        <p:spPr>
          <a:xfrm>
            <a:off x="9754103" y="4266811"/>
            <a:ext cx="25408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Region : </a:t>
            </a:r>
            <a:r>
              <a:rPr lang="en-US" sz="11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North</a:t>
            </a:r>
          </a:p>
          <a:p>
            <a:r>
              <a:rPr lang="en-US" sz="11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Top share : </a:t>
            </a:r>
            <a:r>
              <a:rPr lang="en-US" sz="11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40.5%</a:t>
            </a:r>
          </a:p>
        </p:txBody>
      </p:sp>
      <p:pic>
        <p:nvPicPr>
          <p:cNvPr id="114" name="Graphic 113" descr="Target Audience with solid fill">
            <a:extLst>
              <a:ext uri="{FF2B5EF4-FFF2-40B4-BE49-F238E27FC236}">
                <a16:creationId xmlns:a16="http://schemas.microsoft.com/office/drawing/2014/main" id="{D0C25686-E41D-86C7-68C1-C4B4E13DC2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13887" y="3944006"/>
            <a:ext cx="792223" cy="792223"/>
          </a:xfrm>
          <a:prstGeom prst="rect">
            <a:avLst/>
          </a:prstGeom>
        </p:spPr>
      </p:pic>
      <p:pic>
        <p:nvPicPr>
          <p:cNvPr id="117" name="Graphic 116" descr="Trophy outline">
            <a:extLst>
              <a:ext uri="{FF2B5EF4-FFF2-40B4-BE49-F238E27FC236}">
                <a16:creationId xmlns:a16="http://schemas.microsoft.com/office/drawing/2014/main" id="{DF96F931-4A1D-D46E-A756-A86800B26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3756" y="275924"/>
            <a:ext cx="914400" cy="914400"/>
          </a:xfrm>
          <a:prstGeom prst="rect">
            <a:avLst/>
          </a:prstGeom>
        </p:spPr>
      </p:pic>
      <p:pic>
        <p:nvPicPr>
          <p:cNvPr id="119" name="Graphic 118" descr="Marker with solid fill">
            <a:extLst>
              <a:ext uri="{FF2B5EF4-FFF2-40B4-BE49-F238E27FC236}">
                <a16:creationId xmlns:a16="http://schemas.microsoft.com/office/drawing/2014/main" id="{A8EF163A-40EF-37BB-EBF8-F8E0D659F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31504" y="205154"/>
            <a:ext cx="914400" cy="914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E8D395-E547-8F3D-0437-BDA30FCD5048}"/>
              </a:ext>
            </a:extLst>
          </p:cNvPr>
          <p:cNvSpPr/>
          <p:nvPr/>
        </p:nvSpPr>
        <p:spPr>
          <a:xfrm>
            <a:off x="645203" y="103240"/>
            <a:ext cx="1692056" cy="2693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Geographic Story</a:t>
            </a:r>
            <a:endParaRPr lang="en-IN" sz="1400" dirty="0">
              <a:latin typeface="Avenir Next LT Pro Demi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36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AE83-70E8-592B-3DC2-69FA97AB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AF887A54-BA4C-E279-2905-A60AABBB810B}"/>
              </a:ext>
            </a:extLst>
          </p:cNvPr>
          <p:cNvSpPr/>
          <p:nvPr/>
        </p:nvSpPr>
        <p:spPr>
          <a:xfrm>
            <a:off x="8969543" y="1385505"/>
            <a:ext cx="3103631" cy="2182773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dirty="0">
              <a:latin typeface="Avenir Next LT Pro Demi" panose="020B0704020202020204" pitchFamily="34" charset="0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E5E543E4-0FA5-8CC6-3DC3-D2E9BBD7E890}"/>
              </a:ext>
            </a:extLst>
          </p:cNvPr>
          <p:cNvSpPr/>
          <p:nvPr/>
        </p:nvSpPr>
        <p:spPr>
          <a:xfrm>
            <a:off x="3216744" y="1436885"/>
            <a:ext cx="5631981" cy="3959201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CE43EE9-A934-FBDB-4069-E0B693DA1E03}"/>
              </a:ext>
            </a:extLst>
          </p:cNvPr>
          <p:cNvGrpSpPr/>
          <p:nvPr/>
        </p:nvGrpSpPr>
        <p:grpSpPr>
          <a:xfrm>
            <a:off x="6092760" y="171193"/>
            <a:ext cx="5976477" cy="1146196"/>
            <a:chOff x="6092761" y="171193"/>
            <a:chExt cx="5768333" cy="1146196"/>
          </a:xfrm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9E0C032F-7DC8-FCB6-C93B-95F008CA4142}"/>
                </a:ext>
              </a:extLst>
            </p:cNvPr>
            <p:cNvSpPr/>
            <p:nvPr/>
          </p:nvSpPr>
          <p:spPr>
            <a:xfrm>
              <a:off x="6092761" y="199461"/>
              <a:ext cx="260791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E09BD96B-4251-3891-CA83-C11CF5838773}"/>
                </a:ext>
              </a:extLst>
            </p:cNvPr>
            <p:cNvSpPr/>
            <p:nvPr/>
          </p:nvSpPr>
          <p:spPr>
            <a:xfrm>
              <a:off x="9049135" y="171193"/>
              <a:ext cx="281195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689B74D2-5BEB-7B67-7E5C-CBCF948BBC75}"/>
                </a:ext>
              </a:extLst>
            </p:cNvPr>
            <p:cNvGrpSpPr/>
            <p:nvPr/>
          </p:nvGrpSpPr>
          <p:grpSpPr>
            <a:xfrm>
              <a:off x="6911569" y="256315"/>
              <a:ext cx="4769744" cy="943176"/>
              <a:chOff x="6979775" y="266094"/>
              <a:chExt cx="4769744" cy="943176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D39253A-3316-977E-7C88-9F40CB9BEC8B}"/>
                  </a:ext>
                </a:extLst>
              </p:cNvPr>
              <p:cNvSpPr txBox="1"/>
              <p:nvPr/>
            </p:nvSpPr>
            <p:spPr>
              <a:xfrm>
                <a:off x="6979775" y="266094"/>
                <a:ext cx="6886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1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500FAAE-0AED-7B46-939C-37F34AC482E9}"/>
                  </a:ext>
                </a:extLst>
              </p:cNvPr>
              <p:cNvSpPr txBox="1"/>
              <p:nvPr/>
            </p:nvSpPr>
            <p:spPr>
              <a:xfrm>
                <a:off x="6979775" y="674500"/>
                <a:ext cx="15130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Lowest Margin(Votes)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D689DD0-3D15-7AD8-60C9-44982B2FA0B0}"/>
                  </a:ext>
                </a:extLst>
              </p:cNvPr>
              <p:cNvSpPr txBox="1"/>
              <p:nvPr/>
            </p:nvSpPr>
            <p:spPr>
              <a:xfrm>
                <a:off x="10042830" y="316549"/>
                <a:ext cx="13582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234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3F733A-9A31-7142-C3F4-75C9CDA373AA}"/>
                  </a:ext>
                </a:extLst>
              </p:cNvPr>
              <p:cNvSpPr txBox="1"/>
              <p:nvPr/>
            </p:nvSpPr>
            <p:spPr>
              <a:xfrm>
                <a:off x="10020412" y="747605"/>
                <a:ext cx="17291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Seats</a:t>
                </a:r>
              </a:p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Analysed</a:t>
                </a:r>
              </a:p>
            </p:txBody>
          </p:sp>
        </p:grp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4BE960E-90F1-A536-01A8-52EE5F50D9C3}"/>
              </a:ext>
            </a:extLst>
          </p:cNvPr>
          <p:cNvSpPr/>
          <p:nvPr/>
        </p:nvSpPr>
        <p:spPr>
          <a:xfrm>
            <a:off x="3216744" y="5528999"/>
            <a:ext cx="8852493" cy="1129540"/>
          </a:xfrm>
          <a:prstGeom prst="roundRect">
            <a:avLst>
              <a:gd name="adj" fmla="val 11077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95A58FEB-36BD-B75C-89AD-3737EB9079D3}"/>
              </a:ext>
            </a:extLst>
          </p:cNvPr>
          <p:cNvSpPr/>
          <p:nvPr/>
        </p:nvSpPr>
        <p:spPr>
          <a:xfrm>
            <a:off x="271404" y="181047"/>
            <a:ext cx="2697584" cy="6485223"/>
          </a:xfrm>
          <a:prstGeom prst="roundRect">
            <a:avLst>
              <a:gd name="adj" fmla="val 2097"/>
            </a:avLst>
          </a:prstGeom>
          <a:gradFill>
            <a:gsLst>
              <a:gs pos="0">
                <a:srgbClr val="7D2277"/>
              </a:gs>
              <a:gs pos="48000">
                <a:schemeClr val="accent5">
                  <a:lumMod val="75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pic>
        <p:nvPicPr>
          <p:cNvPr id="78" name="Graphic 77" descr="Group of men with solid fill">
            <a:extLst>
              <a:ext uri="{FF2B5EF4-FFF2-40B4-BE49-F238E27FC236}">
                <a16:creationId xmlns:a16="http://schemas.microsoft.com/office/drawing/2014/main" id="{67CECB53-0A50-7DEB-327F-3326014E8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8252" y="317690"/>
            <a:ext cx="716400" cy="716400"/>
          </a:xfrm>
          <a:prstGeom prst="rect">
            <a:avLst/>
          </a:prstGeom>
        </p:spPr>
      </p:pic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20993DC-BF06-F637-F089-DB85029EE429}"/>
              </a:ext>
            </a:extLst>
          </p:cNvPr>
          <p:cNvGrpSpPr/>
          <p:nvPr/>
        </p:nvGrpSpPr>
        <p:grpSpPr>
          <a:xfrm>
            <a:off x="3216744" y="199461"/>
            <a:ext cx="2733463" cy="1117928"/>
            <a:chOff x="3216744" y="199461"/>
            <a:chExt cx="2733463" cy="1117928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85CA0011-80C2-212D-3F2E-2B6E22B8778B}"/>
                </a:ext>
              </a:extLst>
            </p:cNvPr>
            <p:cNvSpPr/>
            <p:nvPr/>
          </p:nvSpPr>
          <p:spPr>
            <a:xfrm>
              <a:off x="3216744" y="199461"/>
              <a:ext cx="2733463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AFA4B31-490C-68E6-B916-F72EC98E5169}"/>
                </a:ext>
              </a:extLst>
            </p:cNvPr>
            <p:cNvGrpSpPr/>
            <p:nvPr/>
          </p:nvGrpSpPr>
          <p:grpSpPr>
            <a:xfrm>
              <a:off x="4117769" y="281259"/>
              <a:ext cx="1513031" cy="878674"/>
              <a:chOff x="4100992" y="266558"/>
              <a:chExt cx="1513031" cy="878674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A06F2AD-6881-948B-7F76-004CDF03A956}"/>
                  </a:ext>
                </a:extLst>
              </p:cNvPr>
              <p:cNvSpPr txBox="1"/>
              <p:nvPr/>
            </p:nvSpPr>
            <p:spPr>
              <a:xfrm>
                <a:off x="4105539" y="266558"/>
                <a:ext cx="12519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10</a:t>
                </a:r>
                <a:endParaRPr lang="en-IN" sz="28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CC36F06-025D-F4E5-91D1-9369E314A79B}"/>
                  </a:ext>
                </a:extLst>
              </p:cNvPr>
              <p:cNvSpPr txBox="1"/>
              <p:nvPr/>
            </p:nvSpPr>
            <p:spPr>
              <a:xfrm>
                <a:off x="4100992" y="683567"/>
                <a:ext cx="15130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Closest Constituencies</a:t>
                </a:r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361EFB36-A4D5-D3E1-8A42-1C96AE81E62A}"/>
              </a:ext>
            </a:extLst>
          </p:cNvPr>
          <p:cNvSpPr txBox="1"/>
          <p:nvPr/>
        </p:nvSpPr>
        <p:spPr>
          <a:xfrm>
            <a:off x="3288945" y="1505067"/>
            <a:ext cx="4365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Top 10 Closest Constituencies</a:t>
            </a:r>
          </a:p>
          <a:p>
            <a:r>
              <a:rPr lang="en-US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Smallest victory margins in 2026</a:t>
            </a:r>
            <a:endParaRPr lang="en-IN" sz="12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C31F1E-CCE3-3CD4-BAD1-69A7B1A5526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6000"/>
          </a:blip>
          <a:stretch>
            <a:fillRect/>
          </a:stretch>
        </p:blipFill>
        <p:spPr>
          <a:xfrm>
            <a:off x="258689" y="4550205"/>
            <a:ext cx="2718813" cy="2116065"/>
          </a:xfrm>
          <a:prstGeom prst="rect">
            <a:avLst/>
          </a:prstGeom>
          <a:effectLst/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47F4C4-89BD-535E-147D-85485A768B4B}"/>
              </a:ext>
            </a:extLst>
          </p:cNvPr>
          <p:cNvSpPr/>
          <p:nvPr/>
        </p:nvSpPr>
        <p:spPr>
          <a:xfrm>
            <a:off x="8969543" y="3617336"/>
            <a:ext cx="3095238" cy="1445565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3267E11-7C78-AD58-EFF0-D271CADB4506}"/>
              </a:ext>
            </a:extLst>
          </p:cNvPr>
          <p:cNvSpPr txBox="1"/>
          <p:nvPr/>
        </p:nvSpPr>
        <p:spPr>
          <a:xfrm>
            <a:off x="9342081" y="1438887"/>
            <a:ext cx="2540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Who won the Close battles?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BBD5294-ED0A-86E9-EB72-CE8E76CF647A}"/>
              </a:ext>
            </a:extLst>
          </p:cNvPr>
          <p:cNvSpPr txBox="1"/>
          <p:nvPr/>
        </p:nvSpPr>
        <p:spPr>
          <a:xfrm>
            <a:off x="4121588" y="5849320"/>
            <a:ext cx="20628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Close constituencies highlight where small vote swings altered electoral outcomes.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F5CF719-00A4-A5FA-F67D-59CF64BFD70E}"/>
              </a:ext>
            </a:extLst>
          </p:cNvPr>
          <p:cNvSpPr txBox="1"/>
          <p:nvPr/>
        </p:nvSpPr>
        <p:spPr>
          <a:xfrm>
            <a:off x="7234963" y="5888086"/>
            <a:ext cx="2235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Winning margins help identify vulnerable political strongholds.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F9E3D53-1764-C52B-BE8C-4EFDB24C677E}"/>
              </a:ext>
            </a:extLst>
          </p:cNvPr>
          <p:cNvSpPr txBox="1"/>
          <p:nvPr/>
        </p:nvSpPr>
        <p:spPr>
          <a:xfrm>
            <a:off x="10059825" y="5857325"/>
            <a:ext cx="1996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Small margins signal potential areas of future competition.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D4749CF-BCEB-F4EC-9DCD-157E5FE62A7C}"/>
              </a:ext>
            </a:extLst>
          </p:cNvPr>
          <p:cNvSpPr txBox="1"/>
          <p:nvPr/>
        </p:nvSpPr>
        <p:spPr>
          <a:xfrm>
            <a:off x="9668353" y="5562392"/>
            <a:ext cx="214894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Why it Matters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DC0A457-35DB-079C-8CDB-F0F832EA1FF6}"/>
              </a:ext>
            </a:extLst>
          </p:cNvPr>
          <p:cNvSpPr txBox="1"/>
          <p:nvPr/>
        </p:nvSpPr>
        <p:spPr>
          <a:xfrm>
            <a:off x="6905639" y="5591579"/>
            <a:ext cx="2148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What this means</a:t>
            </a:r>
            <a:endParaRPr lang="en-IN" sz="9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CFCD9BB-6C72-D229-80F5-DF52A3DAF6CD}"/>
              </a:ext>
            </a:extLst>
          </p:cNvPr>
          <p:cNvSpPr txBox="1"/>
          <p:nvPr/>
        </p:nvSpPr>
        <p:spPr>
          <a:xfrm>
            <a:off x="3706204" y="5551084"/>
            <a:ext cx="2148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Key takeaway</a:t>
            </a:r>
            <a:endParaRPr lang="en-IN" sz="9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59" name="Graphic 158" descr="Lightbulb and gear with solid fill">
            <a:extLst>
              <a:ext uri="{FF2B5EF4-FFF2-40B4-BE49-F238E27FC236}">
                <a16:creationId xmlns:a16="http://schemas.microsoft.com/office/drawing/2014/main" id="{F43F7711-337C-C3BE-9E52-B49E1E942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4736" y="5839498"/>
            <a:ext cx="743231" cy="743231"/>
          </a:xfrm>
          <a:prstGeom prst="rect">
            <a:avLst/>
          </a:prstGeom>
        </p:spPr>
      </p:pic>
      <p:pic>
        <p:nvPicPr>
          <p:cNvPr id="160" name="Graphic 159" descr="Bullseye with solid fill">
            <a:extLst>
              <a:ext uri="{FF2B5EF4-FFF2-40B4-BE49-F238E27FC236}">
                <a16:creationId xmlns:a16="http://schemas.microsoft.com/office/drawing/2014/main" id="{680DE8AF-832D-F681-9B72-3CE6EEE999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9803" y="5884199"/>
            <a:ext cx="557885" cy="557885"/>
          </a:xfrm>
          <a:prstGeom prst="rect">
            <a:avLst/>
          </a:prstGeom>
        </p:spPr>
      </p:pic>
      <p:pic>
        <p:nvPicPr>
          <p:cNvPr id="161" name="Graphic 160" descr="Bar graph with upward trend with solid fill">
            <a:extLst>
              <a:ext uri="{FF2B5EF4-FFF2-40B4-BE49-F238E27FC236}">
                <a16:creationId xmlns:a16="http://schemas.microsoft.com/office/drawing/2014/main" id="{C02A3351-9820-B896-6593-0F6BE26AB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68651" y="5884199"/>
            <a:ext cx="517320" cy="517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3BD002-0208-9A80-6584-AF1537D96D04}"/>
              </a:ext>
            </a:extLst>
          </p:cNvPr>
          <p:cNvSpPr txBox="1"/>
          <p:nvPr/>
        </p:nvSpPr>
        <p:spPr>
          <a:xfrm>
            <a:off x="9215197" y="3643448"/>
            <a:ext cx="2540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Tightest Race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A786AB-64E0-FBC8-B33E-1D1D604AB669}"/>
              </a:ext>
            </a:extLst>
          </p:cNvPr>
          <p:cNvSpPr txBox="1"/>
          <p:nvPr/>
        </p:nvSpPr>
        <p:spPr>
          <a:xfrm>
            <a:off x="9942392" y="3984618"/>
            <a:ext cx="2540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1</a:t>
            </a:r>
          </a:p>
          <a:p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Next LT Pro Demi" panose="020B0704020202020204" pitchFamily="34" charset="0"/>
              </a:rPr>
              <a:t>Vote</a:t>
            </a:r>
          </a:p>
        </p:txBody>
      </p:sp>
      <p:pic>
        <p:nvPicPr>
          <p:cNvPr id="4" name="Graphic 3" descr="Bank outline">
            <a:extLst>
              <a:ext uri="{FF2B5EF4-FFF2-40B4-BE49-F238E27FC236}">
                <a16:creationId xmlns:a16="http://schemas.microsoft.com/office/drawing/2014/main" id="{333C95FD-3495-9645-0383-C054584718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68363" y="383295"/>
            <a:ext cx="591972" cy="591972"/>
          </a:xfrm>
          <a:prstGeom prst="rect">
            <a:avLst/>
          </a:prstGeom>
        </p:spPr>
      </p:pic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79D6D76-B832-7C90-A575-D085097B63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9467585"/>
              </p:ext>
            </p:extLst>
          </p:nvPr>
        </p:nvGraphicFramePr>
        <p:xfrm>
          <a:off x="5989171" y="2220045"/>
          <a:ext cx="2718813" cy="3256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CABBE3D-F61B-C2BF-0F81-94F46DCFA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34857"/>
              </p:ext>
            </p:extLst>
          </p:nvPr>
        </p:nvGraphicFramePr>
        <p:xfrm>
          <a:off x="3288945" y="2003240"/>
          <a:ext cx="2806699" cy="3228192"/>
        </p:xfrm>
        <a:graphic>
          <a:graphicData uri="http://schemas.openxmlformats.org/drawingml/2006/table">
            <a:tbl>
              <a:tblPr/>
              <a:tblGrid>
                <a:gridCol w="698499">
                  <a:extLst>
                    <a:ext uri="{9D8B030D-6E8A-4147-A177-3AD203B41FA5}">
                      <a16:colId xmlns:a16="http://schemas.microsoft.com/office/drawing/2014/main" val="3443958263"/>
                    </a:ext>
                  </a:extLst>
                </a:gridCol>
                <a:gridCol w="912477">
                  <a:extLst>
                    <a:ext uri="{9D8B030D-6E8A-4147-A177-3AD203B41FA5}">
                      <a16:colId xmlns:a16="http://schemas.microsoft.com/office/drawing/2014/main" val="2466893019"/>
                    </a:ext>
                  </a:extLst>
                </a:gridCol>
                <a:gridCol w="662323">
                  <a:extLst>
                    <a:ext uri="{9D8B030D-6E8A-4147-A177-3AD203B41FA5}">
                      <a16:colId xmlns:a16="http://schemas.microsoft.com/office/drawing/2014/main" val="230766431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240278430"/>
                    </a:ext>
                  </a:extLst>
                </a:gridCol>
              </a:tblGrid>
              <a:tr h="293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venir Next LT Pro Demi" panose="020B0704020202020204" pitchFamily="34" charset="0"/>
                        </a:rPr>
                        <a:t>Rank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venir Next LT Pro Demi" panose="020B0704020202020204" pitchFamily="34" charset="0"/>
                        </a:rPr>
                        <a:t>Constituency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venir Next LT Pro Demi" panose="020B0704020202020204" pitchFamily="34" charset="0"/>
                        </a:rPr>
                        <a:t>Winner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venir Next LT Pro Demi" panose="020B0704020202020204" pitchFamily="34" charset="0"/>
                        </a:rPr>
                        <a:t>Runner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991245"/>
                  </a:ext>
                </a:extLst>
              </a:tr>
              <a:tr h="293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Tiruppattur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TVK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651105"/>
                  </a:ext>
                </a:extLst>
              </a:tr>
              <a:tr h="293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Veppanahalli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AIADMK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922708"/>
                  </a:ext>
                </a:extLst>
              </a:tr>
              <a:tr h="293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Kanniyakumari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AIADMK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581699"/>
                  </a:ext>
                </a:extLst>
              </a:tr>
              <a:tr h="293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Polur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TVK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DMDK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910105"/>
                  </a:ext>
                </a:extLst>
              </a:tr>
              <a:tr h="293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Tirukkoyilur</a:t>
                      </a:r>
                      <a:endParaRPr lang="en-IN" sz="900" b="1" i="0" u="none" strike="noStrike" dirty="0">
                        <a:solidFill>
                          <a:schemeClr val="bg2"/>
                        </a:solidFill>
                        <a:effectLst/>
                        <a:latin typeface="Avenir Next LT Pro Demi" panose="020B07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AIADMK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TVK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42209"/>
                  </a:ext>
                </a:extLst>
              </a:tr>
              <a:tr h="293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Paramathi-Velur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AIADMK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986218"/>
                  </a:ext>
                </a:extLst>
              </a:tr>
              <a:tr h="293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Kulithalai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TVK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612267"/>
                  </a:ext>
                </a:extLst>
              </a:tr>
              <a:tr h="293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Kumbakonam</a:t>
                      </a:r>
                      <a:endParaRPr lang="en-IN" sz="900" b="1" i="0" u="none" strike="noStrike" dirty="0">
                        <a:solidFill>
                          <a:schemeClr val="bg2"/>
                        </a:solidFill>
                        <a:effectLst/>
                        <a:latin typeface="Avenir Next LT Pro Demi" panose="020B07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TVK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604775"/>
                  </a:ext>
                </a:extLst>
              </a:tr>
              <a:tr h="293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Palani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AIADMK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TVK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516165"/>
                  </a:ext>
                </a:extLst>
              </a:tr>
              <a:tr h="293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Tindivanam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VCK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Avenir Next LT Pro Demi" panose="020B0704020202020204" pitchFamily="34" charset="0"/>
                        </a:rPr>
                        <a:t>AIADMK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044639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BB846C53-C670-FE04-C34B-666CC65F964B}"/>
              </a:ext>
            </a:extLst>
          </p:cNvPr>
          <p:cNvSpPr/>
          <p:nvPr/>
        </p:nvSpPr>
        <p:spPr>
          <a:xfrm>
            <a:off x="6092760" y="2007012"/>
            <a:ext cx="2702023" cy="2903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Victory Margin</a:t>
            </a:r>
            <a:endParaRPr lang="en-IN" sz="1100" b="1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FF768F47-5187-D66C-0D61-569141B7C1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6113640"/>
              </p:ext>
            </p:extLst>
          </p:nvPr>
        </p:nvGraphicFramePr>
        <p:xfrm>
          <a:off x="8508742" y="1497328"/>
          <a:ext cx="3547800" cy="2046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C642129-F96E-DB9D-3833-B205FE364D83}"/>
              </a:ext>
            </a:extLst>
          </p:cNvPr>
          <p:cNvSpPr txBox="1"/>
          <p:nvPr/>
        </p:nvSpPr>
        <p:spPr>
          <a:xfrm>
            <a:off x="9754103" y="3247237"/>
            <a:ext cx="25408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Total: 10</a:t>
            </a:r>
          </a:p>
        </p:txBody>
      </p:sp>
      <p:pic>
        <p:nvPicPr>
          <p:cNvPr id="36" name="Graphic 35" descr="Trophy with solid fill">
            <a:extLst>
              <a:ext uri="{FF2B5EF4-FFF2-40B4-BE49-F238E27FC236}">
                <a16:creationId xmlns:a16="http://schemas.microsoft.com/office/drawing/2014/main" id="{F2D19E18-6DD8-A861-14A2-50687A59FA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07313" y="4016516"/>
            <a:ext cx="750167" cy="750167"/>
          </a:xfrm>
          <a:prstGeom prst="rect">
            <a:avLst/>
          </a:prstGeom>
        </p:spPr>
      </p:pic>
      <p:pic>
        <p:nvPicPr>
          <p:cNvPr id="38" name="Graphic 37" descr="Sort with solid fill">
            <a:extLst>
              <a:ext uri="{FF2B5EF4-FFF2-40B4-BE49-F238E27FC236}">
                <a16:creationId xmlns:a16="http://schemas.microsoft.com/office/drawing/2014/main" id="{9AB834BF-DBF3-2B6C-5C54-7CCBBE41D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8070" y="3670029"/>
            <a:ext cx="461758" cy="461758"/>
          </a:xfrm>
          <a:prstGeom prst="rect">
            <a:avLst/>
          </a:prstGeom>
        </p:spPr>
      </p:pic>
      <p:pic>
        <p:nvPicPr>
          <p:cNvPr id="40" name="Graphic 39" descr="Target outline">
            <a:extLst>
              <a:ext uri="{FF2B5EF4-FFF2-40B4-BE49-F238E27FC236}">
                <a16:creationId xmlns:a16="http://schemas.microsoft.com/office/drawing/2014/main" id="{124790A2-3C73-E80B-DDD6-60DD58ABED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2207" y="2952257"/>
            <a:ext cx="533484" cy="533484"/>
          </a:xfrm>
          <a:prstGeom prst="rect">
            <a:avLst/>
          </a:prstGeom>
        </p:spPr>
      </p:pic>
      <p:pic>
        <p:nvPicPr>
          <p:cNvPr id="42" name="Graphic 41" descr="Statistics with solid fill">
            <a:extLst>
              <a:ext uri="{FF2B5EF4-FFF2-40B4-BE49-F238E27FC236}">
                <a16:creationId xmlns:a16="http://schemas.microsoft.com/office/drawing/2014/main" id="{04426B93-25E3-12C8-7532-2743A33954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3191" y="342665"/>
            <a:ext cx="817268" cy="817268"/>
          </a:xfrm>
          <a:prstGeom prst="rect">
            <a:avLst/>
          </a:prstGeom>
        </p:spPr>
      </p:pic>
      <p:pic>
        <p:nvPicPr>
          <p:cNvPr id="58" name="Graphic 57" descr="Bar graph with upward trend with solid fill">
            <a:extLst>
              <a:ext uri="{FF2B5EF4-FFF2-40B4-BE49-F238E27FC236}">
                <a16:creationId xmlns:a16="http://schemas.microsoft.com/office/drawing/2014/main" id="{9D6BF6F0-E190-2579-B954-F64F1C6AA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962" y="4356728"/>
            <a:ext cx="517320" cy="51732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30998B05-0FEF-FE91-7179-E79EFA9B973B}"/>
              </a:ext>
            </a:extLst>
          </p:cNvPr>
          <p:cNvSpPr txBox="1"/>
          <p:nvPr/>
        </p:nvSpPr>
        <p:spPr>
          <a:xfrm>
            <a:off x="365877" y="2635615"/>
            <a:ext cx="2369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What we Observed?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1376248-2760-53D6-EF21-C4A74356AB54}"/>
              </a:ext>
            </a:extLst>
          </p:cNvPr>
          <p:cNvGrpSpPr/>
          <p:nvPr/>
        </p:nvGrpSpPr>
        <p:grpSpPr>
          <a:xfrm>
            <a:off x="334095" y="433432"/>
            <a:ext cx="2676452" cy="4393862"/>
            <a:chOff x="241909" y="344468"/>
            <a:chExt cx="2912047" cy="439386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A66FF4C-16D7-5694-1B46-EA345806CC07}"/>
                </a:ext>
              </a:extLst>
            </p:cNvPr>
            <p:cNvSpPr txBox="1"/>
            <p:nvPr/>
          </p:nvSpPr>
          <p:spPr>
            <a:xfrm>
              <a:off x="241909" y="344468"/>
              <a:ext cx="276455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u="sng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Story 03</a:t>
              </a:r>
            </a:p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The Battlefield of close Contests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64C6D1E-2B4C-B3DD-101B-9CC4B7CA7E61}"/>
                </a:ext>
              </a:extLst>
            </p:cNvPr>
            <p:cNvSpPr txBox="1"/>
            <p:nvPr/>
          </p:nvSpPr>
          <p:spPr>
            <a:xfrm>
              <a:off x="276489" y="1444011"/>
              <a:ext cx="24793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venir Next LT Pro Demi" panose="020B0704020202020204" pitchFamily="34" charset="0"/>
                </a:rPr>
                <a:t>Exploring where elections were won by narrow margins.</a:t>
              </a:r>
              <a:endParaRPr lang="en-IN" sz="1600" dirty="0">
                <a:solidFill>
                  <a:schemeClr val="accent5">
                    <a:lumMod val="75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ED6A02E-DC59-60A7-DDAC-47E0B9C78A9D}"/>
                </a:ext>
              </a:extLst>
            </p:cNvPr>
            <p:cNvSpPr txBox="1"/>
            <p:nvPr/>
          </p:nvSpPr>
          <p:spPr>
            <a:xfrm>
              <a:off x="688470" y="2796703"/>
              <a:ext cx="24295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Several constituencies recorded extremely narrow victory margins.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50B272-B247-299E-F74F-A3FB313CB805}"/>
                </a:ext>
              </a:extLst>
            </p:cNvPr>
            <p:cNvSpPr txBox="1"/>
            <p:nvPr/>
          </p:nvSpPr>
          <p:spPr>
            <a:xfrm>
              <a:off x="702306" y="3524237"/>
              <a:ext cx="23401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Close contests reveal where voter preference shifted most sharply.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77C907-9B31-26A8-45A7-9427ABB5352C}"/>
                </a:ext>
              </a:extLst>
            </p:cNvPr>
            <p:cNvSpPr txBox="1"/>
            <p:nvPr/>
          </p:nvSpPr>
          <p:spPr>
            <a:xfrm>
              <a:off x="702306" y="4276665"/>
              <a:ext cx="2451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Margin pressure was not</a:t>
              </a:r>
            </a:p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distributed uniformly.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18571FCB-675C-420F-5947-7E2B9E2B92B4}"/>
              </a:ext>
            </a:extLst>
          </p:cNvPr>
          <p:cNvSpPr/>
          <p:nvPr/>
        </p:nvSpPr>
        <p:spPr>
          <a:xfrm>
            <a:off x="704553" y="103947"/>
            <a:ext cx="1692056" cy="2693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Margin Story</a:t>
            </a:r>
            <a:endParaRPr lang="en-IN" sz="1400" dirty="0">
              <a:latin typeface="Avenir Next LT Pro Demi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947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CE215-561D-3966-5536-2F8C3474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9FA28525-3757-5456-89CA-67BA4ED2C24E}"/>
              </a:ext>
            </a:extLst>
          </p:cNvPr>
          <p:cNvSpPr/>
          <p:nvPr/>
        </p:nvSpPr>
        <p:spPr>
          <a:xfrm>
            <a:off x="7811818" y="1529399"/>
            <a:ext cx="2540888" cy="3441168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dirty="0">
              <a:latin typeface="Avenir Next LT Pro Demi" panose="020B0704020202020204" pitchFamily="34" charset="0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FFEA2422-5395-9FF6-DFF5-E0C8ABDBD267}"/>
              </a:ext>
            </a:extLst>
          </p:cNvPr>
          <p:cNvSpPr/>
          <p:nvPr/>
        </p:nvSpPr>
        <p:spPr>
          <a:xfrm>
            <a:off x="3216745" y="1530421"/>
            <a:ext cx="4437839" cy="3454121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00F1252-7505-2108-78EC-7608C98E0A23}"/>
              </a:ext>
            </a:extLst>
          </p:cNvPr>
          <p:cNvGrpSpPr/>
          <p:nvPr/>
        </p:nvGrpSpPr>
        <p:grpSpPr>
          <a:xfrm>
            <a:off x="6092760" y="171193"/>
            <a:ext cx="5976477" cy="1146196"/>
            <a:chOff x="6092761" y="171193"/>
            <a:chExt cx="5768333" cy="1146196"/>
          </a:xfrm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4D86787B-6F8A-5E21-BA5C-DE412265A5D7}"/>
                </a:ext>
              </a:extLst>
            </p:cNvPr>
            <p:cNvSpPr/>
            <p:nvPr/>
          </p:nvSpPr>
          <p:spPr>
            <a:xfrm>
              <a:off x="6092761" y="199461"/>
              <a:ext cx="260791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BDDED59D-B20F-8958-E53D-60D85ED8BD56}"/>
                </a:ext>
              </a:extLst>
            </p:cNvPr>
            <p:cNvSpPr/>
            <p:nvPr/>
          </p:nvSpPr>
          <p:spPr>
            <a:xfrm>
              <a:off x="9049135" y="171193"/>
              <a:ext cx="281195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85478CCD-3933-D552-14C4-73039F72B224}"/>
                </a:ext>
              </a:extLst>
            </p:cNvPr>
            <p:cNvGrpSpPr/>
            <p:nvPr/>
          </p:nvGrpSpPr>
          <p:grpSpPr>
            <a:xfrm>
              <a:off x="6911569" y="256315"/>
              <a:ext cx="4769744" cy="943176"/>
              <a:chOff x="6979775" y="266094"/>
              <a:chExt cx="4769744" cy="943176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EDBD2BD-851E-0BFC-965A-3FA0587DC350}"/>
                  </a:ext>
                </a:extLst>
              </p:cNvPr>
              <p:cNvSpPr txBox="1"/>
              <p:nvPr/>
            </p:nvSpPr>
            <p:spPr>
              <a:xfrm>
                <a:off x="6979775" y="266094"/>
                <a:ext cx="6886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1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A61D558-7939-D17B-C00F-EC9B9A675067}"/>
                  </a:ext>
                </a:extLst>
              </p:cNvPr>
              <p:cNvSpPr txBox="1"/>
              <p:nvPr/>
            </p:nvSpPr>
            <p:spPr>
              <a:xfrm>
                <a:off x="6979775" y="674500"/>
                <a:ext cx="15130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Lowest Margin(Votes)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DFAFD14-7AA4-29F9-DE15-ED0DE4732E99}"/>
                  </a:ext>
                </a:extLst>
              </p:cNvPr>
              <p:cNvSpPr txBox="1"/>
              <p:nvPr/>
            </p:nvSpPr>
            <p:spPr>
              <a:xfrm>
                <a:off x="10042830" y="316549"/>
                <a:ext cx="13582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734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E1C99B9-B0CE-D843-1FBA-DB3BF0CEDBFD}"/>
                  </a:ext>
                </a:extLst>
              </p:cNvPr>
              <p:cNvSpPr txBox="1"/>
              <p:nvPr/>
            </p:nvSpPr>
            <p:spPr>
              <a:xfrm>
                <a:off x="10020412" y="747605"/>
                <a:ext cx="17291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Largest Margin Among Top 10</a:t>
                </a:r>
              </a:p>
            </p:txBody>
          </p:sp>
        </p:grp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25C54C4-E775-F32B-D6A1-54E33A8BA4DD}"/>
              </a:ext>
            </a:extLst>
          </p:cNvPr>
          <p:cNvSpPr/>
          <p:nvPr/>
        </p:nvSpPr>
        <p:spPr>
          <a:xfrm>
            <a:off x="3216744" y="5528999"/>
            <a:ext cx="8852493" cy="1129540"/>
          </a:xfrm>
          <a:prstGeom prst="roundRect">
            <a:avLst>
              <a:gd name="adj" fmla="val 11077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BF12233F-A3C6-9355-219B-45FD41B5A107}"/>
              </a:ext>
            </a:extLst>
          </p:cNvPr>
          <p:cNvSpPr/>
          <p:nvPr/>
        </p:nvSpPr>
        <p:spPr>
          <a:xfrm>
            <a:off x="271404" y="181047"/>
            <a:ext cx="2697584" cy="6485223"/>
          </a:xfrm>
          <a:prstGeom prst="roundRect">
            <a:avLst>
              <a:gd name="adj" fmla="val 6471"/>
            </a:avLst>
          </a:prstGeom>
          <a:gradFill>
            <a:gsLst>
              <a:gs pos="0">
                <a:srgbClr val="7D2277"/>
              </a:gs>
              <a:gs pos="48000">
                <a:schemeClr val="accent5">
                  <a:lumMod val="75000"/>
                </a:schemeClr>
              </a:gs>
              <a:gs pos="99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6A75353-3562-2AE3-CE8D-3E9FA2079E47}"/>
              </a:ext>
            </a:extLst>
          </p:cNvPr>
          <p:cNvGrpSpPr/>
          <p:nvPr/>
        </p:nvGrpSpPr>
        <p:grpSpPr>
          <a:xfrm>
            <a:off x="3216744" y="199461"/>
            <a:ext cx="2733463" cy="1117928"/>
            <a:chOff x="3216744" y="199461"/>
            <a:chExt cx="2733463" cy="1117928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414AAFAF-9E56-5DD0-7B91-9112F8D3EA20}"/>
                </a:ext>
              </a:extLst>
            </p:cNvPr>
            <p:cNvSpPr/>
            <p:nvPr/>
          </p:nvSpPr>
          <p:spPr>
            <a:xfrm>
              <a:off x="3216744" y="199461"/>
              <a:ext cx="2733463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9FBD2C02-EA56-3AB6-7021-637C46B6297C}"/>
                </a:ext>
              </a:extLst>
            </p:cNvPr>
            <p:cNvGrpSpPr/>
            <p:nvPr/>
          </p:nvGrpSpPr>
          <p:grpSpPr>
            <a:xfrm>
              <a:off x="4121588" y="281259"/>
              <a:ext cx="1513031" cy="662688"/>
              <a:chOff x="4104811" y="266558"/>
              <a:chExt cx="1513031" cy="662688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BC59DC6-375A-6B04-B135-145B59681751}"/>
                  </a:ext>
                </a:extLst>
              </p:cNvPr>
              <p:cNvSpPr txBox="1"/>
              <p:nvPr/>
            </p:nvSpPr>
            <p:spPr>
              <a:xfrm>
                <a:off x="4105539" y="266558"/>
                <a:ext cx="12519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10</a:t>
                </a:r>
                <a:endParaRPr lang="en-IN" sz="28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E6F52A5-5C08-F93C-A65B-50DEB344EDAA}"/>
                  </a:ext>
                </a:extLst>
              </p:cNvPr>
              <p:cNvSpPr txBox="1"/>
              <p:nvPr/>
            </p:nvSpPr>
            <p:spPr>
              <a:xfrm>
                <a:off x="4104811" y="652247"/>
                <a:ext cx="15130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Closest Seats</a:t>
                </a:r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387DA69C-03BE-94F8-D9F2-7368F0B971E6}"/>
              </a:ext>
            </a:extLst>
          </p:cNvPr>
          <p:cNvSpPr txBox="1"/>
          <p:nvPr/>
        </p:nvSpPr>
        <p:spPr>
          <a:xfrm>
            <a:off x="3478308" y="1605803"/>
            <a:ext cx="4577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Close contest winner profile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Distribution of winners across the top 10 closest constituencies</a:t>
            </a:r>
            <a:endParaRPr lang="en-IN" sz="12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3E567A-1EDA-8D2E-E58A-B36F526F99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258689" y="4550205"/>
            <a:ext cx="2718813" cy="2116065"/>
          </a:xfrm>
          <a:prstGeom prst="rect">
            <a:avLst/>
          </a:prstGeom>
          <a:effectLst/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5017E1-E090-B0BC-CE9F-0BA2E8FE6A3E}"/>
              </a:ext>
            </a:extLst>
          </p:cNvPr>
          <p:cNvSpPr/>
          <p:nvPr/>
        </p:nvSpPr>
        <p:spPr>
          <a:xfrm>
            <a:off x="10396452" y="1496366"/>
            <a:ext cx="1660089" cy="3454121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99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FB56679-1BAC-EEA8-7F92-8CE556776DAC}"/>
              </a:ext>
            </a:extLst>
          </p:cNvPr>
          <p:cNvSpPr txBox="1"/>
          <p:nvPr/>
        </p:nvSpPr>
        <p:spPr>
          <a:xfrm>
            <a:off x="4121588" y="5849320"/>
            <a:ext cx="20628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Competitive constituencies can act as early indicators of future electoral change.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6BD59CD-E49C-CEE0-7E4C-37164799C353}"/>
              </a:ext>
            </a:extLst>
          </p:cNvPr>
          <p:cNvSpPr txBox="1"/>
          <p:nvPr/>
        </p:nvSpPr>
        <p:spPr>
          <a:xfrm>
            <a:off x="7234963" y="5888086"/>
            <a:ext cx="2235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Small vote swings materially changed electoral outcomes.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07369B4-9E48-7592-1ED3-BCA886714D51}"/>
              </a:ext>
            </a:extLst>
          </p:cNvPr>
          <p:cNvSpPr txBox="1"/>
          <p:nvPr/>
        </p:nvSpPr>
        <p:spPr>
          <a:xfrm>
            <a:off x="10059825" y="5857325"/>
            <a:ext cx="19967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Tracking close battles helps identify future competitive regions.</a:t>
            </a:r>
            <a:endParaRPr lang="en-IN" sz="10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23AA366-CEA3-B8D1-56EA-7080BFD521FB}"/>
              </a:ext>
            </a:extLst>
          </p:cNvPr>
          <p:cNvSpPr txBox="1"/>
          <p:nvPr/>
        </p:nvSpPr>
        <p:spPr>
          <a:xfrm>
            <a:off x="9668353" y="5562392"/>
            <a:ext cx="214894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Why it Matters</a:t>
            </a:r>
          </a:p>
          <a:p>
            <a:pPr algn="ctr"/>
            <a:r>
              <a:rPr lang="en-IN" sz="9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CB0105C-B696-5CB8-98CA-E7F6EF6BACBE}"/>
              </a:ext>
            </a:extLst>
          </p:cNvPr>
          <p:cNvSpPr txBox="1"/>
          <p:nvPr/>
        </p:nvSpPr>
        <p:spPr>
          <a:xfrm>
            <a:off x="6905639" y="5591579"/>
            <a:ext cx="2148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What this means</a:t>
            </a:r>
            <a:endParaRPr lang="en-IN" sz="9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261A3BA-4182-7E45-867E-D1BAA99D44F2}"/>
              </a:ext>
            </a:extLst>
          </p:cNvPr>
          <p:cNvSpPr txBox="1"/>
          <p:nvPr/>
        </p:nvSpPr>
        <p:spPr>
          <a:xfrm>
            <a:off x="3706204" y="5551084"/>
            <a:ext cx="2148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Key takeaway</a:t>
            </a:r>
            <a:endParaRPr lang="en-IN" sz="9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59" name="Graphic 158" descr="Lightbulb and gear with solid fill">
            <a:extLst>
              <a:ext uri="{FF2B5EF4-FFF2-40B4-BE49-F238E27FC236}">
                <a16:creationId xmlns:a16="http://schemas.microsoft.com/office/drawing/2014/main" id="{71FA770E-A355-9E26-296D-AD491080D5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5389" y="4243960"/>
            <a:ext cx="553998" cy="553998"/>
          </a:xfrm>
          <a:prstGeom prst="rect">
            <a:avLst/>
          </a:prstGeom>
        </p:spPr>
      </p:pic>
      <p:pic>
        <p:nvPicPr>
          <p:cNvPr id="160" name="Graphic 159" descr="Bullseye with solid fill">
            <a:extLst>
              <a:ext uri="{FF2B5EF4-FFF2-40B4-BE49-F238E27FC236}">
                <a16:creationId xmlns:a16="http://schemas.microsoft.com/office/drawing/2014/main" id="{41AC6F46-7411-69B6-4EFD-A46D5854A5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9803" y="5884199"/>
            <a:ext cx="557885" cy="557885"/>
          </a:xfrm>
          <a:prstGeom prst="rect">
            <a:avLst/>
          </a:prstGeom>
        </p:spPr>
      </p:pic>
      <p:pic>
        <p:nvPicPr>
          <p:cNvPr id="161" name="Graphic 160" descr="Bar graph with upward trend with solid fill">
            <a:extLst>
              <a:ext uri="{FF2B5EF4-FFF2-40B4-BE49-F238E27FC236}">
                <a16:creationId xmlns:a16="http://schemas.microsoft.com/office/drawing/2014/main" id="{884EE6FF-F5EA-6D58-C515-9E85C4C82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68651" y="5884199"/>
            <a:ext cx="517320" cy="517320"/>
          </a:xfrm>
          <a:prstGeom prst="rect">
            <a:avLst/>
          </a:prstGeom>
        </p:spPr>
      </p:pic>
      <p:pic>
        <p:nvPicPr>
          <p:cNvPr id="40" name="Graphic 39" descr="Target outline">
            <a:extLst>
              <a:ext uri="{FF2B5EF4-FFF2-40B4-BE49-F238E27FC236}">
                <a16:creationId xmlns:a16="http://schemas.microsoft.com/office/drawing/2014/main" id="{D8DFCAE8-D8F1-6F4A-B10F-B59DC09F82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839" y="4494066"/>
            <a:ext cx="533484" cy="5334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883364-5CA5-834D-42CC-BB3956F25BD6}"/>
              </a:ext>
            </a:extLst>
          </p:cNvPr>
          <p:cNvSpPr txBox="1"/>
          <p:nvPr/>
        </p:nvSpPr>
        <p:spPr>
          <a:xfrm>
            <a:off x="338000" y="2619195"/>
            <a:ext cx="2369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What we Observed?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1BAA402-BBFB-0A78-6C8F-44A54026C0D4}"/>
              </a:ext>
            </a:extLst>
          </p:cNvPr>
          <p:cNvGrpSpPr/>
          <p:nvPr/>
        </p:nvGrpSpPr>
        <p:grpSpPr>
          <a:xfrm>
            <a:off x="303704" y="433432"/>
            <a:ext cx="2665284" cy="4560938"/>
            <a:chOff x="208843" y="344468"/>
            <a:chExt cx="2899897" cy="4560938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A8B111D-113A-2E53-35EA-0DE5B1CB433F}"/>
                </a:ext>
              </a:extLst>
            </p:cNvPr>
            <p:cNvSpPr txBox="1"/>
            <p:nvPr/>
          </p:nvSpPr>
          <p:spPr>
            <a:xfrm>
              <a:off x="241909" y="344468"/>
              <a:ext cx="2764553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Story 03 Findings</a:t>
              </a:r>
            </a:p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 </a:t>
              </a:r>
            </a:p>
            <a:p>
              <a:r>
                <a:rPr lang="en-IN" sz="16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What did the close battles reveal?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468B985-E89C-B70D-4568-354CFC605FCF}"/>
                </a:ext>
              </a:extLst>
            </p:cNvPr>
            <p:cNvSpPr txBox="1"/>
            <p:nvPr/>
          </p:nvSpPr>
          <p:spPr>
            <a:xfrm>
              <a:off x="208843" y="1505956"/>
              <a:ext cx="2764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venir Next LT Pro Demi" panose="020B0704020202020204" pitchFamily="34" charset="0"/>
                </a:rPr>
                <a:t>Understanding what narrow victories tell us about electoral pressure.</a:t>
              </a:r>
              <a:endParaRPr lang="en-IN" sz="1400" dirty="0">
                <a:solidFill>
                  <a:schemeClr val="accent5">
                    <a:lumMod val="75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33E65F-E5C4-26A3-A2DE-0752C5BFC55D}"/>
                </a:ext>
              </a:extLst>
            </p:cNvPr>
            <p:cNvSpPr txBox="1"/>
            <p:nvPr/>
          </p:nvSpPr>
          <p:spPr>
            <a:xfrm>
              <a:off x="743944" y="2943314"/>
              <a:ext cx="21356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Close battles were distributed across multiple parties.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CAD49-1835-7564-94C2-8C20920007D6}"/>
                </a:ext>
              </a:extLst>
            </p:cNvPr>
            <p:cNvSpPr txBox="1"/>
            <p:nvPr/>
          </p:nvSpPr>
          <p:spPr>
            <a:xfrm>
              <a:off x="743944" y="3692671"/>
              <a:ext cx="21356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Extremely small vote differences altered electoral outcomes.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C536CD2-4A06-0964-7523-33C4FD412A17}"/>
                </a:ext>
              </a:extLst>
            </p:cNvPr>
            <p:cNvSpPr txBox="1"/>
            <p:nvPr/>
          </p:nvSpPr>
          <p:spPr>
            <a:xfrm>
              <a:off x="753297" y="4443741"/>
              <a:ext cx="23554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Competitive seats may signal future battlegrounds.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</p:grp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93A1B90-2FC2-EF45-ECC6-02F66B59BF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0541569"/>
              </p:ext>
            </p:extLst>
          </p:nvPr>
        </p:nvGraphicFramePr>
        <p:xfrm>
          <a:off x="3404735" y="2204406"/>
          <a:ext cx="4795311" cy="2167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1AAF5A7-9151-68D0-D0E2-D87D9709B417}"/>
              </a:ext>
            </a:extLst>
          </p:cNvPr>
          <p:cNvSpPr txBox="1"/>
          <p:nvPr/>
        </p:nvSpPr>
        <p:spPr>
          <a:xfrm>
            <a:off x="6733657" y="2357096"/>
            <a:ext cx="1322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4 (40%)</a:t>
            </a:r>
            <a:endParaRPr lang="en-IN" sz="1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6C326E-3C8D-04D2-9796-8CEBC2FDA34E}"/>
              </a:ext>
            </a:extLst>
          </p:cNvPr>
          <p:cNvSpPr txBox="1"/>
          <p:nvPr/>
        </p:nvSpPr>
        <p:spPr>
          <a:xfrm>
            <a:off x="6689803" y="2740256"/>
            <a:ext cx="1322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Avenir Next LT Pro Demi" panose="020B0704020202020204" pitchFamily="34" charset="0"/>
              </a:rPr>
              <a:t>3 (30%)</a:t>
            </a:r>
            <a:endParaRPr lang="en-IN" sz="1400" b="1" dirty="0">
              <a:solidFill>
                <a:schemeClr val="accent5">
                  <a:lumMod val="7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957F9-68B8-6F40-C268-F951BA1E8AE1}"/>
              </a:ext>
            </a:extLst>
          </p:cNvPr>
          <p:cNvSpPr txBox="1"/>
          <p:nvPr/>
        </p:nvSpPr>
        <p:spPr>
          <a:xfrm>
            <a:off x="6689803" y="3137954"/>
            <a:ext cx="1322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Next LT Pro Demi" panose="020B0704020202020204" pitchFamily="34" charset="0"/>
              </a:rPr>
              <a:t>2 (20%)</a:t>
            </a:r>
            <a:endParaRPr lang="en-IN" sz="1400" b="1" dirty="0">
              <a:solidFill>
                <a:schemeClr val="accent5">
                  <a:lumMod val="40000"/>
                  <a:lumOff val="6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2F940E-0503-6010-7C9E-1147F0B80729}"/>
              </a:ext>
            </a:extLst>
          </p:cNvPr>
          <p:cNvSpPr txBox="1"/>
          <p:nvPr/>
        </p:nvSpPr>
        <p:spPr>
          <a:xfrm>
            <a:off x="6689803" y="3518604"/>
            <a:ext cx="964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1 (10%)</a:t>
            </a:r>
            <a:endParaRPr lang="en-IN" sz="1400" b="1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7EFA02-D0EC-490D-9724-EA70F82CC034}"/>
              </a:ext>
            </a:extLst>
          </p:cNvPr>
          <p:cNvSpPr txBox="1"/>
          <p:nvPr/>
        </p:nvSpPr>
        <p:spPr>
          <a:xfrm>
            <a:off x="4080146" y="4300862"/>
            <a:ext cx="3373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No single party completely dominated the closest contests.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E0A3FE-3F0A-B15B-450B-742BE76E26D6}"/>
              </a:ext>
            </a:extLst>
          </p:cNvPr>
          <p:cNvSpPr txBox="1"/>
          <p:nvPr/>
        </p:nvSpPr>
        <p:spPr>
          <a:xfrm>
            <a:off x="6714759" y="1583925"/>
            <a:ext cx="4577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Most competitive seats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Top 4 seats with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 the smallest victory margins</a:t>
            </a:r>
            <a:endParaRPr lang="en-IN" sz="12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35" name="Graphic 34" descr="Badge 4 outline">
            <a:extLst>
              <a:ext uri="{FF2B5EF4-FFF2-40B4-BE49-F238E27FC236}">
                <a16:creationId xmlns:a16="http://schemas.microsoft.com/office/drawing/2014/main" id="{A1A0C634-AD77-11BA-D4F1-BDBA951013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0112" y="3888883"/>
            <a:ext cx="419466" cy="419466"/>
          </a:xfrm>
          <a:prstGeom prst="rect">
            <a:avLst/>
          </a:prstGeom>
        </p:spPr>
      </p:pic>
      <p:pic>
        <p:nvPicPr>
          <p:cNvPr id="39" name="Graphic 38" descr="Badge 3 outline">
            <a:extLst>
              <a:ext uri="{FF2B5EF4-FFF2-40B4-BE49-F238E27FC236}">
                <a16:creationId xmlns:a16="http://schemas.microsoft.com/office/drawing/2014/main" id="{1FBEEF3B-3AB2-AA47-C461-1AD6805008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73253" y="3451249"/>
            <a:ext cx="416942" cy="416942"/>
          </a:xfrm>
          <a:prstGeom prst="rect">
            <a:avLst/>
          </a:prstGeom>
        </p:spPr>
      </p:pic>
      <p:pic>
        <p:nvPicPr>
          <p:cNvPr id="43" name="Graphic 42" descr="Badge outline">
            <a:extLst>
              <a:ext uri="{FF2B5EF4-FFF2-40B4-BE49-F238E27FC236}">
                <a16:creationId xmlns:a16="http://schemas.microsoft.com/office/drawing/2014/main" id="{2B7C89C9-156A-DC07-B87B-1A5AA3136B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68570" y="2987707"/>
            <a:ext cx="426309" cy="426309"/>
          </a:xfrm>
          <a:prstGeom prst="rect">
            <a:avLst/>
          </a:prstGeom>
        </p:spPr>
      </p:pic>
      <p:pic>
        <p:nvPicPr>
          <p:cNvPr id="45" name="Graphic 44" descr="Badge 1 outline">
            <a:extLst>
              <a:ext uri="{FF2B5EF4-FFF2-40B4-BE49-F238E27FC236}">
                <a16:creationId xmlns:a16="http://schemas.microsoft.com/office/drawing/2014/main" id="{11930F46-8AA0-0548-D181-2CF07BAF8C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53552" y="2516794"/>
            <a:ext cx="423117" cy="42311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9F4F5178-AEAA-5C82-1B93-7AB57F92FA83}"/>
              </a:ext>
            </a:extLst>
          </p:cNvPr>
          <p:cNvSpPr txBox="1"/>
          <p:nvPr/>
        </p:nvSpPr>
        <p:spPr>
          <a:xfrm>
            <a:off x="8347958" y="2562297"/>
            <a:ext cx="16629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Tiruppattur</a:t>
            </a:r>
            <a:r>
              <a:rPr lang="en-US" sz="1300" b="1" dirty="0"/>
              <a:t> </a:t>
            </a:r>
            <a:r>
              <a:rPr lang="en-US" sz="13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1</a:t>
            </a:r>
            <a:r>
              <a:rPr lang="en-US" sz="1300" b="1" dirty="0"/>
              <a:t>  </a:t>
            </a:r>
            <a:r>
              <a:rPr lang="en-US" sz="1300" dirty="0"/>
              <a:t>vote</a:t>
            </a:r>
            <a:endParaRPr lang="en-IN" sz="13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3E0E96-A6BF-9195-F5D8-5D2DE4734CEB}"/>
              </a:ext>
            </a:extLst>
          </p:cNvPr>
          <p:cNvSpPr txBox="1"/>
          <p:nvPr/>
        </p:nvSpPr>
        <p:spPr>
          <a:xfrm>
            <a:off x="8329802" y="3058398"/>
            <a:ext cx="20399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Veppanahalli </a:t>
            </a:r>
            <a:r>
              <a:rPr lang="en-US" sz="13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138</a:t>
            </a:r>
            <a:r>
              <a:rPr lang="en-US" sz="13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300" dirty="0"/>
              <a:t>votes</a:t>
            </a:r>
            <a:endParaRPr lang="en-IN" sz="13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8AAA09-576D-DD7C-E2AB-30EA9D6F8D8A}"/>
              </a:ext>
            </a:extLst>
          </p:cNvPr>
          <p:cNvSpPr txBox="1"/>
          <p:nvPr/>
        </p:nvSpPr>
        <p:spPr>
          <a:xfrm>
            <a:off x="8347958" y="3518654"/>
            <a:ext cx="20399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Kanniyakumari </a:t>
            </a:r>
            <a:r>
              <a:rPr lang="en-US" sz="13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214</a:t>
            </a:r>
            <a:r>
              <a:rPr lang="en-US" sz="1300" dirty="0"/>
              <a:t> votes</a:t>
            </a:r>
            <a:endParaRPr lang="en-IN" sz="13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E48BA3-8C06-F83B-E1D2-1860AE918445}"/>
              </a:ext>
            </a:extLst>
          </p:cNvPr>
          <p:cNvSpPr txBox="1"/>
          <p:nvPr/>
        </p:nvSpPr>
        <p:spPr>
          <a:xfrm>
            <a:off x="8347958" y="3978910"/>
            <a:ext cx="20399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Polur  </a:t>
            </a:r>
            <a:r>
              <a:rPr lang="en-US" sz="13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227</a:t>
            </a:r>
            <a:r>
              <a:rPr lang="en-US" sz="1300" dirty="0"/>
              <a:t>  votes</a:t>
            </a:r>
            <a:endParaRPr lang="en-IN" sz="13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20C071-A0DD-F060-2B47-2A64075BC1E3}"/>
              </a:ext>
            </a:extLst>
          </p:cNvPr>
          <p:cNvSpPr txBox="1"/>
          <p:nvPr/>
        </p:nvSpPr>
        <p:spPr>
          <a:xfrm>
            <a:off x="7953552" y="4329041"/>
            <a:ext cx="23410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Margins under 250 votes reflect intense competition.</a:t>
            </a:r>
            <a:endParaRPr lang="en-IN" sz="10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2952E3-6F21-6F0C-213D-254856AE0816}"/>
              </a:ext>
            </a:extLst>
          </p:cNvPr>
          <p:cNvSpPr txBox="1"/>
          <p:nvPr/>
        </p:nvSpPr>
        <p:spPr>
          <a:xfrm>
            <a:off x="10348031" y="1680216"/>
            <a:ext cx="1834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Pressure index</a:t>
            </a:r>
          </a:p>
        </p:txBody>
      </p:sp>
      <p:pic>
        <p:nvPicPr>
          <p:cNvPr id="55" name="Graphic 54" descr="Gauge with solid fill">
            <a:extLst>
              <a:ext uri="{FF2B5EF4-FFF2-40B4-BE49-F238E27FC236}">
                <a16:creationId xmlns:a16="http://schemas.microsoft.com/office/drawing/2014/main" id="{99773E22-B790-AB56-BA06-1909E937B8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65729" y="1847553"/>
            <a:ext cx="1520628" cy="183551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0E17D24D-EA62-9519-4BC9-A1EE5586C03A}"/>
              </a:ext>
            </a:extLst>
          </p:cNvPr>
          <p:cNvSpPr txBox="1"/>
          <p:nvPr/>
        </p:nvSpPr>
        <p:spPr>
          <a:xfrm>
            <a:off x="10348032" y="3279069"/>
            <a:ext cx="18344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Next LT Pro Demi" panose="020B0704020202020204" pitchFamily="34" charset="0"/>
              </a:rPr>
              <a:t>40%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of the closest seats were captured by AIADMK.</a:t>
            </a:r>
            <a:endParaRPr lang="en-IN" sz="1200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59" name="Graphic 58" descr="Badge New with solid fill">
            <a:extLst>
              <a:ext uri="{FF2B5EF4-FFF2-40B4-BE49-F238E27FC236}">
                <a16:creationId xmlns:a16="http://schemas.microsoft.com/office/drawing/2014/main" id="{259831C0-C7F6-E475-AB4A-8FBB556ADE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29545" y="5839673"/>
            <a:ext cx="570318" cy="570318"/>
          </a:xfrm>
          <a:prstGeom prst="rect">
            <a:avLst/>
          </a:prstGeom>
        </p:spPr>
      </p:pic>
      <p:pic>
        <p:nvPicPr>
          <p:cNvPr id="61" name="Graphic 60" descr="Trophy with solid fill">
            <a:extLst>
              <a:ext uri="{FF2B5EF4-FFF2-40B4-BE49-F238E27FC236}">
                <a16:creationId xmlns:a16="http://schemas.microsoft.com/office/drawing/2014/main" id="{298F82D8-CC67-40D3-3FBE-0014BC809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00069" y="325506"/>
            <a:ext cx="914400" cy="914400"/>
          </a:xfrm>
          <a:prstGeom prst="rect">
            <a:avLst/>
          </a:prstGeom>
        </p:spPr>
      </p:pic>
      <p:pic>
        <p:nvPicPr>
          <p:cNvPr id="63" name="Graphic 62" descr="Statistics outline">
            <a:extLst>
              <a:ext uri="{FF2B5EF4-FFF2-40B4-BE49-F238E27FC236}">
                <a16:creationId xmlns:a16="http://schemas.microsoft.com/office/drawing/2014/main" id="{ECD3DF87-DA63-AB6B-876C-A10CD14228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06935" y="285091"/>
            <a:ext cx="914400" cy="914400"/>
          </a:xfrm>
          <a:prstGeom prst="rect">
            <a:avLst/>
          </a:prstGeom>
        </p:spPr>
      </p:pic>
      <p:pic>
        <p:nvPicPr>
          <p:cNvPr id="65" name="Graphic 64" descr="Statistics outline">
            <a:extLst>
              <a:ext uri="{FF2B5EF4-FFF2-40B4-BE49-F238E27FC236}">
                <a16:creationId xmlns:a16="http://schemas.microsoft.com/office/drawing/2014/main" id="{30314432-304A-3A81-333B-284A9C7E5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41679" y="278974"/>
            <a:ext cx="914400" cy="914400"/>
          </a:xfrm>
          <a:prstGeom prst="rect">
            <a:avLst/>
          </a:prstGeom>
        </p:spPr>
      </p:pic>
      <p:pic>
        <p:nvPicPr>
          <p:cNvPr id="67" name="Graphic 66" descr="Weights Uneven with solid fill">
            <a:extLst>
              <a:ext uri="{FF2B5EF4-FFF2-40B4-BE49-F238E27FC236}">
                <a16:creationId xmlns:a16="http://schemas.microsoft.com/office/drawing/2014/main" id="{C688B1D1-7186-9239-9FA0-7E7006B312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5627" y="3805368"/>
            <a:ext cx="530859" cy="530859"/>
          </a:xfrm>
          <a:prstGeom prst="rect">
            <a:avLst/>
          </a:prstGeom>
        </p:spPr>
      </p:pic>
      <p:pic>
        <p:nvPicPr>
          <p:cNvPr id="69" name="Graphic 68" descr="Social network outline">
            <a:extLst>
              <a:ext uri="{FF2B5EF4-FFF2-40B4-BE49-F238E27FC236}">
                <a16:creationId xmlns:a16="http://schemas.microsoft.com/office/drawing/2014/main" id="{986512AD-35F5-B549-BC03-DFB1FDF03D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88966" y="3030252"/>
            <a:ext cx="591944" cy="591944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1845D4AA-FB87-6BA9-3210-9503D0425E1E}"/>
              </a:ext>
            </a:extLst>
          </p:cNvPr>
          <p:cNvSpPr/>
          <p:nvPr/>
        </p:nvSpPr>
        <p:spPr>
          <a:xfrm>
            <a:off x="704553" y="103947"/>
            <a:ext cx="1692056" cy="2693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Margin Story</a:t>
            </a:r>
            <a:endParaRPr lang="en-IN" sz="1400" dirty="0">
              <a:latin typeface="Avenir Next LT Pro Demi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04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990A-90DA-E68F-A12B-DABDD0FBB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E3B5671-8A41-3816-80A2-4E462C507E65}"/>
              </a:ext>
            </a:extLst>
          </p:cNvPr>
          <p:cNvSpPr/>
          <p:nvPr/>
        </p:nvSpPr>
        <p:spPr>
          <a:xfrm>
            <a:off x="3147655" y="5411438"/>
            <a:ext cx="8921581" cy="1273246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99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079AD8C-8F06-C469-80AB-F537FD567A7B}"/>
              </a:ext>
            </a:extLst>
          </p:cNvPr>
          <p:cNvSpPr/>
          <p:nvPr/>
        </p:nvSpPr>
        <p:spPr>
          <a:xfrm>
            <a:off x="10039852" y="4053321"/>
            <a:ext cx="2029385" cy="1208734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99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B036DCE-D981-A501-53E3-F6BD417E732A}"/>
              </a:ext>
            </a:extLst>
          </p:cNvPr>
          <p:cNvSpPr/>
          <p:nvPr/>
        </p:nvSpPr>
        <p:spPr>
          <a:xfrm>
            <a:off x="10027156" y="2744209"/>
            <a:ext cx="2078672" cy="1208734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99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B7A83D7-854E-9EAD-44C5-4F100883CB6F}"/>
              </a:ext>
            </a:extLst>
          </p:cNvPr>
          <p:cNvSpPr/>
          <p:nvPr/>
        </p:nvSpPr>
        <p:spPr>
          <a:xfrm>
            <a:off x="7743644" y="1788752"/>
            <a:ext cx="2185687" cy="3156695"/>
          </a:xfrm>
          <a:prstGeom prst="roundRect">
            <a:avLst>
              <a:gd name="adj" fmla="val 8616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779CC00D-1693-08E3-7712-5F2831FCEB4C}"/>
              </a:ext>
            </a:extLst>
          </p:cNvPr>
          <p:cNvSpPr/>
          <p:nvPr/>
        </p:nvSpPr>
        <p:spPr>
          <a:xfrm>
            <a:off x="3176620" y="1783380"/>
            <a:ext cx="2185687" cy="3162067"/>
          </a:xfrm>
          <a:prstGeom prst="roundRect">
            <a:avLst>
              <a:gd name="adj" fmla="val 8616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A03B3AE-7D05-8FDC-4D55-66FFC7C9F9C3}"/>
              </a:ext>
            </a:extLst>
          </p:cNvPr>
          <p:cNvGrpSpPr/>
          <p:nvPr/>
        </p:nvGrpSpPr>
        <p:grpSpPr>
          <a:xfrm>
            <a:off x="6092760" y="171193"/>
            <a:ext cx="5976477" cy="1287205"/>
            <a:chOff x="6092761" y="171193"/>
            <a:chExt cx="5768333" cy="1287205"/>
          </a:xfrm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23EADFB4-99D9-9595-C45B-E97172D2B578}"/>
                </a:ext>
              </a:extLst>
            </p:cNvPr>
            <p:cNvSpPr/>
            <p:nvPr/>
          </p:nvSpPr>
          <p:spPr>
            <a:xfrm>
              <a:off x="6092761" y="199461"/>
              <a:ext cx="260791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52660DF9-4BD7-BEFB-D566-7976A4C07701}"/>
                </a:ext>
              </a:extLst>
            </p:cNvPr>
            <p:cNvSpPr/>
            <p:nvPr/>
          </p:nvSpPr>
          <p:spPr>
            <a:xfrm>
              <a:off x="9049135" y="171193"/>
              <a:ext cx="281195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04E8EEA-0C79-6F8A-AFC0-7F4069A1D454}"/>
                </a:ext>
              </a:extLst>
            </p:cNvPr>
            <p:cNvGrpSpPr/>
            <p:nvPr/>
          </p:nvGrpSpPr>
          <p:grpSpPr>
            <a:xfrm>
              <a:off x="6563114" y="306770"/>
              <a:ext cx="5118199" cy="1151628"/>
              <a:chOff x="6631320" y="316549"/>
              <a:chExt cx="5118199" cy="1151628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46DCDB2-E62B-6DF8-6B4D-0716106D7941}"/>
                  </a:ext>
                </a:extLst>
              </p:cNvPr>
              <p:cNvSpPr txBox="1"/>
              <p:nvPr/>
            </p:nvSpPr>
            <p:spPr>
              <a:xfrm>
                <a:off x="7002955" y="371243"/>
                <a:ext cx="17061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IN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69.66%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FC8016-55CD-EB14-4754-EDF968FDBC88}"/>
                  </a:ext>
                </a:extLst>
              </p:cNvPr>
              <p:cNvSpPr txBox="1"/>
              <p:nvPr/>
            </p:nvSpPr>
            <p:spPr>
              <a:xfrm>
                <a:off x="7006444" y="745318"/>
                <a:ext cx="28240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Statewide Shift Rate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61AD437-A8F7-9B65-D293-DF3AF4477D3C}"/>
                  </a:ext>
                </a:extLst>
              </p:cNvPr>
              <p:cNvSpPr txBox="1"/>
              <p:nvPr/>
            </p:nvSpPr>
            <p:spPr>
              <a:xfrm>
                <a:off x="10042830" y="316549"/>
                <a:ext cx="13582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1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EA13961-BCE6-8D2F-B5E8-92FF4F8DEF25}"/>
                  </a:ext>
                </a:extLst>
              </p:cNvPr>
              <p:cNvSpPr txBox="1"/>
              <p:nvPr/>
            </p:nvSpPr>
            <p:spPr>
              <a:xfrm>
                <a:off x="10020412" y="747605"/>
                <a:ext cx="17291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Closest Victory Margin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B15E3A6-4B1D-7573-6E13-AA9FBBC6B323}"/>
                  </a:ext>
                </a:extLst>
              </p:cNvPr>
              <p:cNvSpPr txBox="1"/>
              <p:nvPr/>
            </p:nvSpPr>
            <p:spPr>
              <a:xfrm>
                <a:off x="6631320" y="1053607"/>
                <a:ext cx="213045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Avenir Next LT Pro Demi" panose="020B0704020202020204" pitchFamily="34" charset="0"/>
                  </a:rPr>
                  <a:t>Constituencies that changed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952B1B-9E0E-FD2A-4451-3309DAA362D1}"/>
                  </a:ext>
                </a:extLst>
              </p:cNvPr>
              <p:cNvSpPr txBox="1"/>
              <p:nvPr/>
            </p:nvSpPr>
            <p:spPr>
              <a:xfrm>
                <a:off x="9520281" y="1037290"/>
                <a:ext cx="21304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Avenir Next LT Pro Demi" panose="020B0704020202020204" pitchFamily="34" charset="0"/>
                  </a:rPr>
                  <a:t>Among the top 10 closest seats</a:t>
                </a:r>
                <a:endParaRPr lang="en-IN" sz="1100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</p:grpSp>
      </p:grp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02B821A9-09A7-0D30-0278-7D0EE0007EBA}"/>
              </a:ext>
            </a:extLst>
          </p:cNvPr>
          <p:cNvSpPr/>
          <p:nvPr/>
        </p:nvSpPr>
        <p:spPr>
          <a:xfrm>
            <a:off x="263478" y="199461"/>
            <a:ext cx="2697584" cy="6485223"/>
          </a:xfrm>
          <a:prstGeom prst="roundRect">
            <a:avLst>
              <a:gd name="adj" fmla="val 6471"/>
            </a:avLst>
          </a:prstGeom>
          <a:gradFill>
            <a:gsLst>
              <a:gs pos="0">
                <a:srgbClr val="7D2277"/>
              </a:gs>
              <a:gs pos="48000">
                <a:schemeClr val="accent5">
                  <a:lumMod val="75000"/>
                </a:schemeClr>
              </a:gs>
              <a:gs pos="99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32EF72F-44D3-20E2-5526-DE7DFDB38D13}"/>
              </a:ext>
            </a:extLst>
          </p:cNvPr>
          <p:cNvGrpSpPr/>
          <p:nvPr/>
        </p:nvGrpSpPr>
        <p:grpSpPr>
          <a:xfrm>
            <a:off x="3216744" y="199461"/>
            <a:ext cx="3044107" cy="1117928"/>
            <a:chOff x="3216744" y="199461"/>
            <a:chExt cx="3044107" cy="1117928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8E054E0C-CF8B-0D49-D67E-352F3C52444A}"/>
                </a:ext>
              </a:extLst>
            </p:cNvPr>
            <p:cNvSpPr/>
            <p:nvPr/>
          </p:nvSpPr>
          <p:spPr>
            <a:xfrm>
              <a:off x="3216744" y="199461"/>
              <a:ext cx="2733463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63ED520D-DE65-2F8E-5DBF-8EA2E1FAEA5B}"/>
                </a:ext>
              </a:extLst>
            </p:cNvPr>
            <p:cNvGrpSpPr/>
            <p:nvPr/>
          </p:nvGrpSpPr>
          <p:grpSpPr>
            <a:xfrm>
              <a:off x="3590373" y="372595"/>
              <a:ext cx="2670478" cy="903536"/>
              <a:chOff x="3573596" y="357894"/>
              <a:chExt cx="2670478" cy="903536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73CC6CC-0AA7-732A-20F7-5F52ACDA39CA}"/>
                  </a:ext>
                </a:extLst>
              </p:cNvPr>
              <p:cNvSpPr txBox="1"/>
              <p:nvPr/>
            </p:nvSpPr>
            <p:spPr>
              <a:xfrm>
                <a:off x="4056787" y="357894"/>
                <a:ext cx="12519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163</a:t>
                </a:r>
                <a:endParaRPr lang="en-IN" sz="28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1257A92-EFA0-E6AA-D75B-197991C09C0D}"/>
                  </a:ext>
                </a:extLst>
              </p:cNvPr>
              <p:cNvSpPr txBox="1"/>
              <p:nvPr/>
            </p:nvSpPr>
            <p:spPr>
              <a:xfrm>
                <a:off x="4056059" y="743583"/>
                <a:ext cx="15130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Flipped Seats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32A6E4-9EB1-6BD0-0475-FE0A32877838}"/>
                  </a:ext>
                </a:extLst>
              </p:cNvPr>
              <p:cNvSpPr txBox="1"/>
              <p:nvPr/>
            </p:nvSpPr>
            <p:spPr>
              <a:xfrm>
                <a:off x="3573596" y="999820"/>
                <a:ext cx="26704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Avenir Next LT Pro Demi" panose="020B0704020202020204" pitchFamily="34" charset="0"/>
                  </a:rPr>
                  <a:t>Out of 234 constituencies</a:t>
                </a:r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3382427-F706-AFDB-2B2D-7F815284C7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258689" y="4550205"/>
            <a:ext cx="2718813" cy="2116065"/>
          </a:xfrm>
          <a:prstGeom prst="rect">
            <a:avLst/>
          </a:prstGeom>
          <a:effectLst/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68F552-578C-4C60-ECF1-188ADD993FD7}"/>
              </a:ext>
            </a:extLst>
          </p:cNvPr>
          <p:cNvSpPr/>
          <p:nvPr/>
        </p:nvSpPr>
        <p:spPr>
          <a:xfrm>
            <a:off x="10027156" y="1496367"/>
            <a:ext cx="2078672" cy="1208734"/>
          </a:xfrm>
          <a:prstGeom prst="roundRect">
            <a:avLst>
              <a:gd name="adj" fmla="val 5131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99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pic>
        <p:nvPicPr>
          <p:cNvPr id="159" name="Graphic 158" descr="Lightbulb and gear with solid fill">
            <a:extLst>
              <a:ext uri="{FF2B5EF4-FFF2-40B4-BE49-F238E27FC236}">
                <a16:creationId xmlns:a16="http://schemas.microsoft.com/office/drawing/2014/main" id="{810B2B05-515A-5FEB-D18E-70C123211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3458" y="1558055"/>
            <a:ext cx="553998" cy="553998"/>
          </a:xfrm>
          <a:prstGeom prst="rect">
            <a:avLst/>
          </a:prstGeom>
        </p:spPr>
      </p:pic>
      <p:pic>
        <p:nvPicPr>
          <p:cNvPr id="160" name="Graphic 159" descr="Bullseye with solid fill">
            <a:extLst>
              <a:ext uri="{FF2B5EF4-FFF2-40B4-BE49-F238E27FC236}">
                <a16:creationId xmlns:a16="http://schemas.microsoft.com/office/drawing/2014/main" id="{771C917C-790E-C8C2-E409-001F6813B0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1514" y="2797017"/>
            <a:ext cx="557885" cy="557885"/>
          </a:xfrm>
          <a:prstGeom prst="rect">
            <a:avLst/>
          </a:prstGeom>
        </p:spPr>
      </p:pic>
      <p:pic>
        <p:nvPicPr>
          <p:cNvPr id="161" name="Graphic 160" descr="Bar graph with upward trend with solid fill">
            <a:extLst>
              <a:ext uri="{FF2B5EF4-FFF2-40B4-BE49-F238E27FC236}">
                <a16:creationId xmlns:a16="http://schemas.microsoft.com/office/drawing/2014/main" id="{0C761D82-837B-2C2B-0150-A3D04723DA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91469" y="4103257"/>
            <a:ext cx="517320" cy="5173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C3D623-623F-57A4-0743-00984CC37549}"/>
              </a:ext>
            </a:extLst>
          </p:cNvPr>
          <p:cNvSpPr txBox="1"/>
          <p:nvPr/>
        </p:nvSpPr>
        <p:spPr>
          <a:xfrm>
            <a:off x="305287" y="2444596"/>
            <a:ext cx="270506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The Big Picture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C30F8BE-CA2D-A400-BD2A-F31306B05B35}"/>
              </a:ext>
            </a:extLst>
          </p:cNvPr>
          <p:cNvGrpSpPr/>
          <p:nvPr/>
        </p:nvGrpSpPr>
        <p:grpSpPr>
          <a:xfrm>
            <a:off x="303373" y="433432"/>
            <a:ext cx="2665615" cy="4745604"/>
            <a:chOff x="208483" y="344468"/>
            <a:chExt cx="2900257" cy="4745604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15B9E44-16F6-3CB4-4E7B-4E71C4CDC908}"/>
                </a:ext>
              </a:extLst>
            </p:cNvPr>
            <p:cNvSpPr txBox="1"/>
            <p:nvPr/>
          </p:nvSpPr>
          <p:spPr>
            <a:xfrm>
              <a:off x="241909" y="344468"/>
              <a:ext cx="276455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 </a:t>
              </a:r>
            </a:p>
            <a:p>
              <a:r>
                <a:rPr lang="en-US" sz="16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What does the 2026 election tell us?</a:t>
              </a:r>
              <a:endParaRPr lang="en-IN" sz="1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34191DA-CC1B-ADF4-4897-E64057EBD068}"/>
                </a:ext>
              </a:extLst>
            </p:cNvPr>
            <p:cNvSpPr txBox="1"/>
            <p:nvPr/>
          </p:nvSpPr>
          <p:spPr>
            <a:xfrm>
              <a:off x="208483" y="1211200"/>
              <a:ext cx="2764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venir Next LT Pro Demi" panose="020B0704020202020204" pitchFamily="34" charset="0"/>
                </a:rPr>
                <a:t>Bringing together the key stories from the 2026 Tamil Nadu election.</a:t>
              </a:r>
              <a:endParaRPr lang="en-IN" sz="1400" dirty="0">
                <a:solidFill>
                  <a:schemeClr val="accent5">
                    <a:lumMod val="75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2E2EBA-B25D-F19C-2C45-19335F7C5620}"/>
                </a:ext>
              </a:extLst>
            </p:cNvPr>
            <p:cNvSpPr txBox="1"/>
            <p:nvPr/>
          </p:nvSpPr>
          <p:spPr>
            <a:xfrm>
              <a:off x="743944" y="2943314"/>
              <a:ext cx="21356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Large-scale constituency realignment reshaped the electoral landscape.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2B4F054-1FDE-74BD-46A5-87D72E1513E2}"/>
                </a:ext>
              </a:extLst>
            </p:cNvPr>
            <p:cNvSpPr txBox="1"/>
            <p:nvPr/>
          </p:nvSpPr>
          <p:spPr>
            <a:xfrm>
              <a:off x="743944" y="3692671"/>
              <a:ext cx="21356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Electoral movement was concentrated in specific regions and districts.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F4F64B-3EBB-B069-4DC9-1084D78DB662}"/>
                </a:ext>
              </a:extLst>
            </p:cNvPr>
            <p:cNvSpPr txBox="1"/>
            <p:nvPr/>
          </p:nvSpPr>
          <p:spPr>
            <a:xfrm>
              <a:off x="753297" y="4443741"/>
              <a:ext cx="23554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Several seats were won through extremely narrow victory margins.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</p:grpSp>
      <p:pic>
        <p:nvPicPr>
          <p:cNvPr id="67" name="Graphic 66" descr="Weights Uneven with solid fill">
            <a:extLst>
              <a:ext uri="{FF2B5EF4-FFF2-40B4-BE49-F238E27FC236}">
                <a16:creationId xmlns:a16="http://schemas.microsoft.com/office/drawing/2014/main" id="{6B9E6E99-A444-55EC-9DDC-E8E384AA07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9508" y="4590440"/>
            <a:ext cx="482400" cy="482400"/>
          </a:xfrm>
          <a:prstGeom prst="rect">
            <a:avLst/>
          </a:prstGeom>
        </p:spPr>
      </p:pic>
      <p:pic>
        <p:nvPicPr>
          <p:cNvPr id="6" name="Graphic 5" descr="Document outline">
            <a:extLst>
              <a:ext uri="{FF2B5EF4-FFF2-40B4-BE49-F238E27FC236}">
                <a16:creationId xmlns:a16="http://schemas.microsoft.com/office/drawing/2014/main" id="{770C7AC9-AAAA-536C-C73A-AAE715491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9006" y="5615591"/>
            <a:ext cx="914400" cy="914400"/>
          </a:xfrm>
          <a:prstGeom prst="rect">
            <a:avLst/>
          </a:prstGeom>
        </p:spPr>
      </p:pic>
      <p:pic>
        <p:nvPicPr>
          <p:cNvPr id="8" name="Graphic 7" descr="Bank outline">
            <a:extLst>
              <a:ext uri="{FF2B5EF4-FFF2-40B4-BE49-F238E27FC236}">
                <a16:creationId xmlns:a16="http://schemas.microsoft.com/office/drawing/2014/main" id="{1A29B886-E2B9-7203-9CBB-2054797E7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6901" y="1880073"/>
            <a:ext cx="914400" cy="914400"/>
          </a:xfrm>
          <a:prstGeom prst="rect">
            <a:avLst/>
          </a:prstGeom>
        </p:spPr>
      </p:pic>
      <p:pic>
        <p:nvPicPr>
          <p:cNvPr id="14" name="Graphic 13" descr="Repeat outline">
            <a:extLst>
              <a:ext uri="{FF2B5EF4-FFF2-40B4-BE49-F238E27FC236}">
                <a16:creationId xmlns:a16="http://schemas.microsoft.com/office/drawing/2014/main" id="{2E022DBB-602C-DACE-03CE-4DB06E97C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583" y="3137954"/>
            <a:ext cx="482514" cy="482514"/>
          </a:xfrm>
          <a:prstGeom prst="rect">
            <a:avLst/>
          </a:prstGeom>
        </p:spPr>
      </p:pic>
      <p:pic>
        <p:nvPicPr>
          <p:cNvPr id="22" name="Graphic 21" descr="Pie chart with solid fill">
            <a:extLst>
              <a:ext uri="{FF2B5EF4-FFF2-40B4-BE49-F238E27FC236}">
                <a16:creationId xmlns:a16="http://schemas.microsoft.com/office/drawing/2014/main" id="{BEB28AC2-F0CE-A99A-ABE6-CA1C06817F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22885" y="272957"/>
            <a:ext cx="914400" cy="914400"/>
          </a:xfrm>
          <a:prstGeom prst="rect">
            <a:avLst/>
          </a:prstGeom>
        </p:spPr>
      </p:pic>
      <p:pic>
        <p:nvPicPr>
          <p:cNvPr id="25" name="Graphic 24" descr="Fencing with solid fill">
            <a:extLst>
              <a:ext uri="{FF2B5EF4-FFF2-40B4-BE49-F238E27FC236}">
                <a16:creationId xmlns:a16="http://schemas.microsoft.com/office/drawing/2014/main" id="{699C96D6-CA78-6AC5-A7DC-6AFD86876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97679" y="2026918"/>
            <a:ext cx="599669" cy="599669"/>
          </a:xfrm>
          <a:prstGeom prst="rect">
            <a:avLst/>
          </a:prstGeom>
        </p:spPr>
      </p:pic>
      <p:pic>
        <p:nvPicPr>
          <p:cNvPr id="27" name="Graphic 26" descr="Map with pin with solid fill">
            <a:extLst>
              <a:ext uri="{FF2B5EF4-FFF2-40B4-BE49-F238E27FC236}">
                <a16:creationId xmlns:a16="http://schemas.microsoft.com/office/drawing/2014/main" id="{EEB9FEAB-74F5-15EF-AD65-482DCDAC6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4095" y="3817855"/>
            <a:ext cx="482400" cy="482400"/>
          </a:xfrm>
          <a:prstGeom prst="rect">
            <a:avLst/>
          </a:prstGeom>
        </p:spPr>
      </p:pic>
      <p:pic>
        <p:nvPicPr>
          <p:cNvPr id="28" name="Graphic 27" descr="Repeat outline">
            <a:extLst>
              <a:ext uri="{FF2B5EF4-FFF2-40B4-BE49-F238E27FC236}">
                <a16:creationId xmlns:a16="http://schemas.microsoft.com/office/drawing/2014/main" id="{94CCE977-AACA-4F97-DDC0-B6E3C4BA2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59365" y="373398"/>
            <a:ext cx="730456" cy="730456"/>
          </a:xfrm>
          <a:prstGeom prst="rect">
            <a:avLst/>
          </a:prstGeom>
        </p:spPr>
      </p:pic>
      <p:pic>
        <p:nvPicPr>
          <p:cNvPr id="33" name="Graphic 32" descr="Trophy with solid fill">
            <a:extLst>
              <a:ext uri="{FF2B5EF4-FFF2-40B4-BE49-F238E27FC236}">
                <a16:creationId xmlns:a16="http://schemas.microsoft.com/office/drawing/2014/main" id="{C97B7FF5-29A1-1FE8-1E77-F438835E0B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96467" y="235908"/>
            <a:ext cx="914400" cy="914400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DC2A413-C0F7-D729-20D1-965C1A36A4D5}"/>
              </a:ext>
            </a:extLst>
          </p:cNvPr>
          <p:cNvSpPr/>
          <p:nvPr/>
        </p:nvSpPr>
        <p:spPr>
          <a:xfrm>
            <a:off x="5460132" y="1751704"/>
            <a:ext cx="2185687" cy="3193744"/>
          </a:xfrm>
          <a:prstGeom prst="roundRect">
            <a:avLst>
              <a:gd name="adj" fmla="val 8616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101AE4-B796-7DFA-811F-63AA3EA860F4}"/>
              </a:ext>
            </a:extLst>
          </p:cNvPr>
          <p:cNvSpPr txBox="1"/>
          <p:nvPr/>
        </p:nvSpPr>
        <p:spPr>
          <a:xfrm>
            <a:off x="4426562" y="1373389"/>
            <a:ext cx="448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How the 2026 election story connects</a:t>
            </a:r>
            <a:endParaRPr lang="en-IN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54" name="Graphic 53" descr="Map with pin with solid fill">
            <a:extLst>
              <a:ext uri="{FF2B5EF4-FFF2-40B4-BE49-F238E27FC236}">
                <a16:creationId xmlns:a16="http://schemas.microsoft.com/office/drawing/2014/main" id="{1182A045-3AEC-49A6-68FE-2228BA082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11804" y="1876940"/>
            <a:ext cx="914400" cy="914400"/>
          </a:xfrm>
          <a:prstGeom prst="rect">
            <a:avLst/>
          </a:prstGeom>
        </p:spPr>
      </p:pic>
      <p:pic>
        <p:nvPicPr>
          <p:cNvPr id="58" name="Graphic 57" descr="Puzzle pieces with solid fill">
            <a:extLst>
              <a:ext uri="{FF2B5EF4-FFF2-40B4-BE49-F238E27FC236}">
                <a16:creationId xmlns:a16="http://schemas.microsoft.com/office/drawing/2014/main" id="{2F8C93FA-1E2D-1D00-3088-28A4179470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12637" y="5529161"/>
            <a:ext cx="914400" cy="9144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52EA151-18EA-3DD7-C399-32CE21D849BC}"/>
              </a:ext>
            </a:extLst>
          </p:cNvPr>
          <p:cNvSpPr txBox="1"/>
          <p:nvPr/>
        </p:nvSpPr>
        <p:spPr>
          <a:xfrm>
            <a:off x="3992944" y="2100734"/>
            <a:ext cx="1424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Constituency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Realignment</a:t>
            </a:r>
            <a:endParaRPr lang="en-IN" sz="1400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8C2817-6965-B51D-B959-7EBCDEDC9114}"/>
              </a:ext>
            </a:extLst>
          </p:cNvPr>
          <p:cNvSpPr txBox="1"/>
          <p:nvPr/>
        </p:nvSpPr>
        <p:spPr>
          <a:xfrm>
            <a:off x="6436753" y="2088260"/>
            <a:ext cx="1424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Geographic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Shift</a:t>
            </a:r>
            <a:endParaRPr lang="en-IN" sz="1400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3D4F94-15C3-5991-8F98-09ECEFF6D005}"/>
              </a:ext>
            </a:extLst>
          </p:cNvPr>
          <p:cNvSpPr txBox="1"/>
          <p:nvPr/>
        </p:nvSpPr>
        <p:spPr>
          <a:xfrm>
            <a:off x="8467042" y="2075380"/>
            <a:ext cx="1424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Close Battles</a:t>
            </a:r>
            <a:endParaRPr lang="en-IN" sz="1400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268C93-484D-16E8-3565-09DB3C471AE0}"/>
              </a:ext>
            </a:extLst>
          </p:cNvPr>
          <p:cNvSpPr txBox="1"/>
          <p:nvPr/>
        </p:nvSpPr>
        <p:spPr>
          <a:xfrm>
            <a:off x="3228343" y="2766778"/>
            <a:ext cx="2133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163 constituencies changed winning formation.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B11F53-4C42-7462-E259-C86A91D83737}"/>
              </a:ext>
            </a:extLst>
          </p:cNvPr>
          <p:cNvSpPr txBox="1"/>
          <p:nvPr/>
        </p:nvSpPr>
        <p:spPr>
          <a:xfrm>
            <a:off x="4085880" y="3377949"/>
            <a:ext cx="1178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TVK emerged as the largest beneficiary, gaining 65 seats from DMK.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5814288-7BD8-FABF-A121-37C36567127F}"/>
              </a:ext>
            </a:extLst>
          </p:cNvPr>
          <p:cNvSpPr txBox="1"/>
          <p:nvPr/>
        </p:nvSpPr>
        <p:spPr>
          <a:xfrm>
            <a:off x="5554419" y="2731618"/>
            <a:ext cx="2133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Electoral movement was concentrated in specific regions.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68AD6F3-17DD-0347-BD6F-453BC0920CD3}"/>
              </a:ext>
            </a:extLst>
          </p:cNvPr>
          <p:cNvSpPr txBox="1"/>
          <p:nvPr/>
        </p:nvSpPr>
        <p:spPr>
          <a:xfrm>
            <a:off x="6265826" y="3329876"/>
            <a:ext cx="1480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Chennai Metro (93.8%)</a:t>
            </a:r>
          </a:p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and </a:t>
            </a:r>
            <a:r>
              <a:rPr lang="en-US" sz="12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Kongu</a:t>
            </a: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 (81.8%)</a:t>
            </a:r>
          </a:p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recorded the</a:t>
            </a:r>
          </a:p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highest shifts.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DAF4839-D04A-6CEB-0356-7225BC06D06D}"/>
              </a:ext>
            </a:extLst>
          </p:cNvPr>
          <p:cNvSpPr txBox="1"/>
          <p:nvPr/>
        </p:nvSpPr>
        <p:spPr>
          <a:xfrm>
            <a:off x="7843905" y="2700700"/>
            <a:ext cx="2133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Several seats were won through extremely narrow victory margins.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3FC47B-8EC8-2AFE-B53A-8331BAE32A46}"/>
              </a:ext>
            </a:extLst>
          </p:cNvPr>
          <p:cNvSpPr txBox="1"/>
          <p:nvPr/>
        </p:nvSpPr>
        <p:spPr>
          <a:xfrm>
            <a:off x="8763406" y="3338692"/>
            <a:ext cx="1255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Among the closest 10 seats, AIADMK</a:t>
            </a:r>
          </a:p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secured 4 wins.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8DB974-919D-985D-84B9-E3FAC1EEA7D0}"/>
              </a:ext>
            </a:extLst>
          </p:cNvPr>
          <p:cNvSpPr txBox="1"/>
          <p:nvPr/>
        </p:nvSpPr>
        <p:spPr>
          <a:xfrm>
            <a:off x="10523508" y="1685037"/>
            <a:ext cx="1591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Together, these factors reshaped the political landscape </a:t>
            </a:r>
            <a:r>
              <a:rPr lang="en-US" sz="1000" dirty="0">
                <a:solidFill>
                  <a:schemeClr val="accent5">
                    <a:lumMod val="75000"/>
                  </a:schemeClr>
                </a:solidFill>
                <a:latin typeface="Avenir Next LT Pro Demi" panose="020B0704020202020204" pitchFamily="34" charset="0"/>
              </a:rPr>
              <a:t>beyond overall seat counts</a:t>
            </a:r>
            <a:endParaRPr lang="en-IN" sz="1000" dirty="0">
              <a:solidFill>
                <a:schemeClr val="accent5">
                  <a:lumMod val="7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DE48AF5-DDE1-3926-0798-0D8F424AEB2A}"/>
              </a:ext>
            </a:extLst>
          </p:cNvPr>
          <p:cNvSpPr/>
          <p:nvPr/>
        </p:nvSpPr>
        <p:spPr>
          <a:xfrm>
            <a:off x="8485961" y="1740417"/>
            <a:ext cx="849852" cy="276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Story 3</a:t>
            </a:r>
            <a:endParaRPr lang="en-IN" sz="1400" dirty="0">
              <a:latin typeface="Avenir Next LT Pro Demi" panose="020B07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C98DAA2-CDDF-781C-FD09-EE84E9EFE0EC}"/>
              </a:ext>
            </a:extLst>
          </p:cNvPr>
          <p:cNvSpPr/>
          <p:nvPr/>
        </p:nvSpPr>
        <p:spPr>
          <a:xfrm>
            <a:off x="6197023" y="1734989"/>
            <a:ext cx="849852" cy="276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Story 2</a:t>
            </a:r>
            <a:endParaRPr lang="en-IN" sz="1400" dirty="0">
              <a:latin typeface="Avenir Next LT Pro Demi" panose="020B0704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14D4189-3FC4-97E2-3888-EFA0A557A6BA}"/>
              </a:ext>
            </a:extLst>
          </p:cNvPr>
          <p:cNvSpPr/>
          <p:nvPr/>
        </p:nvSpPr>
        <p:spPr>
          <a:xfrm>
            <a:off x="3808142" y="1782239"/>
            <a:ext cx="849852" cy="276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Story 1</a:t>
            </a:r>
            <a:endParaRPr lang="en-IN" sz="1400" dirty="0">
              <a:latin typeface="Avenir Next LT Pro Demi" panose="020B0704020202020204" pitchFamily="34" charset="0"/>
            </a:endParaRPr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A440FE96-1045-A5DA-A247-FF5FFF9CB414}"/>
              </a:ext>
            </a:extLst>
          </p:cNvPr>
          <p:cNvSpPr/>
          <p:nvPr/>
        </p:nvSpPr>
        <p:spPr>
          <a:xfrm>
            <a:off x="5264380" y="2791340"/>
            <a:ext cx="321487" cy="40987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2DC09854-C2DA-D8BD-1F6A-386DAC6F1B88}"/>
              </a:ext>
            </a:extLst>
          </p:cNvPr>
          <p:cNvSpPr/>
          <p:nvPr/>
        </p:nvSpPr>
        <p:spPr>
          <a:xfrm>
            <a:off x="7576192" y="2715807"/>
            <a:ext cx="321487" cy="409876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venir Next LT Pro Demi" panose="020B0704020202020204" pitchFamily="34" charset="0"/>
            </a:endParaRPr>
          </a:p>
        </p:txBody>
      </p:sp>
      <p:pic>
        <p:nvPicPr>
          <p:cNvPr id="81" name="Graphic 80" descr="Bar graph with upward trend with solid fill">
            <a:extLst>
              <a:ext uri="{FF2B5EF4-FFF2-40B4-BE49-F238E27FC236}">
                <a16:creationId xmlns:a16="http://schemas.microsoft.com/office/drawing/2014/main" id="{4D8957A7-8C57-3FCF-9E66-44336B017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44557" y="3555933"/>
            <a:ext cx="826744" cy="826744"/>
          </a:xfrm>
          <a:prstGeom prst="rect">
            <a:avLst/>
          </a:prstGeom>
        </p:spPr>
      </p:pic>
      <p:pic>
        <p:nvPicPr>
          <p:cNvPr id="84" name="Graphic 83" descr="Group of men with solid fill">
            <a:extLst>
              <a:ext uri="{FF2B5EF4-FFF2-40B4-BE49-F238E27FC236}">
                <a16:creationId xmlns:a16="http://schemas.microsoft.com/office/drawing/2014/main" id="{9342E1F4-84C0-E606-7921-498D13814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936485" y="3483452"/>
            <a:ext cx="716400" cy="716400"/>
          </a:xfrm>
          <a:prstGeom prst="rect">
            <a:avLst/>
          </a:prstGeom>
        </p:spPr>
      </p:pic>
      <p:pic>
        <p:nvPicPr>
          <p:cNvPr id="85" name="Graphic 84" descr="Marker with solid fill">
            <a:extLst>
              <a:ext uri="{FF2B5EF4-FFF2-40B4-BE49-F238E27FC236}">
                <a16:creationId xmlns:a16="http://schemas.microsoft.com/office/drawing/2014/main" id="{4CFADF8A-C8A3-8A8F-438A-6374D53102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95756" y="3457309"/>
            <a:ext cx="914400" cy="91440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E7A60AF7-E40A-B610-39D6-426CCE68E7B5}"/>
              </a:ext>
            </a:extLst>
          </p:cNvPr>
          <p:cNvSpPr txBox="1"/>
          <p:nvPr/>
        </p:nvSpPr>
        <p:spPr>
          <a:xfrm>
            <a:off x="4269463" y="5661917"/>
            <a:ext cx="3376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Tamil Nadu's 2026 election combined constituency movement, regional concentration , and intense competition.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364EF2B-CD62-5B78-554E-4403249FE119}"/>
              </a:ext>
            </a:extLst>
          </p:cNvPr>
          <p:cNvSpPr txBox="1"/>
          <p:nvPr/>
        </p:nvSpPr>
        <p:spPr>
          <a:xfrm>
            <a:off x="8661951" y="5695924"/>
            <a:ext cx="3376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Movement was real and significant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Change was concentrated , not uniform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Margins revealed high competitiveness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E6C29C-ED51-9F8E-91D7-FDA58921777B}"/>
              </a:ext>
            </a:extLst>
          </p:cNvPr>
          <p:cNvSpPr txBox="1"/>
          <p:nvPr/>
        </p:nvSpPr>
        <p:spPr>
          <a:xfrm>
            <a:off x="10523508" y="2948734"/>
            <a:ext cx="17998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Winning elections is not only about total seats , it also matters where those seats were won and </a:t>
            </a:r>
            <a:r>
              <a:rPr lang="en-US" sz="1000" dirty="0">
                <a:solidFill>
                  <a:schemeClr val="accent5">
                    <a:lumMod val="75000"/>
                  </a:schemeClr>
                </a:solidFill>
                <a:latin typeface="Avenir Next LT Pro Demi" panose="020B0704020202020204" pitchFamily="34" charset="0"/>
              </a:rPr>
              <a:t>how closely.</a:t>
            </a:r>
            <a:endParaRPr lang="en-IN" sz="1000" dirty="0">
              <a:solidFill>
                <a:schemeClr val="accent5">
                  <a:lumMod val="7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F863979-D65D-0427-3946-BCDA33F78736}"/>
              </a:ext>
            </a:extLst>
          </p:cNvPr>
          <p:cNvSpPr/>
          <p:nvPr/>
        </p:nvSpPr>
        <p:spPr>
          <a:xfrm>
            <a:off x="10469369" y="1496562"/>
            <a:ext cx="1311248" cy="223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Key Insight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B1412C0-3D22-AE50-84DF-1CEC5312E8DD}"/>
              </a:ext>
            </a:extLst>
          </p:cNvPr>
          <p:cNvSpPr/>
          <p:nvPr/>
        </p:nvSpPr>
        <p:spPr>
          <a:xfrm>
            <a:off x="10425683" y="2725639"/>
            <a:ext cx="146426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Key Takeaway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E3BD37D-F912-F453-6473-EB5F653ADF9B}"/>
              </a:ext>
            </a:extLst>
          </p:cNvPr>
          <p:cNvSpPr txBox="1"/>
          <p:nvPr/>
        </p:nvSpPr>
        <p:spPr>
          <a:xfrm>
            <a:off x="10496559" y="4330320"/>
            <a:ext cx="17998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Future elections may be influenced by the same </a:t>
            </a:r>
            <a:r>
              <a:rPr lang="en-US" sz="1000" dirty="0">
                <a:solidFill>
                  <a:schemeClr val="accent5">
                    <a:lumMod val="75000"/>
                  </a:schemeClr>
                </a:solidFill>
                <a:latin typeface="Avenir Next LT Pro Demi" panose="020B0704020202020204" pitchFamily="34" charset="0"/>
              </a:rPr>
              <a:t>high-movement regions </a:t>
            </a:r>
            <a:r>
              <a:rPr lang="en-US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and </a:t>
            </a:r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Next LT Pro Demi" panose="020B0704020202020204" pitchFamily="34" charset="0"/>
              </a:rPr>
              <a:t>competitive pockets.</a:t>
            </a:r>
            <a:endParaRPr lang="en-IN" sz="1000" dirty="0">
              <a:solidFill>
                <a:schemeClr val="accent5">
                  <a:lumMod val="60000"/>
                  <a:lumOff val="4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ABD6D0D-64CF-68A0-6D0F-92D44AAFE556}"/>
              </a:ext>
            </a:extLst>
          </p:cNvPr>
          <p:cNvSpPr/>
          <p:nvPr/>
        </p:nvSpPr>
        <p:spPr>
          <a:xfrm>
            <a:off x="10469369" y="4113527"/>
            <a:ext cx="146426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Future Outlook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6FE0046-6C77-D8B7-96BD-04BF52DC6AFC}"/>
              </a:ext>
            </a:extLst>
          </p:cNvPr>
          <p:cNvSpPr txBox="1"/>
          <p:nvPr/>
        </p:nvSpPr>
        <p:spPr>
          <a:xfrm>
            <a:off x="4240438" y="5385286"/>
            <a:ext cx="1424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Avenir Next LT Pro Demi" panose="020B0704020202020204" pitchFamily="34" charset="0"/>
              </a:rPr>
              <a:t>Synthesis</a:t>
            </a:r>
            <a:endParaRPr lang="en-IN" sz="1600" b="1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ABD491C-2F23-8BFE-1A46-4CD1EBCCF2FA}"/>
              </a:ext>
            </a:extLst>
          </p:cNvPr>
          <p:cNvSpPr/>
          <p:nvPr/>
        </p:nvSpPr>
        <p:spPr>
          <a:xfrm>
            <a:off x="555481" y="103947"/>
            <a:ext cx="2107515" cy="26864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Connected Findings</a:t>
            </a:r>
          </a:p>
        </p:txBody>
      </p:sp>
    </p:spTree>
    <p:extLst>
      <p:ext uri="{BB962C8B-B14F-4D97-AF65-F5344CB8AC3E}">
        <p14:creationId xmlns:p14="http://schemas.microsoft.com/office/powerpoint/2010/main" val="218921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D0F07-89BF-89B4-411D-A9855386E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30F0D93-F31D-9077-3EEB-DE86EB14DF26}"/>
              </a:ext>
            </a:extLst>
          </p:cNvPr>
          <p:cNvSpPr/>
          <p:nvPr/>
        </p:nvSpPr>
        <p:spPr>
          <a:xfrm>
            <a:off x="8935861" y="4800070"/>
            <a:ext cx="3082531" cy="1814083"/>
          </a:xfrm>
          <a:prstGeom prst="roundRect">
            <a:avLst>
              <a:gd name="adj" fmla="val 8616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2566F13-444C-417F-FBB9-088A1B4B9A32}"/>
              </a:ext>
            </a:extLst>
          </p:cNvPr>
          <p:cNvSpPr/>
          <p:nvPr/>
        </p:nvSpPr>
        <p:spPr>
          <a:xfrm>
            <a:off x="5778722" y="4852187"/>
            <a:ext cx="3082531" cy="1814083"/>
          </a:xfrm>
          <a:prstGeom prst="roundRect">
            <a:avLst>
              <a:gd name="adj" fmla="val 8616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60493D-E1D0-A93F-51B4-C161C479CC66}"/>
              </a:ext>
            </a:extLst>
          </p:cNvPr>
          <p:cNvSpPr/>
          <p:nvPr/>
        </p:nvSpPr>
        <p:spPr>
          <a:xfrm>
            <a:off x="8009832" y="1692337"/>
            <a:ext cx="3904086" cy="3034195"/>
          </a:xfrm>
          <a:prstGeom prst="roundRect">
            <a:avLst>
              <a:gd name="adj" fmla="val 8616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117E0549-C483-D46C-3377-B436FE89D9CB}"/>
              </a:ext>
            </a:extLst>
          </p:cNvPr>
          <p:cNvSpPr/>
          <p:nvPr/>
        </p:nvSpPr>
        <p:spPr>
          <a:xfrm>
            <a:off x="3415828" y="1695527"/>
            <a:ext cx="4460998" cy="3031006"/>
          </a:xfrm>
          <a:prstGeom prst="roundRect">
            <a:avLst>
              <a:gd name="adj" fmla="val 8616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E99B2A8-C5BA-693B-0CCD-52351BC50DA9}"/>
              </a:ext>
            </a:extLst>
          </p:cNvPr>
          <p:cNvGrpSpPr/>
          <p:nvPr/>
        </p:nvGrpSpPr>
        <p:grpSpPr>
          <a:xfrm>
            <a:off x="6092760" y="171193"/>
            <a:ext cx="5828745" cy="1146196"/>
            <a:chOff x="6092761" y="171193"/>
            <a:chExt cx="5936325" cy="1146196"/>
          </a:xfrm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54B17F25-15CC-EE10-04E0-7C446D702178}"/>
                </a:ext>
              </a:extLst>
            </p:cNvPr>
            <p:cNvSpPr/>
            <p:nvPr/>
          </p:nvSpPr>
          <p:spPr>
            <a:xfrm>
              <a:off x="6092761" y="199461"/>
              <a:ext cx="260791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56C93F05-B49A-94CA-C491-B143CB43B624}"/>
                </a:ext>
              </a:extLst>
            </p:cNvPr>
            <p:cNvSpPr/>
            <p:nvPr/>
          </p:nvSpPr>
          <p:spPr>
            <a:xfrm>
              <a:off x="9049135" y="171193"/>
              <a:ext cx="2811959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16E88FFE-B2E1-3FA0-47BD-D4837CED9C27}"/>
                </a:ext>
              </a:extLst>
            </p:cNvPr>
            <p:cNvGrpSpPr/>
            <p:nvPr/>
          </p:nvGrpSpPr>
          <p:grpSpPr>
            <a:xfrm>
              <a:off x="6934749" y="306770"/>
              <a:ext cx="5094337" cy="708055"/>
              <a:chOff x="7002955" y="316549"/>
              <a:chExt cx="5094337" cy="708055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164EDBE-C945-D641-967B-7F494AA00248}"/>
                  </a:ext>
                </a:extLst>
              </p:cNvPr>
              <p:cNvSpPr txBox="1"/>
              <p:nvPr/>
            </p:nvSpPr>
            <p:spPr>
              <a:xfrm>
                <a:off x="7002955" y="371243"/>
                <a:ext cx="17061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IN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69.66%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DB45FC4-AE4A-B7DD-B525-CF0C718E0210}"/>
                  </a:ext>
                </a:extLst>
              </p:cNvPr>
              <p:cNvSpPr txBox="1"/>
              <p:nvPr/>
            </p:nvSpPr>
            <p:spPr>
              <a:xfrm>
                <a:off x="7006444" y="745318"/>
                <a:ext cx="28240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State wide Shift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8113895-AB9C-7DF5-9441-F8C403FC58B9}"/>
                  </a:ext>
                </a:extLst>
              </p:cNvPr>
              <p:cNvSpPr txBox="1"/>
              <p:nvPr/>
            </p:nvSpPr>
            <p:spPr>
              <a:xfrm>
                <a:off x="10042830" y="316549"/>
                <a:ext cx="13582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GB"/>
                </a:defPPr>
                <a:lvl1pPr>
                  <a:defRPr sz="2800" b="1">
                    <a:solidFill>
                      <a:schemeClr val="bg1"/>
                    </a:solidFill>
                    <a:latin typeface="Arial Rounded MT Bold" panose="020F0704030504030204" pitchFamily="34" charset="0"/>
                  </a:defRPr>
                </a:lvl1pPr>
              </a:lstStyle>
              <a:p>
                <a:r>
                  <a:rPr lang="en-US" b="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1</a:t>
                </a:r>
                <a:endParaRPr lang="en-IN" b="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9AFADF7-76A4-1320-636E-ED99607C4CAC}"/>
                  </a:ext>
                </a:extLst>
              </p:cNvPr>
              <p:cNvSpPr txBox="1"/>
              <p:nvPr/>
            </p:nvSpPr>
            <p:spPr>
              <a:xfrm>
                <a:off x="10020411" y="747605"/>
                <a:ext cx="20768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Smallest Winning Margin</a:t>
                </a:r>
              </a:p>
            </p:txBody>
          </p:sp>
        </p:grpSp>
      </p:grp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E2C4332F-6F9F-635E-BE6E-AE5450F5E47F}"/>
              </a:ext>
            </a:extLst>
          </p:cNvPr>
          <p:cNvSpPr/>
          <p:nvPr/>
        </p:nvSpPr>
        <p:spPr>
          <a:xfrm>
            <a:off x="263478" y="199461"/>
            <a:ext cx="2697584" cy="6485223"/>
          </a:xfrm>
          <a:prstGeom prst="roundRect">
            <a:avLst>
              <a:gd name="adj" fmla="val 6471"/>
            </a:avLst>
          </a:prstGeom>
          <a:gradFill>
            <a:gsLst>
              <a:gs pos="0">
                <a:srgbClr val="7D2277"/>
              </a:gs>
              <a:gs pos="48000">
                <a:schemeClr val="accent5">
                  <a:lumMod val="75000"/>
                </a:schemeClr>
              </a:gs>
              <a:gs pos="99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F522CB6-9582-C648-3BB0-24D734AD63C0}"/>
              </a:ext>
            </a:extLst>
          </p:cNvPr>
          <p:cNvGrpSpPr/>
          <p:nvPr/>
        </p:nvGrpSpPr>
        <p:grpSpPr>
          <a:xfrm>
            <a:off x="3216744" y="199461"/>
            <a:ext cx="2733463" cy="1117928"/>
            <a:chOff x="3216744" y="199461"/>
            <a:chExt cx="2733463" cy="1117928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11FA87CF-D0D5-1699-B790-58A397881474}"/>
                </a:ext>
              </a:extLst>
            </p:cNvPr>
            <p:cNvSpPr/>
            <p:nvPr/>
          </p:nvSpPr>
          <p:spPr>
            <a:xfrm>
              <a:off x="3216744" y="199461"/>
              <a:ext cx="2733463" cy="1117928"/>
            </a:xfrm>
            <a:prstGeom prst="roundRect">
              <a:avLst>
                <a:gd name="adj" fmla="val 12413"/>
              </a:avLst>
            </a:prstGeom>
            <a:gradFill>
              <a:gsLst>
                <a:gs pos="23000">
                  <a:schemeClr val="accent5">
                    <a:lumMod val="50000"/>
                    <a:alpha val="52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venir Next LT Pro Demi" panose="020B0704020202020204" pitchFamily="34" charset="0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BF7C00F-7EE9-4985-A263-5E98992444F8}"/>
                </a:ext>
              </a:extLst>
            </p:cNvPr>
            <p:cNvGrpSpPr/>
            <p:nvPr/>
          </p:nvGrpSpPr>
          <p:grpSpPr>
            <a:xfrm>
              <a:off x="4072836" y="372595"/>
              <a:ext cx="1513031" cy="662688"/>
              <a:chOff x="4056059" y="357894"/>
              <a:chExt cx="1513031" cy="662688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B03C91D-FBA6-283E-C21C-8B05BE956A16}"/>
                  </a:ext>
                </a:extLst>
              </p:cNvPr>
              <p:cNvSpPr txBox="1"/>
              <p:nvPr/>
            </p:nvSpPr>
            <p:spPr>
              <a:xfrm>
                <a:off x="4056787" y="357894"/>
                <a:ext cx="12519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5">
                        <a:lumMod val="50000"/>
                      </a:schemeClr>
                    </a:solidFill>
                    <a:latin typeface="Avenir Next LT Pro Demi" panose="020B0704020202020204" pitchFamily="34" charset="0"/>
                  </a:rPr>
                  <a:t>163</a:t>
                </a:r>
                <a:endParaRPr lang="en-IN" sz="2800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67BF085-267B-409A-99C0-AD8F306C025D}"/>
                  </a:ext>
                </a:extLst>
              </p:cNvPr>
              <p:cNvSpPr txBox="1"/>
              <p:nvPr/>
            </p:nvSpPr>
            <p:spPr>
              <a:xfrm>
                <a:off x="4056059" y="743583"/>
                <a:ext cx="15130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bg1"/>
                    </a:solidFill>
                    <a:latin typeface="Avenir Next LT Pro Demi" panose="020B0704020202020204" pitchFamily="34" charset="0"/>
                  </a:rPr>
                  <a:t>Seats Changed</a:t>
                </a:r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C8D1881-2278-A2AC-6763-4ED672F7433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258689" y="4550205"/>
            <a:ext cx="2718813" cy="2116065"/>
          </a:xfrm>
          <a:prstGeom prst="rect">
            <a:avLst/>
          </a:prstGeom>
          <a:effectLst/>
        </p:spPr>
      </p:pic>
      <p:pic>
        <p:nvPicPr>
          <p:cNvPr id="161" name="Graphic 160" descr="Bar graph with upward trend with solid fill">
            <a:extLst>
              <a:ext uri="{FF2B5EF4-FFF2-40B4-BE49-F238E27FC236}">
                <a16:creationId xmlns:a16="http://schemas.microsoft.com/office/drawing/2014/main" id="{73484479-2D54-3E39-507E-2A306A5F5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6691" y="2948349"/>
            <a:ext cx="517320" cy="517320"/>
          </a:xfrm>
          <a:prstGeom prst="rect">
            <a:avLst/>
          </a:prstGeom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E52467B-80F8-0FBB-CCEA-4A6E246AE571}"/>
              </a:ext>
            </a:extLst>
          </p:cNvPr>
          <p:cNvGrpSpPr/>
          <p:nvPr/>
        </p:nvGrpSpPr>
        <p:grpSpPr>
          <a:xfrm>
            <a:off x="334094" y="433432"/>
            <a:ext cx="2882649" cy="4352175"/>
            <a:chOff x="241908" y="344468"/>
            <a:chExt cx="3136396" cy="4352175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4405D92-15F7-C588-7CB8-50630BFFBA0D}"/>
                </a:ext>
              </a:extLst>
            </p:cNvPr>
            <p:cNvSpPr txBox="1"/>
            <p:nvPr/>
          </p:nvSpPr>
          <p:spPr>
            <a:xfrm>
              <a:off x="241908" y="344468"/>
              <a:ext cx="313639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Beyond the </a:t>
              </a:r>
            </a:p>
            <a:p>
              <a:r>
                <a:rPr lang="en-IN" sz="20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numbers</a:t>
              </a:r>
              <a:r>
                <a:rPr lang="en-US" sz="1200" b="1" dirty="0">
                  <a:solidFill>
                    <a:schemeClr val="accent5">
                      <a:lumMod val="50000"/>
                    </a:schemeClr>
                  </a:solidFill>
                  <a:latin typeface="Avenir Next LT Pro Demi" panose="020B0704020202020204" pitchFamily="34" charset="0"/>
                </a:rPr>
                <a:t> 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D5EA8D9-FEC7-8BFE-80CA-B936545A7662}"/>
                </a:ext>
              </a:extLst>
            </p:cNvPr>
            <p:cNvSpPr txBox="1"/>
            <p:nvPr/>
          </p:nvSpPr>
          <p:spPr>
            <a:xfrm>
              <a:off x="250064" y="1047155"/>
              <a:ext cx="2764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venir Next LT Pro Demi" panose="020B0704020202020204" pitchFamily="34" charset="0"/>
                </a:rPr>
                <a:t>Key reflections from the 2026 Tamil Nadu Electoral Analysis.</a:t>
              </a:r>
              <a:endParaRPr lang="en-IN" sz="1400" dirty="0">
                <a:solidFill>
                  <a:schemeClr val="accent5">
                    <a:lumMod val="75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CB3013-558F-71B4-09D7-6764C119024D}"/>
                </a:ext>
              </a:extLst>
            </p:cNvPr>
            <p:cNvSpPr txBox="1"/>
            <p:nvPr/>
          </p:nvSpPr>
          <p:spPr>
            <a:xfrm>
              <a:off x="889223" y="1917231"/>
              <a:ext cx="21356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Election outcomes are shaped not only by seat totals but by where those seats shift.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1690F0-6964-43D4-8D38-862484542AB2}"/>
                </a:ext>
              </a:extLst>
            </p:cNvPr>
            <p:cNvSpPr txBox="1"/>
            <p:nvPr/>
          </p:nvSpPr>
          <p:spPr>
            <a:xfrm>
              <a:off x="797397" y="3865646"/>
              <a:ext cx="21356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Close contests highlighted constituencies that may shape future elections.</a:t>
              </a:r>
              <a:endPara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950FAE5-1FE9-D9BE-5CB5-FA9FDB5F7144}"/>
                </a:ext>
              </a:extLst>
            </p:cNvPr>
            <p:cNvSpPr txBox="1"/>
            <p:nvPr/>
          </p:nvSpPr>
          <p:spPr>
            <a:xfrm>
              <a:off x="897273" y="2873148"/>
              <a:ext cx="21356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Avenir Next LT Pro Demi" panose="020B0704020202020204" pitchFamily="34" charset="0"/>
                </a:rPr>
                <a:t>Regional concentration revealed patterns that state wide summaries cannot fully explain.</a:t>
              </a:r>
            </a:p>
          </p:txBody>
        </p:sp>
      </p:grpSp>
      <p:pic>
        <p:nvPicPr>
          <p:cNvPr id="67" name="Graphic 66" descr="Weights Uneven with solid fill">
            <a:extLst>
              <a:ext uri="{FF2B5EF4-FFF2-40B4-BE49-F238E27FC236}">
                <a16:creationId xmlns:a16="http://schemas.microsoft.com/office/drawing/2014/main" id="{B5EA646C-C9EE-80DA-B452-2A86D7DF3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8437" y="4078532"/>
            <a:ext cx="648000" cy="648000"/>
          </a:xfrm>
          <a:prstGeom prst="rect">
            <a:avLst/>
          </a:prstGeom>
        </p:spPr>
      </p:pic>
      <p:pic>
        <p:nvPicPr>
          <p:cNvPr id="8" name="Graphic 7" descr="Bank outline">
            <a:extLst>
              <a:ext uri="{FF2B5EF4-FFF2-40B4-BE49-F238E27FC236}">
                <a16:creationId xmlns:a16="http://schemas.microsoft.com/office/drawing/2014/main" id="{6FFE82C2-8387-CE8F-2A53-62280F4688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633" y="2059063"/>
            <a:ext cx="648000" cy="648000"/>
          </a:xfrm>
          <a:prstGeom prst="rect">
            <a:avLst/>
          </a:prstGeom>
        </p:spPr>
      </p:pic>
      <p:pic>
        <p:nvPicPr>
          <p:cNvPr id="22" name="Graphic 21" descr="Pie chart with solid fill">
            <a:extLst>
              <a:ext uri="{FF2B5EF4-FFF2-40B4-BE49-F238E27FC236}">
                <a16:creationId xmlns:a16="http://schemas.microsoft.com/office/drawing/2014/main" id="{1FC0B18F-774F-A42B-44EA-F5FEFEE71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1008" y="401065"/>
            <a:ext cx="648000" cy="648000"/>
          </a:xfrm>
          <a:prstGeom prst="rect">
            <a:avLst/>
          </a:prstGeom>
        </p:spPr>
      </p:pic>
      <p:pic>
        <p:nvPicPr>
          <p:cNvPr id="27" name="Graphic 26" descr="Map with pin with solid fill">
            <a:extLst>
              <a:ext uri="{FF2B5EF4-FFF2-40B4-BE49-F238E27FC236}">
                <a16:creationId xmlns:a16="http://schemas.microsoft.com/office/drawing/2014/main" id="{66C25912-6557-8710-8421-2881DC6EA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2892" y="3054708"/>
            <a:ext cx="648000" cy="648000"/>
          </a:xfrm>
          <a:prstGeom prst="rect">
            <a:avLst/>
          </a:prstGeom>
        </p:spPr>
      </p:pic>
      <p:pic>
        <p:nvPicPr>
          <p:cNvPr id="28" name="Graphic 27" descr="Repeat outline">
            <a:extLst>
              <a:ext uri="{FF2B5EF4-FFF2-40B4-BE49-F238E27FC236}">
                <a16:creationId xmlns:a16="http://schemas.microsoft.com/office/drawing/2014/main" id="{198E1A16-81C7-DECF-7912-BEDB98FF73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59365" y="373398"/>
            <a:ext cx="648000" cy="648000"/>
          </a:xfrm>
          <a:prstGeom prst="rect">
            <a:avLst/>
          </a:prstGeom>
        </p:spPr>
      </p:pic>
      <p:pic>
        <p:nvPicPr>
          <p:cNvPr id="33" name="Graphic 32" descr="Trophy with solid fill">
            <a:extLst>
              <a:ext uri="{FF2B5EF4-FFF2-40B4-BE49-F238E27FC236}">
                <a16:creationId xmlns:a16="http://schemas.microsoft.com/office/drawing/2014/main" id="{97F6DEF4-8A54-B61C-8BD7-B271A26FE5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82906" y="379999"/>
            <a:ext cx="648000" cy="648000"/>
          </a:xfrm>
          <a:prstGeom prst="rect">
            <a:avLst/>
          </a:prstGeom>
        </p:spPr>
      </p:pic>
      <p:pic>
        <p:nvPicPr>
          <p:cNvPr id="54" name="Graphic 53" descr="Map with pin with solid fill">
            <a:extLst>
              <a:ext uri="{FF2B5EF4-FFF2-40B4-BE49-F238E27FC236}">
                <a16:creationId xmlns:a16="http://schemas.microsoft.com/office/drawing/2014/main" id="{9B4AEF74-1AFC-0196-4E82-E36FDC8BF4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682" y="2837192"/>
            <a:ext cx="648000" cy="648000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B9CE14A5-CC1C-6A62-57A1-8DDCEC6DCBAB}"/>
              </a:ext>
            </a:extLst>
          </p:cNvPr>
          <p:cNvSpPr/>
          <p:nvPr/>
        </p:nvSpPr>
        <p:spPr>
          <a:xfrm>
            <a:off x="4801446" y="1833477"/>
            <a:ext cx="1517360" cy="2778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Final Editorial</a:t>
            </a:r>
            <a:endParaRPr lang="en-IN" sz="1400" dirty="0">
              <a:latin typeface="Avenir Next LT Pro Demi" panose="020B0704020202020204" pitchFamily="34" charset="0"/>
            </a:endParaRPr>
          </a:p>
        </p:txBody>
      </p:sp>
      <p:pic>
        <p:nvPicPr>
          <p:cNvPr id="84" name="Graphic 83" descr="Group of men with solid fill">
            <a:extLst>
              <a:ext uri="{FF2B5EF4-FFF2-40B4-BE49-F238E27FC236}">
                <a16:creationId xmlns:a16="http://schemas.microsoft.com/office/drawing/2014/main" id="{77A2840D-4B34-374D-5FE8-84EA2440F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70505" y="3783573"/>
            <a:ext cx="648000" cy="64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60FE8FF-08D5-7D34-FD08-2D570DA679DA}"/>
              </a:ext>
            </a:extLst>
          </p:cNvPr>
          <p:cNvSpPr/>
          <p:nvPr/>
        </p:nvSpPr>
        <p:spPr>
          <a:xfrm>
            <a:off x="737802" y="103947"/>
            <a:ext cx="1760585" cy="26864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Conclusion</a:t>
            </a:r>
          </a:p>
        </p:txBody>
      </p:sp>
      <p:pic>
        <p:nvPicPr>
          <p:cNvPr id="13" name="Graphic 12" descr="Group of men with solid fill">
            <a:extLst>
              <a:ext uri="{FF2B5EF4-FFF2-40B4-BE49-F238E27FC236}">
                <a16:creationId xmlns:a16="http://schemas.microsoft.com/office/drawing/2014/main" id="{246834AB-ED1B-3958-6E26-F0EF0B1B2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2114" y="2127820"/>
            <a:ext cx="648000" cy="64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C6C0087-794D-4B4B-8D61-98D3D5EEE16C}"/>
              </a:ext>
            </a:extLst>
          </p:cNvPr>
          <p:cNvSpPr/>
          <p:nvPr/>
        </p:nvSpPr>
        <p:spPr>
          <a:xfrm>
            <a:off x="9345810" y="1833477"/>
            <a:ext cx="1517360" cy="2778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 Demi" panose="020B0704020202020204" pitchFamily="34" charset="0"/>
              </a:rPr>
              <a:t>Key Learnings</a:t>
            </a:r>
            <a:endParaRPr lang="en-IN" sz="1400" dirty="0">
              <a:latin typeface="Avenir Next LT Pro Demi" panose="020B07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9B3CF5-87BE-35BA-4630-28D57429778F}"/>
              </a:ext>
            </a:extLst>
          </p:cNvPr>
          <p:cNvSpPr txBox="1"/>
          <p:nvPr/>
        </p:nvSpPr>
        <p:spPr>
          <a:xfrm>
            <a:off x="4651511" y="2153160"/>
            <a:ext cx="3036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The 2026 Tamil Nadu election was not defined by a uniform wave across the state.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8449A6-EE23-30D3-21B1-D07E12F6A43D}"/>
              </a:ext>
            </a:extLst>
          </p:cNvPr>
          <p:cNvSpPr txBox="1"/>
          <p:nvPr/>
        </p:nvSpPr>
        <p:spPr>
          <a:xfrm>
            <a:off x="4651511" y="2964618"/>
            <a:ext cx="3036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Instead, change occurred through concentrated regional movement and competitive constituencies.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E0E7D8-524B-173C-BE8E-60F37279BC51}"/>
              </a:ext>
            </a:extLst>
          </p:cNvPr>
          <p:cNvSpPr txBox="1"/>
          <p:nvPr/>
        </p:nvSpPr>
        <p:spPr>
          <a:xfrm>
            <a:off x="4651511" y="3776076"/>
            <a:ext cx="3036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Understanding these local patterns provides deeper insight than statewide seat counts alone.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21" name="Graphic 20" descr="Bullseye with solid fill">
            <a:extLst>
              <a:ext uri="{FF2B5EF4-FFF2-40B4-BE49-F238E27FC236}">
                <a16:creationId xmlns:a16="http://schemas.microsoft.com/office/drawing/2014/main" id="{EE7C854D-5DF7-8C90-D3A5-D454A945DD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68676" y="2156212"/>
            <a:ext cx="648000" cy="648000"/>
          </a:xfrm>
          <a:prstGeom prst="rect">
            <a:avLst/>
          </a:prstGeom>
        </p:spPr>
      </p:pic>
      <p:pic>
        <p:nvPicPr>
          <p:cNvPr id="23" name="Graphic 22" descr="Weights Uneven with solid fill">
            <a:extLst>
              <a:ext uri="{FF2B5EF4-FFF2-40B4-BE49-F238E27FC236}">
                <a16:creationId xmlns:a16="http://schemas.microsoft.com/office/drawing/2014/main" id="{3435B58B-B990-08B0-B9C5-E75FFAA15B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99397" y="3621013"/>
            <a:ext cx="648000" cy="648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4237434-7A4D-2A85-E734-BD1221FDE4F2}"/>
              </a:ext>
            </a:extLst>
          </p:cNvPr>
          <p:cNvSpPr txBox="1"/>
          <p:nvPr/>
        </p:nvSpPr>
        <p:spPr>
          <a:xfrm>
            <a:off x="8884633" y="2166253"/>
            <a:ext cx="303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Constituency movement explains </a:t>
            </a:r>
            <a:r>
              <a:rPr lang="en-US" sz="1200" dirty="0">
                <a:solidFill>
                  <a:srgbClr val="FC2FBE"/>
                </a:solidFill>
                <a:latin typeface="Avenir Next LT Pro Demi" panose="020B0704020202020204" pitchFamily="34" charset="0"/>
              </a:rPr>
              <a:t>who </a:t>
            </a: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gained.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1E07D3-5B0D-B1B2-6A48-B92064262AE0}"/>
              </a:ext>
            </a:extLst>
          </p:cNvPr>
          <p:cNvSpPr txBox="1"/>
          <p:nvPr/>
        </p:nvSpPr>
        <p:spPr>
          <a:xfrm>
            <a:off x="8923682" y="2950930"/>
            <a:ext cx="303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Regional analysis explains </a:t>
            </a:r>
            <a:r>
              <a:rPr lang="en-US" sz="1200" dirty="0">
                <a:solidFill>
                  <a:srgbClr val="FC2FBE"/>
                </a:solidFill>
                <a:latin typeface="Avenir Next LT Pro Demi" panose="020B0704020202020204" pitchFamily="34" charset="0"/>
              </a:rPr>
              <a:t>where</a:t>
            </a: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 change occurred.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465997-2DEA-2CBF-7F23-0CAE677556F6}"/>
              </a:ext>
            </a:extLst>
          </p:cNvPr>
          <p:cNvSpPr txBox="1"/>
          <p:nvPr/>
        </p:nvSpPr>
        <p:spPr>
          <a:xfrm>
            <a:off x="8947397" y="3723777"/>
            <a:ext cx="303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Margin analysis explains </a:t>
            </a:r>
            <a:r>
              <a:rPr lang="en-US" sz="1200" dirty="0">
                <a:solidFill>
                  <a:srgbClr val="FC2FBE"/>
                </a:solidFill>
                <a:latin typeface="Avenir Next LT Pro Demi" panose="020B0704020202020204" pitchFamily="34" charset="0"/>
              </a:rPr>
              <a:t>how</a:t>
            </a: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 stable those outcomes are.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49052F8-0615-605A-F34C-A57D9332C3D7}"/>
              </a:ext>
            </a:extLst>
          </p:cNvPr>
          <p:cNvSpPr/>
          <p:nvPr/>
        </p:nvSpPr>
        <p:spPr>
          <a:xfrm>
            <a:off x="3375228" y="4870601"/>
            <a:ext cx="2328886" cy="1814083"/>
          </a:xfrm>
          <a:prstGeom prst="roundRect">
            <a:avLst>
              <a:gd name="adj" fmla="val 8616"/>
            </a:avLst>
          </a:prstGeom>
          <a:gradFill>
            <a:gsLst>
              <a:gs pos="23000">
                <a:schemeClr val="accent5">
                  <a:lumMod val="50000"/>
                  <a:alpha val="52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venir Next LT Pro Demi" panose="020B07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0965C2-CCD5-17A9-7007-45EEE5CB639B}"/>
              </a:ext>
            </a:extLst>
          </p:cNvPr>
          <p:cNvSpPr txBox="1"/>
          <p:nvPr/>
        </p:nvSpPr>
        <p:spPr>
          <a:xfrm>
            <a:off x="4041690" y="5254402"/>
            <a:ext cx="166242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Regional and constituency analysis provides deeper insight than state wide seat totals alone.</a:t>
            </a:r>
            <a:endParaRPr lang="en-IN" sz="11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EC7465-EC99-B0EE-7280-5EEEF096CEEE}"/>
              </a:ext>
            </a:extLst>
          </p:cNvPr>
          <p:cNvSpPr txBox="1"/>
          <p:nvPr/>
        </p:nvSpPr>
        <p:spPr>
          <a:xfrm>
            <a:off x="5994567" y="5112824"/>
            <a:ext cx="27570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Focus future election analysis on regions with high seat movement and constituencies with narrow victory margins.</a:t>
            </a:r>
          </a:p>
          <a:p>
            <a:endParaRPr lang="en-US" sz="11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  <a:p>
            <a:r>
              <a:rPr lang="en-US" sz="11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Regional concentration and competitive seats provide stronger signals than state wide totals alone.</a:t>
            </a:r>
            <a:endParaRPr lang="en-IN" sz="11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29FB0D-870C-7C8B-8AD6-B0F985B31EF3}"/>
              </a:ext>
            </a:extLst>
          </p:cNvPr>
          <p:cNvSpPr txBox="1"/>
          <p:nvPr/>
        </p:nvSpPr>
        <p:spPr>
          <a:xfrm>
            <a:off x="9027724" y="5329583"/>
            <a:ext cx="31219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This analysis focuses on seat movement and election outcomes.</a:t>
            </a:r>
          </a:p>
          <a:p>
            <a:r>
              <a:rPr lang="en-US" sz="1100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 Demi" panose="020B0704020202020204" pitchFamily="34" charset="0"/>
              </a:rPr>
              <a:t>Turnout drivers , demographic effects ,and candidate-level factors were not included.</a:t>
            </a:r>
            <a:endParaRPr lang="en-IN" sz="1100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A3010C3-4592-0822-1468-A47AA1CC7697}"/>
              </a:ext>
            </a:extLst>
          </p:cNvPr>
          <p:cNvSpPr/>
          <p:nvPr/>
        </p:nvSpPr>
        <p:spPr>
          <a:xfrm>
            <a:off x="3780990" y="4965723"/>
            <a:ext cx="1712497" cy="2778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accent5">
                    <a:lumMod val="50000"/>
                  </a:schemeClr>
                </a:solidFill>
              </a:rPr>
              <a:t>What this means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129BE3-F4C1-29DD-33B0-71542A75311F}"/>
              </a:ext>
            </a:extLst>
          </p:cNvPr>
          <p:cNvSpPr/>
          <p:nvPr/>
        </p:nvSpPr>
        <p:spPr>
          <a:xfrm>
            <a:off x="5899249" y="4930359"/>
            <a:ext cx="2585960" cy="2778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accent5">
                    <a:lumMod val="50000"/>
                  </a:schemeClr>
                </a:solidFill>
              </a:rPr>
              <a:t>Editorial Recommendation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E8AD45D-32AC-BB4E-DFEA-299BCC2FB0DC}"/>
              </a:ext>
            </a:extLst>
          </p:cNvPr>
          <p:cNvSpPr/>
          <p:nvPr/>
        </p:nvSpPr>
        <p:spPr>
          <a:xfrm>
            <a:off x="9027724" y="5019394"/>
            <a:ext cx="2585960" cy="2778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accent5">
                    <a:lumMod val="50000"/>
                  </a:schemeClr>
                </a:solidFill>
              </a:rPr>
              <a:t>Data Limitations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49" name="Graphic 48" descr="Lightbulb and gear with solid fill">
            <a:extLst>
              <a:ext uri="{FF2B5EF4-FFF2-40B4-BE49-F238E27FC236}">
                <a16:creationId xmlns:a16="http://schemas.microsoft.com/office/drawing/2014/main" id="{721D7172-0CB1-79FF-AA09-DB8723618B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61318" y="5447741"/>
            <a:ext cx="553998" cy="55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5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4950</TotalTime>
  <Words>1760</Words>
  <Application>Microsoft Office PowerPoint</Application>
  <PresentationFormat>Widescreen</PresentationFormat>
  <Paragraphs>478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Avenir Next LT Pro Demi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Narmatha Annadurai</dc:creator>
  <cp:lastModifiedBy>Narmatha Annadurai</cp:lastModifiedBy>
  <cp:revision>41</cp:revision>
  <dcterms:created xsi:type="dcterms:W3CDTF">2026-05-22T17:24:14Z</dcterms:created>
  <dcterms:modified xsi:type="dcterms:W3CDTF">2026-05-26T07:22:49Z</dcterms:modified>
</cp:coreProperties>
</file>